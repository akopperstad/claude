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tfordringen" id="{3ca7a28d-e996-db9f-1c0f-2d21ee3a0740}">
          <p14:sldIdLst>
            <p14:sldId id="256"/>
            <p14:sldId id="257"/>
          </p14:sldIdLst>
        </p14:section>
        <p14:section name="Nautech" id="{8393551d-c088-8b2d-2055-584a4573711e}">
          <p14:sldIdLst>
            <p14:sldId id="258"/>
            <p14:sldId id="259"/>
            <p14:sldId id="260"/>
            <p14:sldId id="261"/>
            <p14:sldId id="262"/>
          </p14:sldIdLst>
        </p14:section>
        <p14:section name="Bytte og pris" id="{c3549309-ebc2-cda0-c565-9e558f7f3182}">
          <p14:sldIdLst>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Nautech er et system for vedlikehold og drift av fiskefartøy, laget av folk som har jobbet om bord.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KI-en svarer ikke ut fra internett, men ut fra deres egne logger, arbeidsordrer og manualer. Den viser kilden, slik at maskinsjefen kan sjekke svaret. Det er fortsatt fagpersonen som bestemmer hva som skal gjøres.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Seawise AS  ·  Nautech</a:t>
            </a:r>
            <a:endParaRPr lang="en-US" sz="1000" dirty="0"/>
          </a:p>
        </p:txBody>
      </p:sp>
      <p:sp>
        <p:nvSpPr>
          <p:cNvPr id="3" name="Text 1"/>
          <p:cNvSpPr/>
          <p:nvPr>
            <p:ph idx="101" type="body" hasCustomPrompt="1"/>
          </p:nvPr>
        </p:nvSpPr>
        <p:spPr>
          <a:xfrm>
            <a:off x="548640" y="365760"/>
            <a:ext cx="9144000" cy="274320"/>
          </a:xfrm>
          <a:prstGeom prst="rect">
            <a:avLst/>
          </a:prstGeom>
          <a:noFill/>
          <a:ln/>
        </p:spPr>
        <p:txBody>
          <a:bodyPr wrap="square" rtlCol="0"/>
          <a:lstStyle>
            <a:lvl1pPr indent="0" marL="0">
              <a:buNone/>
              <a:defRPr lang="en-US" sz="1200" b="1" spc="200" kern="0" dirty="0">
                <a:solidFill>
                  <a:srgbClr val="0E7C86"/>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4" name="Text 1"/>
          <p:cNvSpPr/>
          <p:nvPr>
            <p:ph idx="102" type="title" hasCustomPrompt="1"/>
          </p:nvPr>
        </p:nvSpPr>
        <p:spPr>
          <a:xfrm>
            <a:off x="548640" y="658368"/>
            <a:ext cx="11094415" cy="1051560"/>
          </a:xfrm>
          <a:prstGeom prst="rect">
            <a:avLst/>
          </a:prstGeom>
          <a:noFill/>
          <a:ln/>
        </p:spPr>
        <p:txBody>
          <a:bodyPr wrap="square" rtlCol="0"/>
          <a:lstStyle>
            <a:lvl1pPr algn="l" indent="0" marL="0">
              <a:buNone/>
              <a:defRPr lang="en-US" sz="3000" b="1" dirty="0">
                <a:solidFill>
                  <a:srgbClr val="0B1F33"/>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9FB3C4"/>
                </a:solidFill>
                <a:latin typeface="Calibri" pitchFamily="34" charset="0"/>
                <a:ea typeface="Calibri" pitchFamily="34" charset="-122"/>
                <a:cs typeface="Calibri" pitchFamily="34" charset="-120"/>
              </a:rPr>
              <a:t>Seawise AS  ·  Nautech</a:t>
            </a:r>
            <a:endParaRPr lang="en-US" sz="1000" dirty="0"/>
          </a:p>
        </p:txBody>
      </p:sp>
      <p:sp>
        <p:nvSpPr>
          <p:cNvPr id="3" name="Text 1"/>
          <p:cNvSpPr/>
          <p:nvPr>
            <p:ph idx="101" type="body" hasCustomPrompt="1"/>
          </p:nvPr>
        </p:nvSpPr>
        <p:spPr>
          <a:xfrm>
            <a:off x="548640" y="365760"/>
            <a:ext cx="9144000" cy="274320"/>
          </a:xfrm>
          <a:prstGeom prst="rect">
            <a:avLst/>
          </a:prstGeom>
          <a:noFill/>
          <a:ln/>
        </p:spPr>
        <p:txBody>
          <a:bodyPr wrap="square" rtlCol="0"/>
          <a:lstStyle>
            <a:lvl1pPr indent="0" marL="0">
              <a:buNone/>
              <a:defRPr lang="en-US" sz="1200" b="1" spc="200" kern="0" dirty="0">
                <a:solidFill>
                  <a:srgbClr val="7FD1D6"/>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4" name="Text 1"/>
          <p:cNvSpPr/>
          <p:nvPr>
            <p:ph idx="102" type="title" hasCustomPrompt="1"/>
          </p:nvPr>
        </p:nvSpPr>
        <p:spPr>
          <a:xfrm>
            <a:off x="548640" y="658368"/>
            <a:ext cx="11094415" cy="1051560"/>
          </a:xfrm>
          <a:prstGeom prst="rect">
            <a:avLst/>
          </a:prstGeom>
          <a:noFill/>
          <a:ln/>
        </p:spPr>
        <p:txBody>
          <a:bodyPr wrap="square" rtlCol="0"/>
          <a:lstStyle>
            <a:lvl1pPr algn="l" indent="0" marL="0">
              <a:buNone/>
              <a:defRPr lang="en-US" sz="3000" b="1" dirty="0">
                <a:solidFill>
                  <a:srgbClr val="FFFFFF"/>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7FD1D6"/>
                </a:solidFill>
                <a:latin typeface="Calibri" pitchFamily="34" charset="0"/>
                <a:ea typeface="Calibri" pitchFamily="34" charset="-122"/>
                <a:cs typeface="Calibri" pitchFamily="34" charset="-120"/>
              </a:rPr>
              <a:t>SEAWISE AS  ·  OKTOBER 2026</a:t>
            </a:r>
            <a:endParaRPr lang="en-US" sz="1200" dirty="0"/>
          </a:p>
        </p:txBody>
      </p:sp>
      <p:sp>
        <p:nvSpPr>
          <p:cNvPr id="3" name="Text 1"/>
          <p:cNvSpPr txBox="1"/>
          <p:nvPr/>
        </p:nvSpPr>
        <p:spPr>
          <a:xfrm>
            <a:off x="548640" y="1234440"/>
            <a:ext cx="8229600" cy="1005840"/>
          </a:xfrm>
          <a:prstGeom prst="rect">
            <a:avLst/>
          </a:prstGeom>
          <a:noFill/>
          <a:ln/>
        </p:spPr>
        <p:txBody>
          <a:bodyPr wrap="square" lIns="0" tIns="0" rIns="0" bIns="0" rtlCol="0" anchor="t"/>
          <a:lstStyle/>
          <a:p>
            <a:pPr indent="0" marL="0">
              <a:buNone/>
            </a:pPr>
            <a:r>
              <a:rPr lang="en-US" sz="6000" b="1" dirty="0">
                <a:solidFill>
                  <a:srgbClr val="FFFFFF"/>
                </a:solidFill>
                <a:latin typeface="Arial" pitchFamily="34" charset="0"/>
                <a:ea typeface="Arial" pitchFamily="34" charset="-122"/>
                <a:cs typeface="Arial" pitchFamily="34" charset="-120"/>
              </a:rPr>
              <a:t>Nautech</a:t>
            </a:r>
            <a:endParaRPr lang="en-US" sz="6000" dirty="0"/>
          </a:p>
        </p:txBody>
      </p:sp>
      <p:sp>
        <p:nvSpPr>
          <p:cNvPr id="4" name="Text 2"/>
          <p:cNvSpPr txBox="1"/>
          <p:nvPr/>
        </p:nvSpPr>
        <p:spPr>
          <a:xfrm>
            <a:off x="548640" y="2331720"/>
            <a:ext cx="9601200" cy="1188720"/>
          </a:xfrm>
          <a:prstGeom prst="rect">
            <a:avLst/>
          </a:prstGeom>
          <a:noFill/>
          <a:ln/>
        </p:spPr>
        <p:txBody>
          <a:bodyPr wrap="square" lIns="0" tIns="0" rIns="0" bIns="0" rtlCol="0" anchor="t"/>
          <a:lstStyle/>
          <a:p>
            <a:pPr indent="0" marL="0">
              <a:buNone/>
            </a:pPr>
            <a:r>
              <a:rPr lang="en-US" sz="2800" dirty="0">
                <a:solidFill>
                  <a:srgbClr val="FFFFFF"/>
                </a:solidFill>
                <a:latin typeface="Arial" pitchFamily="34" charset="0"/>
                <a:ea typeface="Arial" pitchFamily="34" charset="-122"/>
                <a:cs typeface="Arial" pitchFamily="34" charset="-120"/>
              </a:rPr>
              <a:t>Vedlikehold og drift for fiskefartøy – med KI som kjenner båten deres</a:t>
            </a:r>
            <a:endParaRPr lang="en-US" sz="2800" dirty="0"/>
          </a:p>
        </p:txBody>
      </p:sp>
      <p:sp>
        <p:nvSpPr>
          <p:cNvPr id="5" name="Text 3"/>
          <p:cNvSpPr txBox="1"/>
          <p:nvPr/>
        </p:nvSpPr>
        <p:spPr>
          <a:xfrm>
            <a:off x="548640" y="3611880"/>
            <a:ext cx="9601200" cy="457200"/>
          </a:xfrm>
          <a:prstGeom prst="rect">
            <a:avLst/>
          </a:prstGeom>
          <a:noFill/>
          <a:ln/>
        </p:spPr>
        <p:txBody>
          <a:bodyPr wrap="square" lIns="0" tIns="0" rIns="0" bIns="0" rtlCol="0" anchor="t"/>
          <a:lstStyle/>
          <a:p>
            <a:pPr indent="0" marL="0">
              <a:buNone/>
            </a:pPr>
            <a:r>
              <a:rPr lang="en-US" sz="1800" dirty="0">
                <a:solidFill>
                  <a:srgbClr val="7FD1D6"/>
                </a:solidFill>
                <a:latin typeface="Calibri" pitchFamily="34" charset="0"/>
                <a:ea typeface="Calibri" pitchFamily="34" charset="-122"/>
                <a:cs typeface="Calibri" pitchFamily="34" charset="-120"/>
              </a:rPr>
              <a:t>Laget av en maskinsjef fra fiskeflåten, for fiskeflåten.</a:t>
            </a:r>
            <a:endParaRPr lang="en-US" sz="1800" dirty="0"/>
          </a:p>
        </p:txBody>
      </p:sp>
      <p:sp>
        <p:nvSpPr>
          <p:cNvPr id="6" name="Kort"/>
          <p:cNvSpPr/>
          <p:nvPr/>
        </p:nvSpPr>
        <p:spPr>
          <a:xfrm>
            <a:off x="548640" y="4572000"/>
            <a:ext cx="3515258" cy="1051560"/>
          </a:xfrm>
          <a:prstGeom prst="roundRect">
            <a:avLst>
              <a:gd name="adj" fmla="val 10435"/>
            </a:avLst>
          </a:prstGeom>
          <a:solidFill>
            <a:srgbClr val="16324D"/>
          </a:solidFill>
          <a:ln/>
        </p:spPr>
      </p:sp>
      <p:sp>
        <p:nvSpPr>
          <p:cNvPr id="7" name="Ikon-sirkel"/>
          <p:cNvSpPr/>
          <p:nvPr/>
        </p:nvSpPr>
        <p:spPr>
          <a:xfrm>
            <a:off x="777240" y="4773168"/>
            <a:ext cx="640080" cy="640080"/>
          </a:xfrm>
          <a:prstGeom prst="ellipse">
            <a:avLst/>
          </a:prstGeom>
          <a:solidFill>
            <a:srgbClr val="0E7C86"/>
          </a:solidFill>
          <a:ln/>
        </p:spPr>
      </p:sp>
      <p:pic>
        <p:nvPicPr>
          <p:cNvPr id="8" name="Ikon FaLayerGroup" descr="preencoded.png">    </p:cNvPr>
          <p:cNvPicPr>
            <a:picLocks noChangeAspect="1"/>
          </p:cNvPicPr>
          <p:nvPr/>
        </p:nvPicPr>
        <p:blipFill>
          <a:blip r:embed="rId1"/>
          <a:stretch>
            <a:fillRect/>
          </a:stretch>
        </p:blipFill>
        <p:spPr>
          <a:xfrm>
            <a:off x="930859" y="4926787"/>
            <a:ext cx="332842" cy="332842"/>
          </a:xfrm>
          <a:prstGeom prst="rect">
            <a:avLst/>
          </a:prstGeom>
        </p:spPr>
      </p:pic>
      <p:sp>
        <p:nvSpPr>
          <p:cNvPr id="9" name="Text 6"/>
          <p:cNvSpPr txBox="1"/>
          <p:nvPr/>
        </p:nvSpPr>
        <p:spPr>
          <a:xfrm>
            <a:off x="1600200" y="4754880"/>
            <a:ext cx="2326538"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14 moduler</a:t>
            </a:r>
            <a:endParaRPr lang="en-US" sz="1800" dirty="0"/>
          </a:p>
          <a:p>
            <a:pPr indent="0" marL="0">
              <a:buNone/>
            </a:pPr>
            <a:r>
              <a:rPr lang="en-US" sz="1400" dirty="0">
                <a:solidFill>
                  <a:srgbClr val="B9C8D4"/>
                </a:solidFill>
                <a:latin typeface="Calibri" pitchFamily="34" charset="0"/>
                <a:ea typeface="Calibri" pitchFamily="34" charset="-122"/>
                <a:cs typeface="Calibri" pitchFamily="34" charset="-120"/>
              </a:rPr>
              <a:t>i ett system</a:t>
            </a:r>
            <a:endParaRPr lang="en-US" sz="1800" dirty="0"/>
          </a:p>
        </p:txBody>
      </p:sp>
      <p:sp>
        <p:nvSpPr>
          <p:cNvPr id="10" name="Kort"/>
          <p:cNvSpPr/>
          <p:nvPr/>
        </p:nvSpPr>
        <p:spPr>
          <a:xfrm>
            <a:off x="4338218" y="4572000"/>
            <a:ext cx="3515258" cy="1051560"/>
          </a:xfrm>
          <a:prstGeom prst="roundRect">
            <a:avLst>
              <a:gd name="adj" fmla="val 10435"/>
            </a:avLst>
          </a:prstGeom>
          <a:solidFill>
            <a:srgbClr val="16324D"/>
          </a:solidFill>
          <a:ln/>
        </p:spPr>
      </p:sp>
      <p:sp>
        <p:nvSpPr>
          <p:cNvPr id="11" name="Ikon-sirkel"/>
          <p:cNvSpPr/>
          <p:nvPr/>
        </p:nvSpPr>
        <p:spPr>
          <a:xfrm>
            <a:off x="4566818" y="4773168"/>
            <a:ext cx="640080" cy="640080"/>
          </a:xfrm>
          <a:prstGeom prst="ellipse">
            <a:avLst/>
          </a:prstGeom>
          <a:solidFill>
            <a:srgbClr val="0E7C86"/>
          </a:solidFill>
          <a:ln/>
        </p:spPr>
      </p:sp>
      <p:pic>
        <p:nvPicPr>
          <p:cNvPr id="12" name="Ikon FaBrain" descr="preencoded.png">    </p:cNvPr>
          <p:cNvPicPr>
            <a:picLocks noChangeAspect="1"/>
          </p:cNvPicPr>
          <p:nvPr/>
        </p:nvPicPr>
        <p:blipFill>
          <a:blip r:embed="rId2"/>
          <a:stretch>
            <a:fillRect/>
          </a:stretch>
        </p:blipFill>
        <p:spPr>
          <a:xfrm>
            <a:off x="4720438" y="4926787"/>
            <a:ext cx="332842" cy="332842"/>
          </a:xfrm>
          <a:prstGeom prst="rect">
            <a:avLst/>
          </a:prstGeom>
        </p:spPr>
      </p:pic>
      <p:sp>
        <p:nvSpPr>
          <p:cNvPr id="13" name="Text 9"/>
          <p:cNvSpPr txBox="1"/>
          <p:nvPr/>
        </p:nvSpPr>
        <p:spPr>
          <a:xfrm>
            <a:off x="5389778" y="4754880"/>
            <a:ext cx="2326538"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KI som svarer</a:t>
            </a:r>
            <a:endParaRPr lang="en-US" sz="1800" dirty="0"/>
          </a:p>
          <a:p>
            <a:pPr indent="0" marL="0">
              <a:buNone/>
            </a:pPr>
            <a:r>
              <a:rPr lang="en-US" sz="1400" dirty="0">
                <a:solidFill>
                  <a:srgbClr val="B9C8D4"/>
                </a:solidFill>
                <a:latin typeface="Calibri" pitchFamily="34" charset="0"/>
                <a:ea typeface="Calibri" pitchFamily="34" charset="-122"/>
                <a:cs typeface="Calibri" pitchFamily="34" charset="-120"/>
              </a:rPr>
              <a:t>med kilde fra egne data</a:t>
            </a:r>
            <a:endParaRPr lang="en-US" sz="1800" dirty="0"/>
          </a:p>
        </p:txBody>
      </p:sp>
      <p:sp>
        <p:nvSpPr>
          <p:cNvPr id="14" name="Kort"/>
          <p:cNvSpPr/>
          <p:nvPr/>
        </p:nvSpPr>
        <p:spPr>
          <a:xfrm>
            <a:off x="8127797" y="4572000"/>
            <a:ext cx="3515258" cy="1051560"/>
          </a:xfrm>
          <a:prstGeom prst="roundRect">
            <a:avLst>
              <a:gd name="adj" fmla="val 10435"/>
            </a:avLst>
          </a:prstGeom>
          <a:solidFill>
            <a:srgbClr val="16324D"/>
          </a:solidFill>
          <a:ln/>
        </p:spPr>
      </p:sp>
      <p:sp>
        <p:nvSpPr>
          <p:cNvPr id="15" name="Ikon-sirkel"/>
          <p:cNvSpPr/>
          <p:nvPr/>
        </p:nvSpPr>
        <p:spPr>
          <a:xfrm>
            <a:off x="8356397" y="4773168"/>
            <a:ext cx="640080" cy="640080"/>
          </a:xfrm>
          <a:prstGeom prst="ellipse">
            <a:avLst/>
          </a:prstGeom>
          <a:solidFill>
            <a:srgbClr val="0E7C86"/>
          </a:solidFill>
          <a:ln/>
        </p:spPr>
      </p:sp>
      <p:pic>
        <p:nvPicPr>
          <p:cNvPr id="16" name="Ikon FaLock" descr="preencoded.png">    </p:cNvPr>
          <p:cNvPicPr>
            <a:picLocks noChangeAspect="1"/>
          </p:cNvPicPr>
          <p:nvPr/>
        </p:nvPicPr>
        <p:blipFill>
          <a:blip r:embed="rId3"/>
          <a:stretch>
            <a:fillRect/>
          </a:stretch>
        </p:blipFill>
        <p:spPr>
          <a:xfrm>
            <a:off x="8510016" y="4926787"/>
            <a:ext cx="332842" cy="332842"/>
          </a:xfrm>
          <a:prstGeom prst="rect">
            <a:avLst/>
          </a:prstGeom>
        </p:spPr>
      </p:pic>
      <p:sp>
        <p:nvSpPr>
          <p:cNvPr id="17" name="Text 12"/>
          <p:cNvSpPr txBox="1"/>
          <p:nvPr/>
        </p:nvSpPr>
        <p:spPr>
          <a:xfrm>
            <a:off x="9179357" y="4754880"/>
            <a:ext cx="2326538"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Data i Norge</a:t>
            </a:r>
            <a:endParaRPr lang="en-US" sz="1800" dirty="0"/>
          </a:p>
          <a:p>
            <a:pPr indent="0" marL="0">
              <a:buNone/>
            </a:pPr>
            <a:r>
              <a:rPr lang="en-US" sz="1400" dirty="0">
                <a:solidFill>
                  <a:srgbClr val="B9C8D4"/>
                </a:solidFill>
                <a:latin typeface="Calibri" pitchFamily="34" charset="0"/>
                <a:ea typeface="Calibri" pitchFamily="34" charset="-122"/>
                <a:cs typeface="Calibri" pitchFamily="34" charset="-120"/>
              </a:rPr>
              <a:t>brukes ikke til KI-trening</a:t>
            </a:r>
            <a:endParaRPr lang="en-US" sz="1800" dirty="0"/>
          </a:p>
        </p:txBody>
      </p:sp>
      <p:sp>
        <p:nvSpPr>
          <p:cNvPr id="19"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4"/>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KJENNER DERE DETTE IGJEN?</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Mye tid går med til å lete, spørre og purre</a:t>
            </a:r>
            <a:endParaRPr lang="en-US" sz="3000" dirty="0"/>
          </a:p>
        </p:txBody>
      </p:sp>
      <p:sp>
        <p:nvSpPr>
          <p:cNvPr id="4" name="Kort"/>
          <p:cNvSpPr/>
          <p:nvPr/>
        </p:nvSpPr>
        <p:spPr>
          <a:xfrm>
            <a:off x="548640" y="1828800"/>
            <a:ext cx="5410048" cy="1783080"/>
          </a:xfrm>
          <a:prstGeom prst="roundRect">
            <a:avLst>
              <a:gd name="adj" fmla="val 6154"/>
            </a:avLst>
          </a:prstGeom>
          <a:solidFill>
            <a:srgbClr val="EEF3F6"/>
          </a:solidFill>
          <a:ln/>
        </p:spPr>
      </p:sp>
      <p:sp>
        <p:nvSpPr>
          <p:cNvPr id="5" name="Ikon-sirkel"/>
          <p:cNvSpPr/>
          <p:nvPr/>
        </p:nvSpPr>
        <p:spPr>
          <a:xfrm>
            <a:off x="868680" y="2194560"/>
            <a:ext cx="731520" cy="731520"/>
          </a:xfrm>
          <a:prstGeom prst="ellipse">
            <a:avLst/>
          </a:prstGeom>
          <a:solidFill>
            <a:srgbClr val="0E7C86"/>
          </a:solidFill>
          <a:ln/>
        </p:spPr>
      </p:sp>
      <p:pic>
        <p:nvPicPr>
          <p:cNvPr id="6" name="Ikon FaMagnifyingGlass" descr="preencoded.png">    </p:cNvPr>
          <p:cNvPicPr>
            <a:picLocks noChangeAspect="1"/>
          </p:cNvPicPr>
          <p:nvPr/>
        </p:nvPicPr>
        <p:blipFill>
          <a:blip r:embed="rId1"/>
          <a:stretch>
            <a:fillRect/>
          </a:stretch>
        </p:blipFill>
        <p:spPr>
          <a:xfrm>
            <a:off x="1044245" y="2370125"/>
            <a:ext cx="380390" cy="380390"/>
          </a:xfrm>
          <a:prstGeom prst="rect">
            <a:avLst/>
          </a:prstGeom>
        </p:spPr>
      </p:pic>
      <p:sp>
        <p:nvSpPr>
          <p:cNvPr id="7" name="Text 4"/>
          <p:cNvSpPr txBox="1"/>
          <p:nvPr/>
        </p:nvSpPr>
        <p:spPr>
          <a:xfrm>
            <a:off x="1874520" y="2148840"/>
            <a:ext cx="3764128" cy="1234440"/>
          </a:xfrm>
          <a:prstGeom prst="rect">
            <a:avLst/>
          </a:prstGeom>
          <a:noFill/>
          <a:ln/>
        </p:spPr>
        <p:txBody>
          <a:bodyPr wrap="square" lIns="0" tIns="0" rIns="0" bIns="0" rtlCol="0" anchor="t"/>
          <a:lstStyle/>
          <a:p>
            <a:pPr indent="0" marL="0">
              <a:buNone/>
            </a:pPr>
            <a:r>
              <a:rPr lang="en-US" sz="1900" b="1" dirty="0">
                <a:solidFill>
                  <a:srgbClr val="0B1F33"/>
                </a:solidFill>
                <a:latin typeface="Calibri" pitchFamily="34" charset="0"/>
                <a:ea typeface="Calibri" pitchFamily="34" charset="-122"/>
                <a:cs typeface="Calibri" pitchFamily="34" charset="-120"/>
              </a:rPr>
              <a:t>«Hva ble gjort sist?»</a:t>
            </a:r>
            <a:endParaRPr lang="en-US" sz="1900" dirty="0"/>
          </a:p>
          <a:p>
            <a:pPr indent="0" marL="0">
              <a:buNone/>
            </a:pPr>
            <a:r>
              <a:rPr lang="en-US" sz="1500" dirty="0">
                <a:solidFill>
                  <a:srgbClr val="1B2A38"/>
                </a:solidFill>
                <a:latin typeface="Calibri" pitchFamily="34" charset="0"/>
                <a:ea typeface="Calibri" pitchFamily="34" charset="-122"/>
                <a:cs typeface="Calibri" pitchFamily="34" charset="-120"/>
              </a:rPr>
              <a:t>Historikken ligger i systemet, i e-poster og i permer – og tar tid å finne.</a:t>
            </a:r>
            <a:endParaRPr lang="en-US" sz="1900" dirty="0"/>
          </a:p>
        </p:txBody>
      </p:sp>
      <p:sp>
        <p:nvSpPr>
          <p:cNvPr id="8" name="Kort"/>
          <p:cNvSpPr/>
          <p:nvPr/>
        </p:nvSpPr>
        <p:spPr>
          <a:xfrm>
            <a:off x="6233008" y="1828800"/>
            <a:ext cx="5410048" cy="1783080"/>
          </a:xfrm>
          <a:prstGeom prst="roundRect">
            <a:avLst>
              <a:gd name="adj" fmla="val 6154"/>
            </a:avLst>
          </a:prstGeom>
          <a:solidFill>
            <a:srgbClr val="EEF3F6"/>
          </a:solidFill>
          <a:ln/>
        </p:spPr>
      </p:sp>
      <p:sp>
        <p:nvSpPr>
          <p:cNvPr id="9" name="Ikon-sirkel"/>
          <p:cNvSpPr/>
          <p:nvPr/>
        </p:nvSpPr>
        <p:spPr>
          <a:xfrm>
            <a:off x="6553048" y="2194560"/>
            <a:ext cx="731520" cy="731520"/>
          </a:xfrm>
          <a:prstGeom prst="ellipse">
            <a:avLst/>
          </a:prstGeom>
          <a:solidFill>
            <a:srgbClr val="0E7C86"/>
          </a:solidFill>
          <a:ln/>
        </p:spPr>
      </p:sp>
      <p:pic>
        <p:nvPicPr>
          <p:cNvPr id="10" name="Ikon FaPeopleArrows" descr="preencoded.png">    </p:cNvPr>
          <p:cNvPicPr>
            <a:picLocks noChangeAspect="1"/>
          </p:cNvPicPr>
          <p:nvPr/>
        </p:nvPicPr>
        <p:blipFill>
          <a:blip r:embed="rId2"/>
          <a:stretch>
            <a:fillRect/>
          </a:stretch>
        </p:blipFill>
        <p:spPr>
          <a:xfrm>
            <a:off x="6728612" y="2370125"/>
            <a:ext cx="380390" cy="380390"/>
          </a:xfrm>
          <a:prstGeom prst="rect">
            <a:avLst/>
          </a:prstGeom>
        </p:spPr>
      </p:pic>
      <p:sp>
        <p:nvSpPr>
          <p:cNvPr id="11" name="Text 7"/>
          <p:cNvSpPr txBox="1"/>
          <p:nvPr/>
        </p:nvSpPr>
        <p:spPr>
          <a:xfrm>
            <a:off x="7558888" y="2148840"/>
            <a:ext cx="3764128" cy="1234440"/>
          </a:xfrm>
          <a:prstGeom prst="rect">
            <a:avLst/>
          </a:prstGeom>
          <a:noFill/>
          <a:ln/>
        </p:spPr>
        <p:txBody>
          <a:bodyPr wrap="square" lIns="0" tIns="0" rIns="0" bIns="0" rtlCol="0" anchor="t"/>
          <a:lstStyle/>
          <a:p>
            <a:pPr indent="0" marL="0">
              <a:buNone/>
            </a:pPr>
            <a:r>
              <a:rPr lang="en-US" sz="1900" b="1" dirty="0">
                <a:solidFill>
                  <a:srgbClr val="0B1F33"/>
                </a:solidFill>
                <a:latin typeface="Calibri" pitchFamily="34" charset="0"/>
                <a:ea typeface="Calibri" pitchFamily="34" charset="-122"/>
                <a:cs typeface="Calibri" pitchFamily="34" charset="-120"/>
              </a:rPr>
              <a:t>«Hvem har ansvaret nå?»</a:t>
            </a:r>
            <a:endParaRPr lang="en-US" sz="1900" dirty="0"/>
          </a:p>
          <a:p>
            <a:pPr indent="0" marL="0">
              <a:buNone/>
            </a:pPr>
            <a:r>
              <a:rPr lang="en-US" sz="1500" dirty="0">
                <a:solidFill>
                  <a:srgbClr val="1B2A38"/>
                </a:solidFill>
                <a:latin typeface="Calibri" pitchFamily="34" charset="0"/>
                <a:ea typeface="Calibri" pitchFamily="34" charset="-122"/>
                <a:cs typeface="Calibri" pitchFamily="34" charset="-120"/>
              </a:rPr>
              <a:t>Saker faller mellom skift, og mellom båten og land.</a:t>
            </a:r>
            <a:endParaRPr lang="en-US" sz="1900" dirty="0"/>
          </a:p>
        </p:txBody>
      </p:sp>
      <p:sp>
        <p:nvSpPr>
          <p:cNvPr id="12" name="Kort"/>
          <p:cNvSpPr/>
          <p:nvPr/>
        </p:nvSpPr>
        <p:spPr>
          <a:xfrm>
            <a:off x="548640" y="3886200"/>
            <a:ext cx="5410048" cy="1783080"/>
          </a:xfrm>
          <a:prstGeom prst="roundRect">
            <a:avLst>
              <a:gd name="adj" fmla="val 6154"/>
            </a:avLst>
          </a:prstGeom>
          <a:solidFill>
            <a:srgbClr val="EEF3F6"/>
          </a:solidFill>
          <a:ln/>
        </p:spPr>
      </p:sp>
      <p:sp>
        <p:nvSpPr>
          <p:cNvPr id="13" name="Ikon-sirkel"/>
          <p:cNvSpPr/>
          <p:nvPr/>
        </p:nvSpPr>
        <p:spPr>
          <a:xfrm>
            <a:off x="868680" y="4251960"/>
            <a:ext cx="731520" cy="731520"/>
          </a:xfrm>
          <a:prstGeom prst="ellipse">
            <a:avLst/>
          </a:prstGeom>
          <a:solidFill>
            <a:srgbClr val="0E7C86"/>
          </a:solidFill>
          <a:ln/>
        </p:spPr>
      </p:sp>
      <p:pic>
        <p:nvPicPr>
          <p:cNvPr id="14" name="Ikon FaTableList" descr="preencoded.png">    </p:cNvPr>
          <p:cNvPicPr>
            <a:picLocks noChangeAspect="1"/>
          </p:cNvPicPr>
          <p:nvPr/>
        </p:nvPicPr>
        <p:blipFill>
          <a:blip r:embed="rId3"/>
          <a:stretch>
            <a:fillRect/>
          </a:stretch>
        </p:blipFill>
        <p:spPr>
          <a:xfrm>
            <a:off x="1044245" y="4427525"/>
            <a:ext cx="380390" cy="380390"/>
          </a:xfrm>
          <a:prstGeom prst="rect">
            <a:avLst/>
          </a:prstGeom>
        </p:spPr>
      </p:pic>
      <p:sp>
        <p:nvSpPr>
          <p:cNvPr id="15" name="Text 10"/>
          <p:cNvSpPr txBox="1"/>
          <p:nvPr/>
        </p:nvSpPr>
        <p:spPr>
          <a:xfrm>
            <a:off x="1874520" y="4206240"/>
            <a:ext cx="3764128" cy="1234440"/>
          </a:xfrm>
          <a:prstGeom prst="rect">
            <a:avLst/>
          </a:prstGeom>
          <a:noFill/>
          <a:ln/>
        </p:spPr>
        <p:txBody>
          <a:bodyPr wrap="square" lIns="0" tIns="0" rIns="0" bIns="0" rtlCol="0" anchor="t"/>
          <a:lstStyle/>
          <a:p>
            <a:pPr indent="0" marL="0">
              <a:buNone/>
            </a:pPr>
            <a:r>
              <a:rPr lang="en-US" sz="1900" b="1" dirty="0">
                <a:solidFill>
                  <a:srgbClr val="0B1F33"/>
                </a:solidFill>
                <a:latin typeface="Calibri" pitchFamily="34" charset="0"/>
                <a:ea typeface="Calibri" pitchFamily="34" charset="-122"/>
                <a:cs typeface="Calibri" pitchFamily="34" charset="-120"/>
              </a:rPr>
              <a:t>Flere systemer og regneark</a:t>
            </a:r>
            <a:endParaRPr lang="en-US" sz="1900" dirty="0"/>
          </a:p>
          <a:p>
            <a:pPr indent="0" marL="0">
              <a:buNone/>
            </a:pPr>
            <a:r>
              <a:rPr lang="en-US" sz="1500" dirty="0">
                <a:solidFill>
                  <a:srgbClr val="1B2A38"/>
                </a:solidFill>
                <a:latin typeface="Calibri" pitchFamily="34" charset="0"/>
                <a:ea typeface="Calibri" pitchFamily="34" charset="-122"/>
                <a:cs typeface="Calibri" pitchFamily="34" charset="-120"/>
              </a:rPr>
              <a:t>Vedlikehold, sikkerhet og dokumenter ligger i hvert sitt system.</a:t>
            </a:r>
            <a:endParaRPr lang="en-US" sz="1900" dirty="0"/>
          </a:p>
        </p:txBody>
      </p:sp>
      <p:sp>
        <p:nvSpPr>
          <p:cNvPr id="16" name="Kort"/>
          <p:cNvSpPr/>
          <p:nvPr/>
        </p:nvSpPr>
        <p:spPr>
          <a:xfrm>
            <a:off x="6233008" y="3886200"/>
            <a:ext cx="5410048" cy="1783080"/>
          </a:xfrm>
          <a:prstGeom prst="roundRect">
            <a:avLst>
              <a:gd name="adj" fmla="val 6154"/>
            </a:avLst>
          </a:prstGeom>
          <a:solidFill>
            <a:srgbClr val="EEF3F6"/>
          </a:solidFill>
          <a:ln/>
        </p:spPr>
      </p:sp>
      <p:sp>
        <p:nvSpPr>
          <p:cNvPr id="17" name="Ikon-sirkel"/>
          <p:cNvSpPr/>
          <p:nvPr/>
        </p:nvSpPr>
        <p:spPr>
          <a:xfrm>
            <a:off x="6553048" y="4251960"/>
            <a:ext cx="731520" cy="731520"/>
          </a:xfrm>
          <a:prstGeom prst="ellipse">
            <a:avLst/>
          </a:prstGeom>
          <a:solidFill>
            <a:srgbClr val="0E7C86"/>
          </a:solidFill>
          <a:ln/>
        </p:spPr>
      </p:sp>
      <p:pic>
        <p:nvPicPr>
          <p:cNvPr id="18" name="Ikon FaUserClock" descr="preencoded.png">    </p:cNvPr>
          <p:cNvPicPr>
            <a:picLocks noChangeAspect="1"/>
          </p:cNvPicPr>
          <p:nvPr/>
        </p:nvPicPr>
        <p:blipFill>
          <a:blip r:embed="rId4"/>
          <a:stretch>
            <a:fillRect/>
          </a:stretch>
        </p:blipFill>
        <p:spPr>
          <a:xfrm>
            <a:off x="6728612" y="4427525"/>
            <a:ext cx="380390" cy="380390"/>
          </a:xfrm>
          <a:prstGeom prst="rect">
            <a:avLst/>
          </a:prstGeom>
        </p:spPr>
      </p:pic>
      <p:sp>
        <p:nvSpPr>
          <p:cNvPr id="19" name="Text 13"/>
          <p:cNvSpPr txBox="1"/>
          <p:nvPr/>
        </p:nvSpPr>
        <p:spPr>
          <a:xfrm>
            <a:off x="7558888" y="4206240"/>
            <a:ext cx="3764128" cy="1234440"/>
          </a:xfrm>
          <a:prstGeom prst="rect">
            <a:avLst/>
          </a:prstGeom>
          <a:noFill/>
          <a:ln/>
        </p:spPr>
        <p:txBody>
          <a:bodyPr wrap="square" lIns="0" tIns="0" rIns="0" bIns="0" rtlCol="0" anchor="t"/>
          <a:lstStyle/>
          <a:p>
            <a:pPr indent="0" marL="0">
              <a:buNone/>
            </a:pPr>
            <a:r>
              <a:rPr lang="en-US" sz="1900" b="1" dirty="0">
                <a:solidFill>
                  <a:srgbClr val="0B1F33"/>
                </a:solidFill>
                <a:latin typeface="Calibri" pitchFamily="34" charset="0"/>
                <a:ea typeface="Calibri" pitchFamily="34" charset="-122"/>
                <a:cs typeface="Calibri" pitchFamily="34" charset="-120"/>
              </a:rPr>
              <a:t>Erfaringen går i land</a:t>
            </a:r>
            <a:endParaRPr lang="en-US" sz="1900" dirty="0"/>
          </a:p>
          <a:p>
            <a:pPr indent="0" marL="0">
              <a:buNone/>
            </a:pPr>
            <a:r>
              <a:rPr lang="en-US" sz="1500" dirty="0">
                <a:solidFill>
                  <a:srgbClr val="1B2A38"/>
                </a:solidFill>
                <a:latin typeface="Calibri" pitchFamily="34" charset="0"/>
                <a:ea typeface="Calibri" pitchFamily="34" charset="-122"/>
                <a:cs typeface="Calibri" pitchFamily="34" charset="-120"/>
              </a:rPr>
              <a:t>Når erfarne folk slutter eller har fri, er kunnskapen borte fra båten.</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NAUTECH</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Ett system for hele driften – om bord og på land</a:t>
            </a:r>
            <a:endParaRPr lang="en-US" sz="3000" dirty="0"/>
          </a:p>
        </p:txBody>
      </p:sp>
      <p:sp>
        <p:nvSpPr>
          <p:cNvPr id="4" name="Ikon-sirkel"/>
          <p:cNvSpPr/>
          <p:nvPr/>
        </p:nvSpPr>
        <p:spPr>
          <a:xfrm>
            <a:off x="548640" y="1920240"/>
            <a:ext cx="685800" cy="685800"/>
          </a:xfrm>
          <a:prstGeom prst="ellipse">
            <a:avLst/>
          </a:prstGeom>
          <a:solidFill>
            <a:srgbClr val="0E7C86"/>
          </a:solidFill>
          <a:ln/>
        </p:spPr>
      </p:sp>
      <p:pic>
        <p:nvPicPr>
          <p:cNvPr id="5" name="Ikon FaLayerGroup" descr="preencoded.png">    </p:cNvPr>
          <p:cNvPicPr>
            <a:picLocks noChangeAspect="1"/>
          </p:cNvPicPr>
          <p:nvPr/>
        </p:nvPicPr>
        <p:blipFill>
          <a:blip r:embed="rId1"/>
          <a:stretch>
            <a:fillRect/>
          </a:stretch>
        </p:blipFill>
        <p:spPr>
          <a:xfrm>
            <a:off x="713232" y="2084832"/>
            <a:ext cx="356616" cy="356616"/>
          </a:xfrm>
          <a:prstGeom prst="rect">
            <a:avLst/>
          </a:prstGeom>
        </p:spPr>
      </p:pic>
      <p:sp>
        <p:nvSpPr>
          <p:cNvPr id="6" name="Text 3"/>
          <p:cNvSpPr txBox="1"/>
          <p:nvPr/>
        </p:nvSpPr>
        <p:spPr>
          <a:xfrm>
            <a:off x="1463040" y="1874520"/>
            <a:ext cx="4480560" cy="1188720"/>
          </a:xfrm>
          <a:prstGeom prst="rect">
            <a:avLst/>
          </a:prstGeom>
          <a:noFill/>
          <a:ln/>
        </p:spPr>
        <p:txBody>
          <a:bodyPr wrap="square" lIns="0" tIns="0" rIns="0" bIns="0" rtlCol="0" anchor="t"/>
          <a:lstStyle/>
          <a:p>
            <a:pPr indent="0" marL="0">
              <a:buNone/>
            </a:pPr>
            <a:r>
              <a:rPr lang="en-US" sz="1900" b="1" dirty="0">
                <a:solidFill>
                  <a:srgbClr val="0B1F33"/>
                </a:solidFill>
                <a:latin typeface="Calibri" pitchFamily="34" charset="0"/>
                <a:ea typeface="Calibri" pitchFamily="34" charset="-122"/>
                <a:cs typeface="Calibri" pitchFamily="34" charset="-120"/>
              </a:rPr>
              <a:t>Alt på ett sted</a:t>
            </a:r>
            <a:endParaRPr lang="en-US" sz="1900" dirty="0"/>
          </a:p>
          <a:p>
            <a:pPr indent="0" marL="0">
              <a:buNone/>
            </a:pPr>
            <a:r>
              <a:rPr lang="en-US" sz="1500" dirty="0">
                <a:solidFill>
                  <a:srgbClr val="1B2A38"/>
                </a:solidFill>
                <a:latin typeface="Calibri" pitchFamily="34" charset="0"/>
                <a:ea typeface="Calibri" pitchFamily="34" charset="-122"/>
                <a:cs typeface="Calibri" pitchFamily="34" charset="-120"/>
              </a:rPr>
              <a:t>Vedlikehold, sikkerhet, dokumenter, mannskap, fangst og økonomi. Ikke flere systemer og regneark.</a:t>
            </a:r>
            <a:endParaRPr lang="en-US" sz="1900" dirty="0"/>
          </a:p>
        </p:txBody>
      </p:sp>
      <p:sp>
        <p:nvSpPr>
          <p:cNvPr id="7" name="Ikon-sirkel"/>
          <p:cNvSpPr/>
          <p:nvPr/>
        </p:nvSpPr>
        <p:spPr>
          <a:xfrm>
            <a:off x="548640" y="3246120"/>
            <a:ext cx="685800" cy="685800"/>
          </a:xfrm>
          <a:prstGeom prst="ellipse">
            <a:avLst/>
          </a:prstGeom>
          <a:solidFill>
            <a:srgbClr val="0E7C86"/>
          </a:solidFill>
          <a:ln/>
        </p:spPr>
      </p:sp>
      <p:pic>
        <p:nvPicPr>
          <p:cNvPr id="8" name="Ikon FaBrain" descr="preencoded.png">    </p:cNvPr>
          <p:cNvPicPr>
            <a:picLocks noChangeAspect="1"/>
          </p:cNvPicPr>
          <p:nvPr/>
        </p:nvPicPr>
        <p:blipFill>
          <a:blip r:embed="rId2"/>
          <a:stretch>
            <a:fillRect/>
          </a:stretch>
        </p:blipFill>
        <p:spPr>
          <a:xfrm>
            <a:off x="713232" y="3410712"/>
            <a:ext cx="356616" cy="356616"/>
          </a:xfrm>
          <a:prstGeom prst="rect">
            <a:avLst/>
          </a:prstGeom>
        </p:spPr>
      </p:pic>
      <p:sp>
        <p:nvSpPr>
          <p:cNvPr id="9" name="Text 5"/>
          <p:cNvSpPr txBox="1"/>
          <p:nvPr/>
        </p:nvSpPr>
        <p:spPr>
          <a:xfrm>
            <a:off x="1463040" y="3200400"/>
            <a:ext cx="4480560" cy="1188720"/>
          </a:xfrm>
          <a:prstGeom prst="rect">
            <a:avLst/>
          </a:prstGeom>
          <a:noFill/>
          <a:ln/>
        </p:spPr>
        <p:txBody>
          <a:bodyPr wrap="square" lIns="0" tIns="0" rIns="0" bIns="0" rtlCol="0" anchor="t"/>
          <a:lstStyle/>
          <a:p>
            <a:pPr indent="0" marL="0">
              <a:buNone/>
            </a:pPr>
            <a:r>
              <a:rPr lang="en-US" sz="1900" b="1" dirty="0">
                <a:solidFill>
                  <a:srgbClr val="0B1F33"/>
                </a:solidFill>
                <a:latin typeface="Calibri" pitchFamily="34" charset="0"/>
                <a:ea typeface="Calibri" pitchFamily="34" charset="-122"/>
                <a:cs typeface="Calibri" pitchFamily="34" charset="-120"/>
              </a:rPr>
              <a:t>Spør og få svar</a:t>
            </a:r>
            <a:endParaRPr lang="en-US" sz="1900" dirty="0"/>
          </a:p>
          <a:p>
            <a:pPr indent="0" marL="0">
              <a:buNone/>
            </a:pPr>
            <a:r>
              <a:rPr lang="en-US" sz="1500" dirty="0">
                <a:solidFill>
                  <a:srgbClr val="1B2A38"/>
                </a:solidFill>
                <a:latin typeface="Calibri" pitchFamily="34" charset="0"/>
                <a:ea typeface="Calibri" pitchFamily="34" charset="-122"/>
                <a:cs typeface="Calibri" pitchFamily="34" charset="-120"/>
              </a:rPr>
              <a:t>KI-assistenten kjenner båtens historikk og viser hvor svaret kommer fra.</a:t>
            </a:r>
            <a:endParaRPr lang="en-US" sz="1900" dirty="0"/>
          </a:p>
        </p:txBody>
      </p:sp>
      <p:sp>
        <p:nvSpPr>
          <p:cNvPr id="10" name="Ikon-sirkel"/>
          <p:cNvSpPr/>
          <p:nvPr/>
        </p:nvSpPr>
        <p:spPr>
          <a:xfrm>
            <a:off x="548640" y="4572000"/>
            <a:ext cx="685800" cy="685800"/>
          </a:xfrm>
          <a:prstGeom prst="ellipse">
            <a:avLst/>
          </a:prstGeom>
          <a:solidFill>
            <a:srgbClr val="0E7C86"/>
          </a:solidFill>
          <a:ln/>
        </p:spPr>
      </p:sp>
      <p:pic>
        <p:nvPicPr>
          <p:cNvPr id="11" name="Ikon FaPeopleArrows" descr="preencoded.png">    </p:cNvPr>
          <p:cNvPicPr>
            <a:picLocks noChangeAspect="1"/>
          </p:cNvPicPr>
          <p:nvPr/>
        </p:nvPicPr>
        <p:blipFill>
          <a:blip r:embed="rId3"/>
          <a:stretch>
            <a:fillRect/>
          </a:stretch>
        </p:blipFill>
        <p:spPr>
          <a:xfrm>
            <a:off x="713232" y="4736592"/>
            <a:ext cx="356616" cy="356616"/>
          </a:xfrm>
          <a:prstGeom prst="rect">
            <a:avLst/>
          </a:prstGeom>
        </p:spPr>
      </p:pic>
      <p:sp>
        <p:nvSpPr>
          <p:cNvPr id="12" name="Text 7"/>
          <p:cNvSpPr txBox="1"/>
          <p:nvPr/>
        </p:nvSpPr>
        <p:spPr>
          <a:xfrm>
            <a:off x="1463040" y="4526280"/>
            <a:ext cx="4480560" cy="1188720"/>
          </a:xfrm>
          <a:prstGeom prst="rect">
            <a:avLst/>
          </a:prstGeom>
          <a:noFill/>
          <a:ln/>
        </p:spPr>
        <p:txBody>
          <a:bodyPr wrap="square" lIns="0" tIns="0" rIns="0" bIns="0" rtlCol="0" anchor="t"/>
          <a:lstStyle/>
          <a:p>
            <a:pPr indent="0" marL="0">
              <a:buNone/>
            </a:pPr>
            <a:r>
              <a:rPr lang="en-US" sz="1900" b="1" dirty="0">
                <a:solidFill>
                  <a:srgbClr val="0B1F33"/>
                </a:solidFill>
                <a:latin typeface="Calibri" pitchFamily="34" charset="0"/>
                <a:ea typeface="Calibri" pitchFamily="34" charset="-122"/>
                <a:cs typeface="Calibri" pitchFamily="34" charset="-120"/>
              </a:rPr>
              <a:t>Samme oversikt for alle</a:t>
            </a:r>
            <a:endParaRPr lang="en-US" sz="1900" dirty="0"/>
          </a:p>
          <a:p>
            <a:pPr indent="0" marL="0">
              <a:buNone/>
            </a:pPr>
            <a:r>
              <a:rPr lang="en-US" sz="1500" dirty="0">
                <a:solidFill>
                  <a:srgbClr val="1B2A38"/>
                </a:solidFill>
                <a:latin typeface="Calibri" pitchFamily="34" charset="0"/>
                <a:ea typeface="Calibri" pitchFamily="34" charset="-122"/>
                <a:cs typeface="Calibri" pitchFamily="34" charset="-120"/>
              </a:rPr>
              <a:t>Maskinsjef, skipper og teknisk sjef ser de samme sakene og hvem som har ansvaret.</a:t>
            </a:r>
            <a:endParaRPr lang="en-US" sz="1900" dirty="0"/>
          </a:p>
        </p:txBody>
      </p:sp>
      <p:sp>
        <p:nvSpPr>
          <p:cNvPr id="13" name="SKJERMBILDE: Oversikten i Nautech (dashbord)"/>
          <p:cNvSpPr/>
          <p:nvPr/>
        </p:nvSpPr>
        <p:spPr>
          <a:xfrm>
            <a:off x="6172200" y="1828800"/>
            <a:ext cx="5470855" cy="3931920"/>
          </a:xfrm>
          <a:prstGeom prst="roundRect">
            <a:avLst>
              <a:gd name="adj" fmla="val 2326"/>
            </a:avLst>
          </a:prstGeom>
          <a:solidFill>
            <a:srgbClr val="EEF3F6"/>
          </a:solidFill>
          <a:ln w="19050">
            <a:solidFill>
              <a:srgbClr val="E8751A"/>
            </a:solidFill>
            <a:prstDash val="dash"/>
          </a:ln>
        </p:spPr>
      </p:sp>
      <p:pic>
        <p:nvPicPr>
          <p:cNvPr id="14" name="Kamera" descr="preencoded.png">    </p:cNvPr>
          <p:cNvPicPr>
            <a:picLocks noChangeAspect="1"/>
          </p:cNvPicPr>
          <p:nvPr/>
        </p:nvPicPr>
        <p:blipFill>
          <a:blip r:embed="rId4"/>
          <a:stretch>
            <a:fillRect/>
          </a:stretch>
        </p:blipFill>
        <p:spPr>
          <a:xfrm>
            <a:off x="8633308" y="3108960"/>
            <a:ext cx="548640" cy="548640"/>
          </a:xfrm>
          <a:prstGeom prst="rect">
            <a:avLst/>
          </a:prstGeom>
        </p:spPr>
      </p:pic>
      <p:sp>
        <p:nvSpPr>
          <p:cNvPr id="15" name="Text 9"/>
          <p:cNvSpPr txBox="1"/>
          <p:nvPr/>
        </p:nvSpPr>
        <p:spPr>
          <a:xfrm>
            <a:off x="6446520" y="3794760"/>
            <a:ext cx="4922215" cy="822960"/>
          </a:xfrm>
          <a:prstGeom prst="rect">
            <a:avLst/>
          </a:prstGeom>
          <a:noFill/>
          <a:ln/>
        </p:spPr>
        <p:txBody>
          <a:bodyPr wrap="square" lIns="0" tIns="0" rIns="0" bIns="0" rtlCol="0" anchor="t"/>
          <a:lstStyle/>
          <a:p>
            <a:pPr algn="ctr" indent="0" marL="0">
              <a:buNone/>
            </a:pPr>
            <a:r>
              <a:rPr lang="en-US" sz="1200" b="1" spc="100" kern="0" dirty="0">
                <a:solidFill>
                  <a:srgbClr val="E8751A"/>
                </a:solidFill>
              </a:rPr>
              <a:t>SETT INN SKJERMBILDE</a:t>
            </a:r>
            <a:endParaRPr lang="en-US" sz="1200" dirty="0"/>
          </a:p>
          <a:p>
            <a:pPr algn="ctr" indent="0" marL="0">
              <a:buNone/>
            </a:pPr>
            <a:r>
              <a:rPr lang="en-US" sz="1400" dirty="0">
                <a:solidFill>
                  <a:srgbClr val="1B2A38"/>
                </a:solidFill>
              </a:rPr>
              <a:t>Oversikten i Nautech (dashbord)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KI-ASSISTENTEN</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Spør om båten deres – og få svar med kilde</a:t>
            </a:r>
            <a:endParaRPr lang="en-US" sz="3000" dirty="0"/>
          </a:p>
        </p:txBody>
      </p:sp>
      <p:sp>
        <p:nvSpPr>
          <p:cNvPr id="4" name="Shape 2"/>
          <p:cNvSpPr/>
          <p:nvPr/>
        </p:nvSpPr>
        <p:spPr>
          <a:xfrm>
            <a:off x="548640" y="1828800"/>
            <a:ext cx="5303520" cy="868680"/>
          </a:xfrm>
          <a:prstGeom prst="roundRect">
            <a:avLst>
              <a:gd name="adj" fmla="val 15789"/>
            </a:avLst>
          </a:prstGeom>
          <a:solidFill>
            <a:srgbClr val="0E7C86"/>
          </a:solidFill>
          <a:ln/>
        </p:spPr>
      </p:sp>
      <p:sp>
        <p:nvSpPr>
          <p:cNvPr id="5" name="Text 3"/>
          <p:cNvSpPr txBox="1"/>
          <p:nvPr/>
        </p:nvSpPr>
        <p:spPr>
          <a:xfrm>
            <a:off x="822960" y="1828800"/>
            <a:ext cx="4754880" cy="868680"/>
          </a:xfrm>
          <a:prstGeom prst="rect">
            <a:avLst/>
          </a:prstGeom>
          <a:noFill/>
          <a:ln/>
        </p:spPr>
        <p:txBody>
          <a:bodyPr wrap="square" lIns="0" tIns="0" rIns="0" bIns="0"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«Hva vet vi om kjølevannspumpa på hjelpemotor 2?»</a:t>
            </a:r>
            <a:endParaRPr lang="en-US" sz="1800" dirty="0"/>
          </a:p>
        </p:txBody>
      </p:sp>
      <p:sp>
        <p:nvSpPr>
          <p:cNvPr id="6" name="Text 4"/>
          <p:cNvSpPr txBox="1"/>
          <p:nvPr/>
        </p:nvSpPr>
        <p:spPr>
          <a:xfrm>
            <a:off x="548640" y="2880360"/>
            <a:ext cx="5303520" cy="36576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Nautech finner og oppsummerer:</a:t>
            </a:r>
            <a:endParaRPr lang="en-US" sz="1600" dirty="0"/>
          </a:p>
        </p:txBody>
      </p:sp>
      <p:sp>
        <p:nvSpPr>
          <p:cNvPr id="7" name="Ikon-sirkel"/>
          <p:cNvSpPr/>
          <p:nvPr/>
        </p:nvSpPr>
        <p:spPr>
          <a:xfrm>
            <a:off x="548640" y="3337560"/>
            <a:ext cx="438912" cy="438912"/>
          </a:xfrm>
          <a:prstGeom prst="ellipse">
            <a:avLst/>
          </a:prstGeom>
          <a:solidFill>
            <a:srgbClr val="DDE7EE"/>
          </a:solidFill>
          <a:ln/>
        </p:spPr>
      </p:sp>
      <p:pic>
        <p:nvPicPr>
          <p:cNvPr id="8" name="Ikon FaClipboardCheck" descr="preencoded.png">    </p:cNvPr>
          <p:cNvPicPr>
            <a:picLocks noChangeAspect="1"/>
          </p:cNvPicPr>
          <p:nvPr/>
        </p:nvPicPr>
        <p:blipFill>
          <a:blip r:embed="rId1"/>
          <a:stretch>
            <a:fillRect/>
          </a:stretch>
        </p:blipFill>
        <p:spPr>
          <a:xfrm>
            <a:off x="653979" y="3442899"/>
            <a:ext cx="228234" cy="228234"/>
          </a:xfrm>
          <a:prstGeom prst="rect">
            <a:avLst/>
          </a:prstGeom>
        </p:spPr>
      </p:pic>
      <p:sp>
        <p:nvSpPr>
          <p:cNvPr id="9" name="Text 6"/>
          <p:cNvSpPr txBox="1"/>
          <p:nvPr/>
        </p:nvSpPr>
        <p:spPr>
          <a:xfrm>
            <a:off x="1188720" y="3337560"/>
            <a:ext cx="4663440" cy="438912"/>
          </a:xfrm>
          <a:prstGeom prst="rect">
            <a:avLst/>
          </a:prstGeom>
          <a:noFill/>
          <a:ln/>
        </p:spPr>
        <p:txBody>
          <a:bodyPr wrap="square" lIns="0" tIns="0" rIns="0" bIns="0" rtlCol="0" anchor="ctr"/>
          <a:lstStyle/>
          <a:p>
            <a:pPr indent="0" marL="0">
              <a:buNone/>
            </a:pPr>
            <a:r>
              <a:rPr lang="en-US" sz="1500" dirty="0">
                <a:solidFill>
                  <a:srgbClr val="1B2A38"/>
                </a:solidFill>
                <a:latin typeface="Calibri" pitchFamily="34" charset="0"/>
                <a:ea typeface="Calibri" pitchFamily="34" charset="-122"/>
                <a:cs typeface="Calibri" pitchFamily="34" charset="-120"/>
              </a:rPr>
              <a:t>Tidligere arbeidsordrer og hva som ble gjort</a:t>
            </a:r>
            <a:endParaRPr lang="en-US" sz="1500" dirty="0"/>
          </a:p>
        </p:txBody>
      </p:sp>
      <p:sp>
        <p:nvSpPr>
          <p:cNvPr id="10" name="Ikon-sirkel"/>
          <p:cNvSpPr/>
          <p:nvPr/>
        </p:nvSpPr>
        <p:spPr>
          <a:xfrm>
            <a:off x="548640" y="3904488"/>
            <a:ext cx="438912" cy="438912"/>
          </a:xfrm>
          <a:prstGeom prst="ellipse">
            <a:avLst/>
          </a:prstGeom>
          <a:solidFill>
            <a:srgbClr val="DDE7EE"/>
          </a:solidFill>
          <a:ln/>
        </p:spPr>
      </p:sp>
      <p:pic>
        <p:nvPicPr>
          <p:cNvPr id="11" name="Ikon FaBoxOpen" descr="preencoded.png">    </p:cNvPr>
          <p:cNvPicPr>
            <a:picLocks noChangeAspect="1"/>
          </p:cNvPicPr>
          <p:nvPr/>
        </p:nvPicPr>
        <p:blipFill>
          <a:blip r:embed="rId2"/>
          <a:stretch>
            <a:fillRect/>
          </a:stretch>
        </p:blipFill>
        <p:spPr>
          <a:xfrm>
            <a:off x="653979" y="4009827"/>
            <a:ext cx="228234" cy="228234"/>
          </a:xfrm>
          <a:prstGeom prst="rect">
            <a:avLst/>
          </a:prstGeom>
        </p:spPr>
      </p:pic>
      <p:sp>
        <p:nvSpPr>
          <p:cNvPr id="12" name="Text 8"/>
          <p:cNvSpPr txBox="1"/>
          <p:nvPr/>
        </p:nvSpPr>
        <p:spPr>
          <a:xfrm>
            <a:off x="1188720" y="3904488"/>
            <a:ext cx="4663440" cy="438912"/>
          </a:xfrm>
          <a:prstGeom prst="rect">
            <a:avLst/>
          </a:prstGeom>
          <a:noFill/>
          <a:ln/>
        </p:spPr>
        <p:txBody>
          <a:bodyPr wrap="square" lIns="0" tIns="0" rIns="0" bIns="0" rtlCol="0" anchor="ctr"/>
          <a:lstStyle/>
          <a:p>
            <a:pPr indent="0" marL="0">
              <a:buNone/>
            </a:pPr>
            <a:r>
              <a:rPr lang="en-US" sz="1500" dirty="0">
                <a:solidFill>
                  <a:srgbClr val="1B2A38"/>
                </a:solidFill>
                <a:latin typeface="Calibri" pitchFamily="34" charset="0"/>
                <a:ea typeface="Calibri" pitchFamily="34" charset="-122"/>
                <a:cs typeface="Calibri" pitchFamily="34" charset="-120"/>
              </a:rPr>
              <a:t>Deler som er byttet, og når</a:t>
            </a:r>
            <a:endParaRPr lang="en-US" sz="1500" dirty="0"/>
          </a:p>
        </p:txBody>
      </p:sp>
      <p:sp>
        <p:nvSpPr>
          <p:cNvPr id="13" name="Ikon-sirkel"/>
          <p:cNvSpPr/>
          <p:nvPr/>
        </p:nvSpPr>
        <p:spPr>
          <a:xfrm>
            <a:off x="548640" y="4471416"/>
            <a:ext cx="438912" cy="438912"/>
          </a:xfrm>
          <a:prstGeom prst="ellipse">
            <a:avLst/>
          </a:prstGeom>
          <a:solidFill>
            <a:srgbClr val="DDE7EE"/>
          </a:solidFill>
          <a:ln/>
        </p:spPr>
      </p:sp>
      <p:pic>
        <p:nvPicPr>
          <p:cNvPr id="14" name="Ikon FaBook" descr="preencoded.png">    </p:cNvPr>
          <p:cNvPicPr>
            <a:picLocks noChangeAspect="1"/>
          </p:cNvPicPr>
          <p:nvPr/>
        </p:nvPicPr>
        <p:blipFill>
          <a:blip r:embed="rId3"/>
          <a:stretch>
            <a:fillRect/>
          </a:stretch>
        </p:blipFill>
        <p:spPr>
          <a:xfrm>
            <a:off x="653979" y="4576755"/>
            <a:ext cx="228234" cy="228234"/>
          </a:xfrm>
          <a:prstGeom prst="rect">
            <a:avLst/>
          </a:prstGeom>
        </p:spPr>
      </p:pic>
      <p:sp>
        <p:nvSpPr>
          <p:cNvPr id="15" name="Text 10"/>
          <p:cNvSpPr txBox="1"/>
          <p:nvPr/>
        </p:nvSpPr>
        <p:spPr>
          <a:xfrm>
            <a:off x="1188720" y="4471416"/>
            <a:ext cx="4663440" cy="438912"/>
          </a:xfrm>
          <a:prstGeom prst="rect">
            <a:avLst/>
          </a:prstGeom>
          <a:noFill/>
          <a:ln/>
        </p:spPr>
        <p:txBody>
          <a:bodyPr wrap="square" lIns="0" tIns="0" rIns="0" bIns="0" rtlCol="0" anchor="ctr"/>
          <a:lstStyle/>
          <a:p>
            <a:pPr indent="0" marL="0">
              <a:buNone/>
            </a:pPr>
            <a:r>
              <a:rPr lang="en-US" sz="1500" dirty="0">
                <a:solidFill>
                  <a:srgbClr val="1B2A38"/>
                </a:solidFill>
                <a:latin typeface="Calibri" pitchFamily="34" charset="0"/>
                <a:ea typeface="Calibri" pitchFamily="34" charset="-122"/>
                <a:cs typeface="Calibri" pitchFamily="34" charset="-120"/>
              </a:rPr>
              <a:t>Riktig side i manualen</a:t>
            </a:r>
            <a:endParaRPr lang="en-US" sz="1500" dirty="0"/>
          </a:p>
        </p:txBody>
      </p:sp>
      <p:sp>
        <p:nvSpPr>
          <p:cNvPr id="16" name="Kort"/>
          <p:cNvSpPr/>
          <p:nvPr/>
        </p:nvSpPr>
        <p:spPr>
          <a:xfrm>
            <a:off x="548640" y="5120640"/>
            <a:ext cx="5303520" cy="685800"/>
          </a:xfrm>
          <a:prstGeom prst="roundRect">
            <a:avLst>
              <a:gd name="adj" fmla="val 16000"/>
            </a:avLst>
          </a:prstGeom>
          <a:solidFill>
            <a:srgbClr val="EEF3F6"/>
          </a:solidFill>
          <a:ln/>
        </p:spPr>
      </p:sp>
      <p:sp>
        <p:nvSpPr>
          <p:cNvPr id="17" name="Text 12"/>
          <p:cNvSpPr txBox="1"/>
          <p:nvPr/>
        </p:nvSpPr>
        <p:spPr>
          <a:xfrm>
            <a:off x="822960" y="5120640"/>
            <a:ext cx="4846320" cy="685800"/>
          </a:xfrm>
          <a:prstGeom prst="rect">
            <a:avLst/>
          </a:prstGeom>
          <a:noFill/>
          <a:ln/>
        </p:spPr>
        <p:txBody>
          <a:bodyPr wrap="square" lIns="0" tIns="0" rIns="0" bIns="0" rtlCol="0" anchor="ctr"/>
          <a:lstStyle/>
          <a:p>
            <a:pPr indent="0" marL="0">
              <a:buNone/>
            </a:pPr>
            <a:r>
              <a:rPr lang="en-US" sz="1500" b="1" dirty="0">
                <a:solidFill>
                  <a:srgbClr val="0B1F33"/>
                </a:solidFill>
                <a:latin typeface="Calibri" pitchFamily="34" charset="0"/>
                <a:ea typeface="Calibri" pitchFamily="34" charset="-122"/>
                <a:cs typeface="Calibri" pitchFamily="34" charset="-120"/>
              </a:rPr>
              <a:t>Svarer bare ut fra deres egne data. Dere ser kilden. Fagpersonen bestemmer.</a:t>
            </a:r>
            <a:endParaRPr lang="en-US" sz="1500" dirty="0"/>
          </a:p>
        </p:txBody>
      </p:sp>
      <p:sp>
        <p:nvSpPr>
          <p:cNvPr id="18" name="SKJERMBILDE: KI-assistenten: spørsmål om pumpa, med svar og kildehenvisning"/>
          <p:cNvSpPr/>
          <p:nvPr/>
        </p:nvSpPr>
        <p:spPr>
          <a:xfrm>
            <a:off x="6172200" y="1828800"/>
            <a:ext cx="5470855" cy="3977640"/>
          </a:xfrm>
          <a:prstGeom prst="roundRect">
            <a:avLst>
              <a:gd name="adj" fmla="val 2299"/>
            </a:avLst>
          </a:prstGeom>
          <a:solidFill>
            <a:srgbClr val="EEF3F6"/>
          </a:solidFill>
          <a:ln w="19050">
            <a:solidFill>
              <a:srgbClr val="E8751A"/>
            </a:solidFill>
            <a:prstDash val="dash"/>
          </a:ln>
        </p:spPr>
      </p:sp>
      <p:pic>
        <p:nvPicPr>
          <p:cNvPr id="19" name="Kamera" descr="preencoded.png">    </p:cNvPr>
          <p:cNvPicPr>
            <a:picLocks noChangeAspect="1"/>
          </p:cNvPicPr>
          <p:nvPr/>
        </p:nvPicPr>
        <p:blipFill>
          <a:blip r:embed="rId4"/>
          <a:stretch>
            <a:fillRect/>
          </a:stretch>
        </p:blipFill>
        <p:spPr>
          <a:xfrm>
            <a:off x="8633308" y="3131820"/>
            <a:ext cx="548640" cy="548640"/>
          </a:xfrm>
          <a:prstGeom prst="rect">
            <a:avLst/>
          </a:prstGeom>
        </p:spPr>
      </p:pic>
      <p:sp>
        <p:nvSpPr>
          <p:cNvPr id="20" name="Text 14"/>
          <p:cNvSpPr txBox="1"/>
          <p:nvPr/>
        </p:nvSpPr>
        <p:spPr>
          <a:xfrm>
            <a:off x="6446520" y="3817620"/>
            <a:ext cx="4922215" cy="822960"/>
          </a:xfrm>
          <a:prstGeom prst="rect">
            <a:avLst/>
          </a:prstGeom>
          <a:noFill/>
          <a:ln/>
        </p:spPr>
        <p:txBody>
          <a:bodyPr wrap="square" lIns="0" tIns="0" rIns="0" bIns="0" rtlCol="0" anchor="t"/>
          <a:lstStyle/>
          <a:p>
            <a:pPr algn="ctr" indent="0" marL="0">
              <a:buNone/>
            </a:pPr>
            <a:r>
              <a:rPr lang="en-US" sz="1200" b="1" spc="100" kern="0" dirty="0">
                <a:solidFill>
                  <a:srgbClr val="E8751A"/>
                </a:solidFill>
              </a:rPr>
              <a:t>SETT INN SKJERMBILDE</a:t>
            </a:r>
            <a:endParaRPr lang="en-US" sz="1200" dirty="0"/>
          </a:p>
          <a:p>
            <a:pPr algn="ctr" indent="0" marL="0">
              <a:buNone/>
            </a:pPr>
            <a:r>
              <a:rPr lang="en-US" sz="1400" dirty="0">
                <a:solidFill>
                  <a:srgbClr val="1B2A38"/>
                </a:solidFill>
              </a:rPr>
              <a:t>KI-assistenten: spørsmål om pumpa, med svar og kildehenvisning</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LAGET FOR FISKE</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Fangst, kvoter og rapportering – i samme system som vedlikeholdet</a:t>
            </a:r>
            <a:endParaRPr lang="en-US" sz="3000" dirty="0"/>
          </a:p>
        </p:txBody>
      </p:sp>
      <p:sp>
        <p:nvSpPr>
          <p:cNvPr id="4" name="Text 2"/>
          <p:cNvSpPr txBox="1"/>
          <p:nvPr/>
        </p:nvSpPr>
        <p:spPr>
          <a:xfrm>
            <a:off x="548640" y="1828800"/>
            <a:ext cx="5394960" cy="822960"/>
          </a:xfrm>
          <a:prstGeom prst="rect">
            <a:avLst/>
          </a:prstGeom>
          <a:noFill/>
          <a:ln/>
        </p:spPr>
        <p:txBody>
          <a:bodyPr wrap="square" lIns="0" tIns="0" rIns="0" bIns="0" rtlCol="0" anchor="t"/>
          <a:lstStyle/>
          <a:p>
            <a:pPr indent="0" marL="0">
              <a:buNone/>
            </a:pPr>
            <a:r>
              <a:rPr lang="en-US" sz="1600" dirty="0">
                <a:solidFill>
                  <a:srgbClr val="1B2A38"/>
                </a:solidFill>
                <a:latin typeface="Calibri" pitchFamily="34" charset="0"/>
                <a:ea typeface="Calibri" pitchFamily="34" charset="-122"/>
                <a:cs typeface="Calibri" pitchFamily="34" charset="-120"/>
              </a:rPr>
              <a:t>Dere slipper et eget system for fangst og et annet for drift.</a:t>
            </a:r>
            <a:endParaRPr lang="en-US" sz="1600" dirty="0"/>
          </a:p>
        </p:txBody>
      </p:sp>
      <p:sp>
        <p:nvSpPr>
          <p:cNvPr id="5" name="Ikon-sirkel"/>
          <p:cNvSpPr/>
          <p:nvPr/>
        </p:nvSpPr>
        <p:spPr>
          <a:xfrm>
            <a:off x="548640" y="2743200"/>
            <a:ext cx="548640" cy="548640"/>
          </a:xfrm>
          <a:prstGeom prst="ellipse">
            <a:avLst/>
          </a:prstGeom>
          <a:solidFill>
            <a:srgbClr val="0E7C86"/>
          </a:solidFill>
          <a:ln/>
        </p:spPr>
      </p:sp>
      <p:pic>
        <p:nvPicPr>
          <p:cNvPr id="6" name="Ikon FaFish" descr="preencoded.png">    </p:cNvPr>
          <p:cNvPicPr>
            <a:picLocks noChangeAspect="1"/>
          </p:cNvPicPr>
          <p:nvPr/>
        </p:nvPicPr>
        <p:blipFill>
          <a:blip r:embed="rId1"/>
          <a:stretch>
            <a:fillRect/>
          </a:stretch>
        </p:blipFill>
        <p:spPr>
          <a:xfrm>
            <a:off x="680314" y="2874874"/>
            <a:ext cx="285293" cy="285293"/>
          </a:xfrm>
          <a:prstGeom prst="rect">
            <a:avLst/>
          </a:prstGeom>
        </p:spPr>
      </p:pic>
      <p:sp>
        <p:nvSpPr>
          <p:cNvPr id="7" name="Text 4"/>
          <p:cNvSpPr txBox="1"/>
          <p:nvPr/>
        </p:nvSpPr>
        <p:spPr>
          <a:xfrm>
            <a:off x="1280160" y="2706624"/>
            <a:ext cx="4663440" cy="73152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Fangst per hal og tur</a:t>
            </a:r>
            <a:endParaRPr lang="en-US" sz="1600" dirty="0"/>
          </a:p>
          <a:p>
            <a:pPr indent="0" marL="0">
              <a:buNone/>
            </a:pPr>
            <a:r>
              <a:rPr lang="en-US" sz="1400" dirty="0">
                <a:solidFill>
                  <a:srgbClr val="1B2A38"/>
                </a:solidFill>
                <a:latin typeface="Calibri" pitchFamily="34" charset="0"/>
                <a:ea typeface="Calibri" pitchFamily="34" charset="-122"/>
                <a:cs typeface="Calibri" pitchFamily="34" charset="-120"/>
              </a:rPr>
              <a:t>Mengde, art, dyp og tid registreres om bord.</a:t>
            </a:r>
            <a:endParaRPr lang="en-US" sz="1600" dirty="0"/>
          </a:p>
        </p:txBody>
      </p:sp>
      <p:sp>
        <p:nvSpPr>
          <p:cNvPr id="8" name="Ikon-sirkel"/>
          <p:cNvSpPr/>
          <p:nvPr/>
        </p:nvSpPr>
        <p:spPr>
          <a:xfrm>
            <a:off x="548640" y="3520440"/>
            <a:ext cx="548640" cy="548640"/>
          </a:xfrm>
          <a:prstGeom prst="ellipse">
            <a:avLst/>
          </a:prstGeom>
          <a:solidFill>
            <a:srgbClr val="0E7C86"/>
          </a:solidFill>
          <a:ln/>
        </p:spPr>
      </p:sp>
      <p:pic>
        <p:nvPicPr>
          <p:cNvPr id="9" name="Ikon FaListCheck" descr="preencoded.png">    </p:cNvPr>
          <p:cNvPicPr>
            <a:picLocks noChangeAspect="1"/>
          </p:cNvPicPr>
          <p:nvPr/>
        </p:nvPicPr>
        <p:blipFill>
          <a:blip r:embed="rId2"/>
          <a:stretch>
            <a:fillRect/>
          </a:stretch>
        </p:blipFill>
        <p:spPr>
          <a:xfrm>
            <a:off x="680314" y="3652114"/>
            <a:ext cx="285293" cy="285293"/>
          </a:xfrm>
          <a:prstGeom prst="rect">
            <a:avLst/>
          </a:prstGeom>
        </p:spPr>
      </p:pic>
      <p:sp>
        <p:nvSpPr>
          <p:cNvPr id="10" name="Text 6"/>
          <p:cNvSpPr txBox="1"/>
          <p:nvPr/>
        </p:nvSpPr>
        <p:spPr>
          <a:xfrm>
            <a:off x="1280160" y="3483864"/>
            <a:ext cx="4663440" cy="73152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Kvoter</a:t>
            </a:r>
            <a:endParaRPr lang="en-US" sz="1600" dirty="0"/>
          </a:p>
          <a:p>
            <a:pPr indent="0" marL="0">
              <a:buNone/>
            </a:pPr>
            <a:r>
              <a:rPr lang="en-US" sz="1400" dirty="0">
                <a:solidFill>
                  <a:srgbClr val="1B2A38"/>
                </a:solidFill>
                <a:latin typeface="Calibri" pitchFamily="34" charset="0"/>
                <a:ea typeface="Calibri" pitchFamily="34" charset="-122"/>
                <a:cs typeface="Calibri" pitchFamily="34" charset="-120"/>
              </a:rPr>
              <a:t>Se hvor mye som er fisket og hva som gjenstår.</a:t>
            </a:r>
            <a:endParaRPr lang="en-US" sz="1600" dirty="0"/>
          </a:p>
        </p:txBody>
      </p:sp>
      <p:sp>
        <p:nvSpPr>
          <p:cNvPr id="11" name="Ikon-sirkel"/>
          <p:cNvSpPr/>
          <p:nvPr/>
        </p:nvSpPr>
        <p:spPr>
          <a:xfrm>
            <a:off x="548640" y="4297680"/>
            <a:ext cx="548640" cy="548640"/>
          </a:xfrm>
          <a:prstGeom prst="ellipse">
            <a:avLst/>
          </a:prstGeom>
          <a:solidFill>
            <a:srgbClr val="0E7C86"/>
          </a:solidFill>
          <a:ln/>
        </p:spPr>
      </p:sp>
      <p:pic>
        <p:nvPicPr>
          <p:cNvPr id="12" name="Ikon FaClipboardCheck" descr="preencoded.png">    </p:cNvPr>
          <p:cNvPicPr>
            <a:picLocks noChangeAspect="1"/>
          </p:cNvPicPr>
          <p:nvPr/>
        </p:nvPicPr>
        <p:blipFill>
          <a:blip r:embed="rId3"/>
          <a:stretch>
            <a:fillRect/>
          </a:stretch>
        </p:blipFill>
        <p:spPr>
          <a:xfrm>
            <a:off x="680314" y="4429354"/>
            <a:ext cx="285293" cy="285293"/>
          </a:xfrm>
          <a:prstGeom prst="rect">
            <a:avLst/>
          </a:prstGeom>
        </p:spPr>
      </p:pic>
      <p:sp>
        <p:nvSpPr>
          <p:cNvPr id="13" name="Text 8"/>
          <p:cNvSpPr txBox="1"/>
          <p:nvPr/>
        </p:nvSpPr>
        <p:spPr>
          <a:xfrm>
            <a:off x="1280160" y="4261104"/>
            <a:ext cx="4663440" cy="73152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Rapportering og krav</a:t>
            </a:r>
            <a:endParaRPr lang="en-US" sz="1600" dirty="0"/>
          </a:p>
          <a:p>
            <a:pPr indent="0" marL="0">
              <a:buNone/>
            </a:pPr>
            <a:r>
              <a:rPr lang="en-US" sz="1400" dirty="0">
                <a:solidFill>
                  <a:srgbClr val="1B2A38"/>
                </a:solidFill>
                <a:latin typeface="Calibri" pitchFamily="34" charset="0"/>
                <a:ea typeface="Calibri" pitchFamily="34" charset="-122"/>
                <a:cs typeface="Calibri" pitchFamily="34" charset="-120"/>
              </a:rPr>
              <a:t>Oversikt over ERS, VMS, HACCP, bifangst og landingsdeklarasjoner.</a:t>
            </a:r>
            <a:endParaRPr lang="en-US" sz="1600" dirty="0"/>
          </a:p>
        </p:txBody>
      </p:sp>
      <p:sp>
        <p:nvSpPr>
          <p:cNvPr id="14" name="Ikon-sirkel"/>
          <p:cNvSpPr/>
          <p:nvPr/>
        </p:nvSpPr>
        <p:spPr>
          <a:xfrm>
            <a:off x="548640" y="5074920"/>
            <a:ext cx="548640" cy="548640"/>
          </a:xfrm>
          <a:prstGeom prst="ellipse">
            <a:avLst/>
          </a:prstGeom>
          <a:solidFill>
            <a:srgbClr val="0E7C86"/>
          </a:solidFill>
          <a:ln/>
        </p:spPr>
      </p:sp>
      <p:pic>
        <p:nvPicPr>
          <p:cNvPr id="15" name="Ikon FaRoute" descr="preencoded.png">    </p:cNvPr>
          <p:cNvPicPr>
            <a:picLocks noChangeAspect="1"/>
          </p:cNvPicPr>
          <p:nvPr/>
        </p:nvPicPr>
        <p:blipFill>
          <a:blip r:embed="rId4"/>
          <a:stretch>
            <a:fillRect/>
          </a:stretch>
        </p:blipFill>
        <p:spPr>
          <a:xfrm>
            <a:off x="680314" y="5206594"/>
            <a:ext cx="285293" cy="285293"/>
          </a:xfrm>
          <a:prstGeom prst="rect">
            <a:avLst/>
          </a:prstGeom>
        </p:spPr>
      </p:pic>
      <p:sp>
        <p:nvSpPr>
          <p:cNvPr id="16" name="Text 10"/>
          <p:cNvSpPr txBox="1"/>
          <p:nvPr/>
        </p:nvSpPr>
        <p:spPr>
          <a:xfrm>
            <a:off x="1280160" y="5038344"/>
            <a:ext cx="4663440" cy="73152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Sporbarhet</a:t>
            </a:r>
            <a:endParaRPr lang="en-US" sz="1600" dirty="0"/>
          </a:p>
          <a:p>
            <a:pPr indent="0" marL="0">
              <a:buNone/>
            </a:pPr>
            <a:r>
              <a:rPr lang="en-US" sz="1400" dirty="0">
                <a:solidFill>
                  <a:srgbClr val="1B2A38"/>
                </a:solidFill>
                <a:latin typeface="Calibri" pitchFamily="34" charset="0"/>
                <a:ea typeface="Calibri" pitchFamily="34" charset="-122"/>
                <a:cs typeface="Calibri" pitchFamily="34" charset="-120"/>
              </a:rPr>
              <a:t>Følg fisken fra fangst til salg.</a:t>
            </a:r>
            <a:endParaRPr lang="en-US" sz="1600" dirty="0"/>
          </a:p>
        </p:txBody>
      </p:sp>
      <p:sp>
        <p:nvSpPr>
          <p:cNvPr id="17" name="SKJERMBILDE: Fiskerimodulen: fangst per hal eller samsvar (ERS, VMS, HACCP)"/>
          <p:cNvSpPr/>
          <p:nvPr/>
        </p:nvSpPr>
        <p:spPr>
          <a:xfrm>
            <a:off x="6172200" y="1828800"/>
            <a:ext cx="5470855" cy="3931920"/>
          </a:xfrm>
          <a:prstGeom prst="roundRect">
            <a:avLst>
              <a:gd name="adj" fmla="val 2326"/>
            </a:avLst>
          </a:prstGeom>
          <a:solidFill>
            <a:srgbClr val="EEF3F6"/>
          </a:solidFill>
          <a:ln w="19050">
            <a:solidFill>
              <a:srgbClr val="E8751A"/>
            </a:solidFill>
            <a:prstDash val="dash"/>
          </a:ln>
        </p:spPr>
      </p:sp>
      <p:pic>
        <p:nvPicPr>
          <p:cNvPr id="18" name="Kamera" descr="preencoded.png">    </p:cNvPr>
          <p:cNvPicPr>
            <a:picLocks noChangeAspect="1"/>
          </p:cNvPicPr>
          <p:nvPr/>
        </p:nvPicPr>
        <p:blipFill>
          <a:blip r:embed="rId5"/>
          <a:stretch>
            <a:fillRect/>
          </a:stretch>
        </p:blipFill>
        <p:spPr>
          <a:xfrm>
            <a:off x="8633308" y="3108960"/>
            <a:ext cx="548640" cy="548640"/>
          </a:xfrm>
          <a:prstGeom prst="rect">
            <a:avLst/>
          </a:prstGeom>
        </p:spPr>
      </p:pic>
      <p:sp>
        <p:nvSpPr>
          <p:cNvPr id="19" name="Text 12"/>
          <p:cNvSpPr txBox="1"/>
          <p:nvPr/>
        </p:nvSpPr>
        <p:spPr>
          <a:xfrm>
            <a:off x="6446520" y="3794760"/>
            <a:ext cx="4922215" cy="822960"/>
          </a:xfrm>
          <a:prstGeom prst="rect">
            <a:avLst/>
          </a:prstGeom>
          <a:noFill/>
          <a:ln/>
        </p:spPr>
        <p:txBody>
          <a:bodyPr wrap="square" lIns="0" tIns="0" rIns="0" bIns="0" rtlCol="0" anchor="t"/>
          <a:lstStyle/>
          <a:p>
            <a:pPr algn="ctr" indent="0" marL="0">
              <a:buNone/>
            </a:pPr>
            <a:r>
              <a:rPr lang="en-US" sz="1200" b="1" spc="100" kern="0" dirty="0">
                <a:solidFill>
                  <a:srgbClr val="E8751A"/>
                </a:solidFill>
              </a:rPr>
              <a:t>SETT INN SKJERMBILDE</a:t>
            </a:r>
            <a:endParaRPr lang="en-US" sz="1200" dirty="0"/>
          </a:p>
          <a:p>
            <a:pPr algn="ctr" indent="0" marL="0">
              <a:buNone/>
            </a:pPr>
            <a:r>
              <a:rPr lang="en-US" sz="1400" dirty="0">
                <a:solidFill>
                  <a:srgbClr val="1B2A38"/>
                </a:solidFill>
              </a:rPr>
              <a:t>Fiskerimodulen: fangst per hal eller samsvar (ERS, VMS, HACCP)</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ARBEIDSFLYT</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Fra feil til ferdig – uten at noe faller mellom stoler</a:t>
            </a:r>
            <a:endParaRPr lang="en-US" sz="3000" dirty="0"/>
          </a:p>
        </p:txBody>
      </p:sp>
      <p:sp>
        <p:nvSpPr>
          <p:cNvPr id="4" name="Kort"/>
          <p:cNvSpPr/>
          <p:nvPr/>
        </p:nvSpPr>
        <p:spPr>
          <a:xfrm>
            <a:off x="548640" y="1920240"/>
            <a:ext cx="2514600" cy="3291840"/>
          </a:xfrm>
          <a:prstGeom prst="roundRect">
            <a:avLst>
              <a:gd name="adj" fmla="val 4364"/>
            </a:avLst>
          </a:prstGeom>
          <a:solidFill>
            <a:srgbClr val="EEF3F6"/>
          </a:solidFill>
          <a:ln/>
        </p:spPr>
      </p:sp>
      <p:sp>
        <p:nvSpPr>
          <p:cNvPr id="5" name="Ikon-sirkel"/>
          <p:cNvSpPr/>
          <p:nvPr/>
        </p:nvSpPr>
        <p:spPr>
          <a:xfrm>
            <a:off x="1394460" y="2240280"/>
            <a:ext cx="822960" cy="822960"/>
          </a:xfrm>
          <a:prstGeom prst="ellipse">
            <a:avLst/>
          </a:prstGeom>
          <a:solidFill>
            <a:srgbClr val="0E7C86"/>
          </a:solidFill>
          <a:ln/>
        </p:spPr>
      </p:sp>
      <p:pic>
        <p:nvPicPr>
          <p:cNvPr id="6" name="Ikon FaBell" descr="preencoded.png">    </p:cNvPr>
          <p:cNvPicPr>
            <a:picLocks noChangeAspect="1"/>
          </p:cNvPicPr>
          <p:nvPr/>
        </p:nvPicPr>
        <p:blipFill>
          <a:blip r:embed="rId1"/>
          <a:stretch>
            <a:fillRect/>
          </a:stretch>
        </p:blipFill>
        <p:spPr>
          <a:xfrm>
            <a:off x="1591970" y="2437790"/>
            <a:ext cx="427939" cy="427939"/>
          </a:xfrm>
          <a:prstGeom prst="rect">
            <a:avLst/>
          </a:prstGeom>
        </p:spPr>
      </p:pic>
      <p:sp>
        <p:nvSpPr>
          <p:cNvPr id="7" name="Text 4"/>
          <p:cNvSpPr txBox="1"/>
          <p:nvPr/>
        </p:nvSpPr>
        <p:spPr>
          <a:xfrm>
            <a:off x="777240" y="3291840"/>
            <a:ext cx="2057400" cy="1737360"/>
          </a:xfrm>
          <a:prstGeom prst="rect">
            <a:avLst/>
          </a:prstGeom>
          <a:noFill/>
          <a:ln/>
        </p:spPr>
        <p:txBody>
          <a:bodyPr wrap="square" lIns="0" tIns="0" rIns="0" bIns="0" rtlCol="0" anchor="t"/>
          <a:lstStyle/>
          <a:p>
            <a:pPr algn="ctr" indent="0" marL="0">
              <a:buNone/>
            </a:pPr>
            <a:r>
              <a:rPr lang="en-US" sz="1800" b="1" dirty="0">
                <a:solidFill>
                  <a:srgbClr val="0B1F33"/>
                </a:solidFill>
                <a:latin typeface="Calibri" pitchFamily="34" charset="0"/>
                <a:ea typeface="Calibri" pitchFamily="34" charset="-122"/>
                <a:cs typeface="Calibri" pitchFamily="34" charset="-120"/>
              </a:rPr>
              <a:t>1. Meld feilen</a:t>
            </a:r>
            <a:endParaRPr lang="en-US" sz="1800" dirty="0"/>
          </a:p>
          <a:p>
            <a:pPr algn="ctr" indent="0" marL="0">
              <a:buNone/>
            </a:pPr>
            <a:r>
              <a:rPr lang="en-US" sz="800" dirty="0">
                <a:solidFill>
                  <a:srgbClr val="1B2A38"/>
                </a:solidFill>
                <a:latin typeface="Calibri" pitchFamily="34" charset="0"/>
                <a:ea typeface="Calibri" pitchFamily="34" charset="-122"/>
                <a:cs typeface="Calibri" pitchFamily="34" charset="-120"/>
              </a:rPr>
              <a:t> </a:t>
            </a:r>
            <a:endParaRPr lang="en-US" sz="1800" dirty="0"/>
          </a:p>
          <a:p>
            <a:pPr algn="ctr" indent="0" marL="0">
              <a:buNone/>
            </a:pPr>
            <a:r>
              <a:rPr lang="en-US" sz="1500" dirty="0">
                <a:solidFill>
                  <a:srgbClr val="1B2A38"/>
                </a:solidFill>
                <a:latin typeface="Calibri" pitchFamily="34" charset="0"/>
                <a:ea typeface="Calibri" pitchFamily="34" charset="-122"/>
                <a:cs typeface="Calibri" pitchFamily="34" charset="-120"/>
              </a:rPr>
              <a:t>Registrer feilen om bord på noen sekunder.</a:t>
            </a:r>
            <a:endParaRPr lang="en-US" sz="1800" dirty="0"/>
          </a:p>
        </p:txBody>
      </p:sp>
      <p:pic>
        <p:nvPicPr>
          <p:cNvPr id="8" name="Image 1" descr="preencoded.png">    </p:cNvPr>
          <p:cNvPicPr>
            <a:picLocks noChangeAspect="1"/>
          </p:cNvPicPr>
          <p:nvPr/>
        </p:nvPicPr>
        <p:blipFill>
          <a:blip r:embed="rId2"/>
          <a:stretch>
            <a:fillRect/>
          </a:stretch>
        </p:blipFill>
        <p:spPr>
          <a:xfrm>
            <a:off x="3098749" y="3429000"/>
            <a:ext cx="274320" cy="274320"/>
          </a:xfrm>
          <a:prstGeom prst="rect">
            <a:avLst/>
          </a:prstGeom>
        </p:spPr>
      </p:pic>
      <p:sp>
        <p:nvSpPr>
          <p:cNvPr id="9" name="Kort"/>
          <p:cNvSpPr/>
          <p:nvPr/>
        </p:nvSpPr>
        <p:spPr>
          <a:xfrm>
            <a:off x="3408578" y="1920240"/>
            <a:ext cx="2514600" cy="3291840"/>
          </a:xfrm>
          <a:prstGeom prst="roundRect">
            <a:avLst>
              <a:gd name="adj" fmla="val 4364"/>
            </a:avLst>
          </a:prstGeom>
          <a:solidFill>
            <a:srgbClr val="EEF3F6"/>
          </a:solidFill>
          <a:ln/>
        </p:spPr>
      </p:sp>
      <p:sp>
        <p:nvSpPr>
          <p:cNvPr id="10" name="Ikon-sirkel"/>
          <p:cNvSpPr/>
          <p:nvPr/>
        </p:nvSpPr>
        <p:spPr>
          <a:xfrm>
            <a:off x="4254398" y="2240280"/>
            <a:ext cx="822960" cy="822960"/>
          </a:xfrm>
          <a:prstGeom prst="ellipse">
            <a:avLst/>
          </a:prstGeom>
          <a:solidFill>
            <a:srgbClr val="0E7C86"/>
          </a:solidFill>
          <a:ln/>
        </p:spPr>
      </p:sp>
      <p:pic>
        <p:nvPicPr>
          <p:cNvPr id="11" name="Ikon FaMagnifyingGlass" descr="preencoded.png">    </p:cNvPr>
          <p:cNvPicPr>
            <a:picLocks noChangeAspect="1"/>
          </p:cNvPicPr>
          <p:nvPr/>
        </p:nvPicPr>
        <p:blipFill>
          <a:blip r:embed="rId3"/>
          <a:stretch>
            <a:fillRect/>
          </a:stretch>
        </p:blipFill>
        <p:spPr>
          <a:xfrm>
            <a:off x="4451909" y="2437790"/>
            <a:ext cx="427939" cy="427939"/>
          </a:xfrm>
          <a:prstGeom prst="rect">
            <a:avLst/>
          </a:prstGeom>
        </p:spPr>
      </p:pic>
      <p:sp>
        <p:nvSpPr>
          <p:cNvPr id="12" name="Text 7"/>
          <p:cNvSpPr txBox="1"/>
          <p:nvPr/>
        </p:nvSpPr>
        <p:spPr>
          <a:xfrm>
            <a:off x="3637178" y="3291840"/>
            <a:ext cx="2057400" cy="1737360"/>
          </a:xfrm>
          <a:prstGeom prst="rect">
            <a:avLst/>
          </a:prstGeom>
          <a:noFill/>
          <a:ln/>
        </p:spPr>
        <p:txBody>
          <a:bodyPr wrap="square" lIns="0" tIns="0" rIns="0" bIns="0" rtlCol="0" anchor="t"/>
          <a:lstStyle/>
          <a:p>
            <a:pPr algn="ctr" indent="0" marL="0">
              <a:buNone/>
            </a:pPr>
            <a:r>
              <a:rPr lang="en-US" sz="1800" b="1" dirty="0">
                <a:solidFill>
                  <a:srgbClr val="0B1F33"/>
                </a:solidFill>
                <a:latin typeface="Calibri" pitchFamily="34" charset="0"/>
                <a:ea typeface="Calibri" pitchFamily="34" charset="-122"/>
                <a:cs typeface="Calibri" pitchFamily="34" charset="-120"/>
              </a:rPr>
              <a:t>2. Finn historikken</a:t>
            </a:r>
            <a:endParaRPr lang="en-US" sz="1800" dirty="0"/>
          </a:p>
          <a:p>
            <a:pPr algn="ctr" indent="0" marL="0">
              <a:buNone/>
            </a:pPr>
            <a:r>
              <a:rPr lang="en-US" sz="800" dirty="0">
                <a:solidFill>
                  <a:srgbClr val="1B2A38"/>
                </a:solidFill>
                <a:latin typeface="Calibri" pitchFamily="34" charset="0"/>
                <a:ea typeface="Calibri" pitchFamily="34" charset="-122"/>
                <a:cs typeface="Calibri" pitchFamily="34" charset="-120"/>
              </a:rPr>
              <a:t> </a:t>
            </a:r>
            <a:endParaRPr lang="en-US" sz="1800" dirty="0"/>
          </a:p>
          <a:p>
            <a:pPr algn="ctr" indent="0" marL="0">
              <a:buNone/>
            </a:pPr>
            <a:r>
              <a:rPr lang="en-US" sz="1500" dirty="0">
                <a:solidFill>
                  <a:srgbClr val="1B2A38"/>
                </a:solidFill>
                <a:latin typeface="Calibri" pitchFamily="34" charset="0"/>
                <a:ea typeface="Calibri" pitchFamily="34" charset="-122"/>
                <a:cs typeface="Calibri" pitchFamily="34" charset="-120"/>
              </a:rPr>
              <a:t>KI-assistenten samler det dere vet fra før.</a:t>
            </a:r>
            <a:endParaRPr lang="en-US" sz="1800" dirty="0"/>
          </a:p>
        </p:txBody>
      </p:sp>
      <p:pic>
        <p:nvPicPr>
          <p:cNvPr id="13" name="Image 3" descr="preencoded.png">    </p:cNvPr>
          <p:cNvPicPr>
            <a:picLocks noChangeAspect="1"/>
          </p:cNvPicPr>
          <p:nvPr/>
        </p:nvPicPr>
        <p:blipFill>
          <a:blip r:embed="rId4"/>
          <a:stretch>
            <a:fillRect/>
          </a:stretch>
        </p:blipFill>
        <p:spPr>
          <a:xfrm>
            <a:off x="5958688" y="3429000"/>
            <a:ext cx="274320" cy="274320"/>
          </a:xfrm>
          <a:prstGeom prst="rect">
            <a:avLst/>
          </a:prstGeom>
        </p:spPr>
      </p:pic>
      <p:sp>
        <p:nvSpPr>
          <p:cNvPr id="14" name="Kort"/>
          <p:cNvSpPr/>
          <p:nvPr/>
        </p:nvSpPr>
        <p:spPr>
          <a:xfrm>
            <a:off x="6268517" y="1920240"/>
            <a:ext cx="2514600" cy="3291840"/>
          </a:xfrm>
          <a:prstGeom prst="roundRect">
            <a:avLst>
              <a:gd name="adj" fmla="val 4364"/>
            </a:avLst>
          </a:prstGeom>
          <a:solidFill>
            <a:srgbClr val="EEF3F6"/>
          </a:solidFill>
          <a:ln/>
        </p:spPr>
      </p:sp>
      <p:sp>
        <p:nvSpPr>
          <p:cNvPr id="15" name="Ikon-sirkel"/>
          <p:cNvSpPr/>
          <p:nvPr/>
        </p:nvSpPr>
        <p:spPr>
          <a:xfrm>
            <a:off x="7114337" y="2240280"/>
            <a:ext cx="822960" cy="822960"/>
          </a:xfrm>
          <a:prstGeom prst="ellipse">
            <a:avLst/>
          </a:prstGeom>
          <a:solidFill>
            <a:srgbClr val="0E7C86"/>
          </a:solidFill>
          <a:ln/>
        </p:spPr>
      </p:sp>
      <p:pic>
        <p:nvPicPr>
          <p:cNvPr id="16" name="Ikon FaUserGear" descr="preencoded.png">    </p:cNvPr>
          <p:cNvPicPr>
            <a:picLocks noChangeAspect="1"/>
          </p:cNvPicPr>
          <p:nvPr/>
        </p:nvPicPr>
        <p:blipFill>
          <a:blip r:embed="rId5"/>
          <a:stretch>
            <a:fillRect/>
          </a:stretch>
        </p:blipFill>
        <p:spPr>
          <a:xfrm>
            <a:off x="7311847" y="2437790"/>
            <a:ext cx="427939" cy="427939"/>
          </a:xfrm>
          <a:prstGeom prst="rect">
            <a:avLst/>
          </a:prstGeom>
        </p:spPr>
      </p:pic>
      <p:sp>
        <p:nvSpPr>
          <p:cNvPr id="17" name="Text 10"/>
          <p:cNvSpPr txBox="1"/>
          <p:nvPr/>
        </p:nvSpPr>
        <p:spPr>
          <a:xfrm>
            <a:off x="6497117" y="3291840"/>
            <a:ext cx="2057400" cy="1737360"/>
          </a:xfrm>
          <a:prstGeom prst="rect">
            <a:avLst/>
          </a:prstGeom>
          <a:noFill/>
          <a:ln/>
        </p:spPr>
        <p:txBody>
          <a:bodyPr wrap="square" lIns="0" tIns="0" rIns="0" bIns="0" rtlCol="0" anchor="t"/>
          <a:lstStyle/>
          <a:p>
            <a:pPr algn="ctr" indent="0" marL="0">
              <a:buNone/>
            </a:pPr>
            <a:r>
              <a:rPr lang="en-US" sz="1800" b="1" dirty="0">
                <a:solidFill>
                  <a:srgbClr val="0B1F33"/>
                </a:solidFill>
                <a:latin typeface="Calibri" pitchFamily="34" charset="0"/>
                <a:ea typeface="Calibri" pitchFamily="34" charset="-122"/>
                <a:cs typeface="Calibri" pitchFamily="34" charset="-120"/>
              </a:rPr>
              <a:t>3. Bestem og tildel</a:t>
            </a:r>
            <a:endParaRPr lang="en-US" sz="1800" dirty="0"/>
          </a:p>
          <a:p>
            <a:pPr algn="ctr" indent="0" marL="0">
              <a:buNone/>
            </a:pPr>
            <a:r>
              <a:rPr lang="en-US" sz="800" dirty="0">
                <a:solidFill>
                  <a:srgbClr val="1B2A38"/>
                </a:solidFill>
                <a:latin typeface="Calibri" pitchFamily="34" charset="0"/>
                <a:ea typeface="Calibri" pitchFamily="34" charset="-122"/>
                <a:cs typeface="Calibri" pitchFamily="34" charset="-120"/>
              </a:rPr>
              <a:t> </a:t>
            </a:r>
            <a:endParaRPr lang="en-US" sz="1800" dirty="0"/>
          </a:p>
          <a:p>
            <a:pPr algn="ctr" indent="0" marL="0">
              <a:buNone/>
            </a:pPr>
            <a:r>
              <a:rPr lang="en-US" sz="1500" dirty="0">
                <a:solidFill>
                  <a:srgbClr val="1B2A38"/>
                </a:solidFill>
                <a:latin typeface="Calibri" pitchFamily="34" charset="0"/>
                <a:ea typeface="Calibri" pitchFamily="34" charset="-122"/>
                <a:cs typeface="Calibri" pitchFamily="34" charset="-120"/>
              </a:rPr>
              <a:t>Velg tiltak og gi oppgaven til riktig person.</a:t>
            </a:r>
            <a:endParaRPr lang="en-US" sz="1800" dirty="0"/>
          </a:p>
        </p:txBody>
      </p:sp>
      <p:pic>
        <p:nvPicPr>
          <p:cNvPr id="18" name="Image 5" descr="preencoded.png">    </p:cNvPr>
          <p:cNvPicPr>
            <a:picLocks noChangeAspect="1"/>
          </p:cNvPicPr>
          <p:nvPr/>
        </p:nvPicPr>
        <p:blipFill>
          <a:blip r:embed="rId6"/>
          <a:stretch>
            <a:fillRect/>
          </a:stretch>
        </p:blipFill>
        <p:spPr>
          <a:xfrm>
            <a:off x="8818626" y="3429000"/>
            <a:ext cx="274320" cy="274320"/>
          </a:xfrm>
          <a:prstGeom prst="rect">
            <a:avLst/>
          </a:prstGeom>
        </p:spPr>
      </p:pic>
      <p:sp>
        <p:nvSpPr>
          <p:cNvPr id="19" name="Kort"/>
          <p:cNvSpPr/>
          <p:nvPr/>
        </p:nvSpPr>
        <p:spPr>
          <a:xfrm>
            <a:off x="9128455" y="1920240"/>
            <a:ext cx="2514600" cy="3291840"/>
          </a:xfrm>
          <a:prstGeom prst="roundRect">
            <a:avLst>
              <a:gd name="adj" fmla="val 4364"/>
            </a:avLst>
          </a:prstGeom>
          <a:solidFill>
            <a:srgbClr val="0B1F33"/>
          </a:solidFill>
          <a:ln/>
        </p:spPr>
      </p:sp>
      <p:sp>
        <p:nvSpPr>
          <p:cNvPr id="20" name="Ikon-sirkel"/>
          <p:cNvSpPr/>
          <p:nvPr/>
        </p:nvSpPr>
        <p:spPr>
          <a:xfrm>
            <a:off x="9974275" y="2240280"/>
            <a:ext cx="822960" cy="822960"/>
          </a:xfrm>
          <a:prstGeom prst="ellipse">
            <a:avLst/>
          </a:prstGeom>
          <a:solidFill>
            <a:srgbClr val="0E7C86"/>
          </a:solidFill>
          <a:ln/>
        </p:spPr>
      </p:sp>
      <p:pic>
        <p:nvPicPr>
          <p:cNvPr id="21" name="Ikon FaListCheck" descr="preencoded.png">    </p:cNvPr>
          <p:cNvPicPr>
            <a:picLocks noChangeAspect="1"/>
          </p:cNvPicPr>
          <p:nvPr/>
        </p:nvPicPr>
        <p:blipFill>
          <a:blip r:embed="rId7"/>
          <a:stretch>
            <a:fillRect/>
          </a:stretch>
        </p:blipFill>
        <p:spPr>
          <a:xfrm>
            <a:off x="10171786" y="2437790"/>
            <a:ext cx="427939" cy="427939"/>
          </a:xfrm>
          <a:prstGeom prst="rect">
            <a:avLst/>
          </a:prstGeom>
        </p:spPr>
      </p:pic>
      <p:sp>
        <p:nvSpPr>
          <p:cNvPr id="22" name="Text 13"/>
          <p:cNvSpPr txBox="1"/>
          <p:nvPr/>
        </p:nvSpPr>
        <p:spPr>
          <a:xfrm>
            <a:off x="9357055" y="3291840"/>
            <a:ext cx="2057400" cy="1737360"/>
          </a:xfrm>
          <a:prstGeom prst="rect">
            <a:avLst/>
          </a:prstGeom>
          <a:noFill/>
          <a:ln/>
        </p:spPr>
        <p:txBody>
          <a:bodyPr wrap="square" lIns="0" tIns="0" rIns="0" bIns="0"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4. Følg opp og overlever</a:t>
            </a:r>
            <a:endParaRPr lang="en-US" sz="1800" dirty="0"/>
          </a:p>
          <a:p>
            <a:pPr algn="ctr" indent="0" marL="0">
              <a:buNone/>
            </a:pPr>
            <a:r>
              <a:rPr lang="en-US" sz="800" dirty="0">
                <a:solidFill>
                  <a:srgbClr val="1B2A38"/>
                </a:solidFill>
                <a:latin typeface="Calibri" pitchFamily="34" charset="0"/>
                <a:ea typeface="Calibri" pitchFamily="34" charset="-122"/>
                <a:cs typeface="Calibri" pitchFamily="34" charset="-120"/>
              </a:rPr>
              <a:t> </a:t>
            </a:r>
            <a:endParaRPr lang="en-US" sz="1800" dirty="0"/>
          </a:p>
          <a:p>
            <a:pPr algn="ctr" indent="0" marL="0">
              <a:buNone/>
            </a:pPr>
            <a:r>
              <a:rPr lang="en-US" sz="1500" dirty="0">
                <a:solidFill>
                  <a:srgbClr val="DCE6EE"/>
                </a:solidFill>
                <a:latin typeface="Calibri" pitchFamily="34" charset="0"/>
                <a:ea typeface="Calibri" pitchFamily="34" charset="-122"/>
                <a:cs typeface="Calibri" pitchFamily="34" charset="-120"/>
              </a:rPr>
              <a:t>Neste skift og land ser status og ansvar.</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MODULER</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Alt dere trenger – start med det viktigste</a:t>
            </a:r>
            <a:endParaRPr lang="en-US" sz="3000" dirty="0"/>
          </a:p>
        </p:txBody>
      </p:sp>
      <p:sp>
        <p:nvSpPr>
          <p:cNvPr id="4" name="Kort"/>
          <p:cNvSpPr/>
          <p:nvPr/>
        </p:nvSpPr>
        <p:spPr>
          <a:xfrm>
            <a:off x="548640" y="1828800"/>
            <a:ext cx="2567864" cy="3840480"/>
          </a:xfrm>
          <a:prstGeom prst="roundRect">
            <a:avLst>
              <a:gd name="adj" fmla="val 4273"/>
            </a:avLst>
          </a:prstGeom>
          <a:solidFill>
            <a:srgbClr val="EEF3F6"/>
          </a:solidFill>
          <a:ln/>
        </p:spPr>
      </p:sp>
      <p:sp>
        <p:nvSpPr>
          <p:cNvPr id="5" name="Ikon-sirkel"/>
          <p:cNvSpPr/>
          <p:nvPr/>
        </p:nvSpPr>
        <p:spPr>
          <a:xfrm>
            <a:off x="822960" y="2103120"/>
            <a:ext cx="640080" cy="640080"/>
          </a:xfrm>
          <a:prstGeom prst="ellipse">
            <a:avLst/>
          </a:prstGeom>
          <a:solidFill>
            <a:srgbClr val="0E7C86"/>
          </a:solidFill>
          <a:ln/>
        </p:spPr>
      </p:sp>
      <p:pic>
        <p:nvPicPr>
          <p:cNvPr id="6" name="Ikon FaGears" descr="preencoded.png">    </p:cNvPr>
          <p:cNvPicPr>
            <a:picLocks noChangeAspect="1"/>
          </p:cNvPicPr>
          <p:nvPr/>
        </p:nvPicPr>
        <p:blipFill>
          <a:blip r:embed="rId1"/>
          <a:stretch>
            <a:fillRect/>
          </a:stretch>
        </p:blipFill>
        <p:spPr>
          <a:xfrm>
            <a:off x="976579" y="2256739"/>
            <a:ext cx="332842" cy="332842"/>
          </a:xfrm>
          <a:prstGeom prst="rect">
            <a:avLst/>
          </a:prstGeom>
        </p:spPr>
      </p:pic>
      <p:sp>
        <p:nvSpPr>
          <p:cNvPr id="7" name="Text 4"/>
          <p:cNvSpPr txBox="1"/>
          <p:nvPr/>
        </p:nvSpPr>
        <p:spPr>
          <a:xfrm>
            <a:off x="822960" y="2880360"/>
            <a:ext cx="2110664" cy="411480"/>
          </a:xfrm>
          <a:prstGeom prst="rect">
            <a:avLst/>
          </a:prstGeom>
          <a:noFill/>
          <a:ln/>
        </p:spPr>
        <p:txBody>
          <a:bodyPr wrap="square" lIns="0" tIns="0" rIns="0" bIns="0" rtlCol="0" anchor="t"/>
          <a:lstStyle/>
          <a:p>
            <a:pPr indent="0" marL="0">
              <a:buNone/>
            </a:pPr>
            <a:r>
              <a:rPr lang="en-US" sz="1800" b="1" dirty="0">
                <a:solidFill>
                  <a:srgbClr val="0B1F33"/>
                </a:solidFill>
                <a:latin typeface="Calibri" pitchFamily="34" charset="0"/>
                <a:ea typeface="Calibri" pitchFamily="34" charset="-122"/>
                <a:cs typeface="Calibri" pitchFamily="34" charset="-120"/>
              </a:rPr>
              <a:t>Drift</a:t>
            </a:r>
            <a:endParaRPr lang="en-US" sz="1800" dirty="0"/>
          </a:p>
        </p:txBody>
      </p:sp>
      <p:sp>
        <p:nvSpPr>
          <p:cNvPr id="8" name="Text 5"/>
          <p:cNvSpPr txBox="1"/>
          <p:nvPr/>
        </p:nvSpPr>
        <p:spPr>
          <a:xfrm>
            <a:off x="822960" y="3383280"/>
            <a:ext cx="2110664" cy="210312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Vedlikehold</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Innkjøp</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Seilaser</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Flåte</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Fiskeri: fangst, kvoter og rapportering</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Mannskap</a:t>
            </a:r>
            <a:endParaRPr lang="en-US" sz="1500" dirty="0"/>
          </a:p>
        </p:txBody>
      </p:sp>
      <p:sp>
        <p:nvSpPr>
          <p:cNvPr id="9" name="Kort"/>
          <p:cNvSpPr/>
          <p:nvPr/>
        </p:nvSpPr>
        <p:spPr>
          <a:xfrm>
            <a:off x="3390824" y="1828800"/>
            <a:ext cx="2567864" cy="3840480"/>
          </a:xfrm>
          <a:prstGeom prst="roundRect">
            <a:avLst>
              <a:gd name="adj" fmla="val 4273"/>
            </a:avLst>
          </a:prstGeom>
          <a:solidFill>
            <a:srgbClr val="EEF3F6"/>
          </a:solidFill>
          <a:ln/>
        </p:spPr>
      </p:sp>
      <p:sp>
        <p:nvSpPr>
          <p:cNvPr id="10" name="Ikon-sirkel"/>
          <p:cNvSpPr/>
          <p:nvPr/>
        </p:nvSpPr>
        <p:spPr>
          <a:xfrm>
            <a:off x="3665144" y="2103120"/>
            <a:ext cx="640080" cy="640080"/>
          </a:xfrm>
          <a:prstGeom prst="ellipse">
            <a:avLst/>
          </a:prstGeom>
          <a:solidFill>
            <a:srgbClr val="0E7C86"/>
          </a:solidFill>
          <a:ln/>
        </p:spPr>
      </p:sp>
      <p:pic>
        <p:nvPicPr>
          <p:cNvPr id="11" name="Ikon FaShieldHalved" descr="preencoded.png">    </p:cNvPr>
          <p:cNvPicPr>
            <a:picLocks noChangeAspect="1"/>
          </p:cNvPicPr>
          <p:nvPr/>
        </p:nvPicPr>
        <p:blipFill>
          <a:blip r:embed="rId2"/>
          <a:stretch>
            <a:fillRect/>
          </a:stretch>
        </p:blipFill>
        <p:spPr>
          <a:xfrm>
            <a:off x="3818763" y="2256739"/>
            <a:ext cx="332842" cy="332842"/>
          </a:xfrm>
          <a:prstGeom prst="rect">
            <a:avLst/>
          </a:prstGeom>
        </p:spPr>
      </p:pic>
      <p:sp>
        <p:nvSpPr>
          <p:cNvPr id="12" name="Text 8"/>
          <p:cNvSpPr txBox="1"/>
          <p:nvPr/>
        </p:nvSpPr>
        <p:spPr>
          <a:xfrm>
            <a:off x="3665144" y="2880360"/>
            <a:ext cx="2110664" cy="411480"/>
          </a:xfrm>
          <a:prstGeom prst="rect">
            <a:avLst/>
          </a:prstGeom>
          <a:noFill/>
          <a:ln/>
        </p:spPr>
        <p:txBody>
          <a:bodyPr wrap="square" lIns="0" tIns="0" rIns="0" bIns="0" rtlCol="0" anchor="t"/>
          <a:lstStyle/>
          <a:p>
            <a:pPr indent="0" marL="0">
              <a:buNone/>
            </a:pPr>
            <a:r>
              <a:rPr lang="en-US" sz="1800" b="1" dirty="0">
                <a:solidFill>
                  <a:srgbClr val="0B1F33"/>
                </a:solidFill>
                <a:latin typeface="Calibri" pitchFamily="34" charset="0"/>
                <a:ea typeface="Calibri" pitchFamily="34" charset="-122"/>
                <a:cs typeface="Calibri" pitchFamily="34" charset="-120"/>
              </a:rPr>
              <a:t>Sikkerhet og krav</a:t>
            </a:r>
            <a:endParaRPr lang="en-US" sz="1800" dirty="0"/>
          </a:p>
        </p:txBody>
      </p:sp>
      <p:sp>
        <p:nvSpPr>
          <p:cNvPr id="13" name="Text 9"/>
          <p:cNvSpPr txBox="1"/>
          <p:nvPr/>
        </p:nvSpPr>
        <p:spPr>
          <a:xfrm>
            <a:off x="3665144" y="3383280"/>
            <a:ext cx="2110664" cy="210312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Sikkerhet og kvalitet</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Utslipp</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Medisin og kjemikalier</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Dokumenter</a:t>
            </a:r>
            <a:endParaRPr lang="en-US" sz="1500" dirty="0"/>
          </a:p>
        </p:txBody>
      </p:sp>
      <p:sp>
        <p:nvSpPr>
          <p:cNvPr id="14" name="Kort"/>
          <p:cNvSpPr/>
          <p:nvPr/>
        </p:nvSpPr>
        <p:spPr>
          <a:xfrm>
            <a:off x="6233008" y="1828800"/>
            <a:ext cx="2567864" cy="3840480"/>
          </a:xfrm>
          <a:prstGeom prst="roundRect">
            <a:avLst>
              <a:gd name="adj" fmla="val 4273"/>
            </a:avLst>
          </a:prstGeom>
          <a:solidFill>
            <a:srgbClr val="EEF3F6"/>
          </a:solidFill>
          <a:ln/>
        </p:spPr>
      </p:sp>
      <p:sp>
        <p:nvSpPr>
          <p:cNvPr id="15" name="Ikon-sirkel"/>
          <p:cNvSpPr/>
          <p:nvPr/>
        </p:nvSpPr>
        <p:spPr>
          <a:xfrm>
            <a:off x="6507328" y="2103120"/>
            <a:ext cx="640080" cy="640080"/>
          </a:xfrm>
          <a:prstGeom prst="ellipse">
            <a:avLst/>
          </a:prstGeom>
          <a:solidFill>
            <a:srgbClr val="0E7C86"/>
          </a:solidFill>
          <a:ln/>
        </p:spPr>
      </p:sp>
      <p:pic>
        <p:nvPicPr>
          <p:cNvPr id="16" name="Ikon FaSackDollar" descr="preencoded.png">    </p:cNvPr>
          <p:cNvPicPr>
            <a:picLocks noChangeAspect="1"/>
          </p:cNvPicPr>
          <p:nvPr/>
        </p:nvPicPr>
        <p:blipFill>
          <a:blip r:embed="rId3"/>
          <a:stretch>
            <a:fillRect/>
          </a:stretch>
        </p:blipFill>
        <p:spPr>
          <a:xfrm>
            <a:off x="6660947" y="2256739"/>
            <a:ext cx="332842" cy="332842"/>
          </a:xfrm>
          <a:prstGeom prst="rect">
            <a:avLst/>
          </a:prstGeom>
        </p:spPr>
      </p:pic>
      <p:sp>
        <p:nvSpPr>
          <p:cNvPr id="17" name="Text 12"/>
          <p:cNvSpPr txBox="1"/>
          <p:nvPr/>
        </p:nvSpPr>
        <p:spPr>
          <a:xfrm>
            <a:off x="6507328" y="2880360"/>
            <a:ext cx="2110664" cy="411480"/>
          </a:xfrm>
          <a:prstGeom prst="rect">
            <a:avLst/>
          </a:prstGeom>
          <a:noFill/>
          <a:ln/>
        </p:spPr>
        <p:txBody>
          <a:bodyPr wrap="square" lIns="0" tIns="0" rIns="0" bIns="0" rtlCol="0" anchor="t"/>
          <a:lstStyle/>
          <a:p>
            <a:pPr indent="0" marL="0">
              <a:buNone/>
            </a:pPr>
            <a:r>
              <a:rPr lang="en-US" sz="1800" b="1" dirty="0">
                <a:solidFill>
                  <a:srgbClr val="0B1F33"/>
                </a:solidFill>
                <a:latin typeface="Calibri" pitchFamily="34" charset="0"/>
                <a:ea typeface="Calibri" pitchFamily="34" charset="-122"/>
                <a:cs typeface="Calibri" pitchFamily="34" charset="-120"/>
              </a:rPr>
              <a:t>Forretning</a:t>
            </a:r>
            <a:endParaRPr lang="en-US" sz="1800" dirty="0"/>
          </a:p>
        </p:txBody>
      </p:sp>
      <p:sp>
        <p:nvSpPr>
          <p:cNvPr id="18" name="Text 13"/>
          <p:cNvSpPr txBox="1"/>
          <p:nvPr/>
        </p:nvSpPr>
        <p:spPr>
          <a:xfrm>
            <a:off x="6507328" y="3383280"/>
            <a:ext cx="2110664" cy="210312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Salg</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Befraktning</a:t>
            </a:r>
            <a:endParaRPr lang="en-US" sz="1500" dirty="0"/>
          </a:p>
          <a:p>
            <a:pPr marL="177800" indent="-1778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Økonomi</a:t>
            </a:r>
            <a:endParaRPr lang="en-US" sz="1500" dirty="0"/>
          </a:p>
        </p:txBody>
      </p:sp>
      <p:sp>
        <p:nvSpPr>
          <p:cNvPr id="19" name="Kort"/>
          <p:cNvSpPr/>
          <p:nvPr/>
        </p:nvSpPr>
        <p:spPr>
          <a:xfrm>
            <a:off x="9075191" y="1828800"/>
            <a:ext cx="2567864" cy="3840480"/>
          </a:xfrm>
          <a:prstGeom prst="roundRect">
            <a:avLst>
              <a:gd name="adj" fmla="val 4273"/>
            </a:avLst>
          </a:prstGeom>
          <a:solidFill>
            <a:srgbClr val="0B1F33"/>
          </a:solidFill>
          <a:ln/>
        </p:spPr>
      </p:sp>
      <p:sp>
        <p:nvSpPr>
          <p:cNvPr id="20" name="Ikon-sirkel"/>
          <p:cNvSpPr/>
          <p:nvPr/>
        </p:nvSpPr>
        <p:spPr>
          <a:xfrm>
            <a:off x="9349511" y="2103120"/>
            <a:ext cx="640080" cy="640080"/>
          </a:xfrm>
          <a:prstGeom prst="ellipse">
            <a:avLst/>
          </a:prstGeom>
          <a:solidFill>
            <a:srgbClr val="0E7C86"/>
          </a:solidFill>
          <a:ln/>
        </p:spPr>
      </p:sp>
      <p:pic>
        <p:nvPicPr>
          <p:cNvPr id="21" name="Ikon FaBrain" descr="preencoded.png">    </p:cNvPr>
          <p:cNvPicPr>
            <a:picLocks noChangeAspect="1"/>
          </p:cNvPicPr>
          <p:nvPr/>
        </p:nvPicPr>
        <p:blipFill>
          <a:blip r:embed="rId4"/>
          <a:stretch>
            <a:fillRect/>
          </a:stretch>
        </p:blipFill>
        <p:spPr>
          <a:xfrm>
            <a:off x="9503131" y="2256739"/>
            <a:ext cx="332842" cy="332842"/>
          </a:xfrm>
          <a:prstGeom prst="rect">
            <a:avLst/>
          </a:prstGeom>
        </p:spPr>
      </p:pic>
      <p:sp>
        <p:nvSpPr>
          <p:cNvPr id="22" name="Text 16"/>
          <p:cNvSpPr txBox="1"/>
          <p:nvPr/>
        </p:nvSpPr>
        <p:spPr>
          <a:xfrm>
            <a:off x="9349511" y="2880360"/>
            <a:ext cx="2110664" cy="4114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KI-assistent</a:t>
            </a:r>
            <a:endParaRPr lang="en-US" sz="1800" dirty="0"/>
          </a:p>
        </p:txBody>
      </p:sp>
      <p:sp>
        <p:nvSpPr>
          <p:cNvPr id="23" name="Text 17"/>
          <p:cNvSpPr txBox="1"/>
          <p:nvPr/>
        </p:nvSpPr>
        <p:spPr>
          <a:xfrm>
            <a:off x="9349511" y="3383280"/>
            <a:ext cx="2110664" cy="210312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DCE6EE"/>
                </a:solidFill>
                <a:latin typeface="Calibri" pitchFamily="34" charset="0"/>
                <a:ea typeface="Calibri" pitchFamily="34" charset="-122"/>
                <a:cs typeface="Calibri" pitchFamily="34" charset="-120"/>
              </a:rPr>
              <a:t>Svarer på spørsmål på tvers av alle modulene</a:t>
            </a:r>
            <a:endParaRPr lang="en-US" sz="1500" dirty="0"/>
          </a:p>
          <a:p>
            <a:pPr marL="177800" indent="-177800">
              <a:spcAft>
                <a:spcPts val="500"/>
              </a:spcAft>
              <a:buSzPct val="100000"/>
              <a:buChar char="•"/>
            </a:pPr>
            <a:r>
              <a:rPr lang="en-US" sz="1500" dirty="0">
                <a:solidFill>
                  <a:srgbClr val="DCE6EE"/>
                </a:solidFill>
                <a:latin typeface="Calibri" pitchFamily="34" charset="0"/>
                <a:ea typeface="Calibri" pitchFamily="34" charset="-122"/>
                <a:cs typeface="Calibri" pitchFamily="34" charset="-120"/>
              </a:rPr>
              <a:t>Varsler kommende vedlikeholdsbehov</a:t>
            </a:r>
            <a:endParaRPr lang="en-US" sz="1500" dirty="0"/>
          </a:p>
          <a:p>
            <a:pPr marL="177800" indent="-177800">
              <a:spcAft>
                <a:spcPts val="500"/>
              </a:spcAft>
              <a:buSzPct val="100000"/>
              <a:buChar char="•"/>
            </a:pPr>
            <a:r>
              <a:rPr lang="en-US" sz="1500" dirty="0">
                <a:solidFill>
                  <a:srgbClr val="DCE6EE"/>
                </a:solidFill>
                <a:latin typeface="Calibri" pitchFamily="34" charset="0"/>
                <a:ea typeface="Calibri" pitchFamily="34" charset="-122"/>
                <a:cs typeface="Calibri" pitchFamily="34" charset="-120"/>
              </a:rPr>
              <a:t>Viser alltid kilden</a:t>
            </a:r>
            <a:endParaRPr lang="en-US" sz="1500" dirty="0"/>
          </a:p>
        </p:txBody>
      </p:sp>
      <p:sp>
        <p:nvSpPr>
          <p:cNvPr id="24" name="Text 18"/>
          <p:cNvSpPr txBox="1"/>
          <p:nvPr/>
        </p:nvSpPr>
        <p:spPr>
          <a:xfrm>
            <a:off x="548640" y="5989320"/>
            <a:ext cx="11094415" cy="320040"/>
          </a:xfrm>
          <a:prstGeom prst="rect">
            <a:avLst/>
          </a:prstGeom>
          <a:noFill/>
          <a:ln/>
        </p:spPr>
        <p:txBody>
          <a:bodyPr wrap="square" lIns="0" tIns="0" rIns="0" bIns="0" rtlCol="0" anchor="b"/>
          <a:lstStyle/>
          <a:p>
            <a:pPr indent="0" marL="0">
              <a:buNone/>
            </a:pPr>
            <a:r>
              <a:rPr lang="en-US" sz="1100" dirty="0">
                <a:solidFill>
                  <a:srgbClr val="5B6B7A"/>
                </a:solidFill>
              </a:rPr>
              <a:t>Start med vedlikehold på ett fartøy. Legg til moduler og fartøy når dere er klare.</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HVORFOR BYTTE?</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Hva dere får med Nautech som dere ikke har i dag</a:t>
            </a:r>
            <a:endParaRPr lang="en-US" sz="3000" dirty="0"/>
          </a:p>
        </p:txBody>
      </p:sp>
      <p:sp>
        <p:nvSpPr>
          <p:cNvPr id="4" name="Kort"/>
          <p:cNvSpPr/>
          <p:nvPr/>
        </p:nvSpPr>
        <p:spPr>
          <a:xfrm>
            <a:off x="548640" y="1828800"/>
            <a:ext cx="5410048" cy="3931920"/>
          </a:xfrm>
          <a:prstGeom prst="roundRect">
            <a:avLst>
              <a:gd name="adj" fmla="val 2791"/>
            </a:avLst>
          </a:prstGeom>
          <a:solidFill>
            <a:srgbClr val="EEF3F6"/>
          </a:solidFill>
          <a:ln/>
        </p:spPr>
      </p:sp>
      <p:sp>
        <p:nvSpPr>
          <p:cNvPr id="5" name="Kort"/>
          <p:cNvSpPr/>
          <p:nvPr/>
        </p:nvSpPr>
        <p:spPr>
          <a:xfrm>
            <a:off x="6233008" y="1828800"/>
            <a:ext cx="5410048" cy="3931920"/>
          </a:xfrm>
          <a:prstGeom prst="roundRect">
            <a:avLst>
              <a:gd name="adj" fmla="val 2791"/>
            </a:avLst>
          </a:prstGeom>
          <a:solidFill>
            <a:srgbClr val="0B1F33"/>
          </a:solidFill>
          <a:ln/>
        </p:spPr>
      </p:sp>
      <p:sp>
        <p:nvSpPr>
          <p:cNvPr id="6" name="Text 4"/>
          <p:cNvSpPr txBox="1"/>
          <p:nvPr/>
        </p:nvSpPr>
        <p:spPr>
          <a:xfrm>
            <a:off x="914400" y="2011680"/>
            <a:ext cx="4678528" cy="365760"/>
          </a:xfrm>
          <a:prstGeom prst="rect">
            <a:avLst/>
          </a:prstGeom>
          <a:noFill/>
          <a:ln/>
        </p:spPr>
        <p:txBody>
          <a:bodyPr wrap="square" lIns="0" tIns="0" rIns="0" bIns="0" rtlCol="0" anchor="t"/>
          <a:lstStyle/>
          <a:p>
            <a:pPr indent="0" marL="0">
              <a:buNone/>
            </a:pPr>
            <a:r>
              <a:rPr lang="en-US" sz="1300" b="1" spc="200" kern="0" dirty="0">
                <a:solidFill>
                  <a:srgbClr val="5B6B7A"/>
                </a:solidFill>
                <a:latin typeface="Calibri" pitchFamily="34" charset="0"/>
                <a:ea typeface="Calibri" pitchFamily="34" charset="-122"/>
                <a:cs typeface="Calibri" pitchFamily="34" charset="-120"/>
              </a:rPr>
              <a:t>TYPISK I DAG</a:t>
            </a:r>
            <a:endParaRPr lang="en-US" sz="1300" dirty="0"/>
          </a:p>
        </p:txBody>
      </p:sp>
      <p:sp>
        <p:nvSpPr>
          <p:cNvPr id="7" name="Text 5"/>
          <p:cNvSpPr txBox="1"/>
          <p:nvPr/>
        </p:nvSpPr>
        <p:spPr>
          <a:xfrm>
            <a:off x="6598768" y="2011680"/>
            <a:ext cx="4678528" cy="365760"/>
          </a:xfrm>
          <a:prstGeom prst="rect">
            <a:avLst/>
          </a:prstGeom>
          <a:noFill/>
          <a:ln/>
        </p:spPr>
        <p:txBody>
          <a:bodyPr wrap="square" lIns="0" tIns="0" rIns="0" bIns="0" rtlCol="0" anchor="t"/>
          <a:lstStyle/>
          <a:p>
            <a:pPr indent="0" marL="0">
              <a:buNone/>
            </a:pPr>
            <a:r>
              <a:rPr lang="en-US" sz="1300" b="1" spc="200" kern="0" dirty="0">
                <a:solidFill>
                  <a:srgbClr val="7FD1D6"/>
                </a:solidFill>
                <a:latin typeface="Calibri" pitchFamily="34" charset="0"/>
                <a:ea typeface="Calibri" pitchFamily="34" charset="-122"/>
                <a:cs typeface="Calibri" pitchFamily="34" charset="-120"/>
              </a:rPr>
              <a:t>MED NAUTECH</a:t>
            </a:r>
            <a:endParaRPr lang="en-US" sz="1300" dirty="0"/>
          </a:p>
        </p:txBody>
      </p:sp>
      <p:sp>
        <p:nvSpPr>
          <p:cNvPr id="8" name="Ikon-sirkel"/>
          <p:cNvSpPr/>
          <p:nvPr/>
        </p:nvSpPr>
        <p:spPr>
          <a:xfrm>
            <a:off x="914400" y="2560320"/>
            <a:ext cx="384048" cy="384048"/>
          </a:xfrm>
          <a:prstGeom prst="ellipse">
            <a:avLst/>
          </a:prstGeom>
          <a:solidFill>
            <a:srgbClr val="DDE7EE"/>
          </a:solidFill>
          <a:ln/>
        </p:spPr>
      </p:sp>
      <p:pic>
        <p:nvPicPr>
          <p:cNvPr id="9" name="Ikon FaXmark" descr="preencoded.png">    </p:cNvPr>
          <p:cNvPicPr>
            <a:picLocks noChangeAspect="1"/>
          </p:cNvPicPr>
          <p:nvPr/>
        </p:nvPicPr>
        <p:blipFill>
          <a:blip r:embed="rId1"/>
          <a:stretch>
            <a:fillRect/>
          </a:stretch>
        </p:blipFill>
        <p:spPr>
          <a:xfrm>
            <a:off x="1006572" y="2652492"/>
            <a:ext cx="199705" cy="199705"/>
          </a:xfrm>
          <a:prstGeom prst="rect">
            <a:avLst/>
          </a:prstGeom>
        </p:spPr>
      </p:pic>
      <p:sp>
        <p:nvSpPr>
          <p:cNvPr id="10" name="Text 7"/>
          <p:cNvSpPr txBox="1"/>
          <p:nvPr/>
        </p:nvSpPr>
        <p:spPr>
          <a:xfrm>
            <a:off x="1463040" y="2560320"/>
            <a:ext cx="4221328" cy="384048"/>
          </a:xfrm>
          <a:prstGeom prst="rect">
            <a:avLst/>
          </a:prstGeom>
          <a:noFill/>
          <a:ln/>
        </p:spPr>
        <p:txBody>
          <a:bodyPr wrap="square" lIns="0" tIns="0" rIns="0" bIns="0" rtlCol="0" anchor="ctr"/>
          <a:lstStyle/>
          <a:p>
            <a:pPr indent="0" marL="0">
              <a:buNone/>
            </a:pPr>
            <a:r>
              <a:rPr lang="en-US" sz="1600" dirty="0">
                <a:solidFill>
                  <a:srgbClr val="1B2A38"/>
                </a:solidFill>
                <a:latin typeface="Calibri" pitchFamily="34" charset="0"/>
                <a:ea typeface="Calibri" pitchFamily="34" charset="-122"/>
                <a:cs typeface="Calibri" pitchFamily="34" charset="-120"/>
              </a:rPr>
              <a:t>Flere systemer og regneark</a:t>
            </a:r>
            <a:endParaRPr lang="en-US" sz="1600" dirty="0"/>
          </a:p>
        </p:txBody>
      </p:sp>
      <p:sp>
        <p:nvSpPr>
          <p:cNvPr id="11" name="Ikon-sirkel"/>
          <p:cNvSpPr/>
          <p:nvPr/>
        </p:nvSpPr>
        <p:spPr>
          <a:xfrm>
            <a:off x="6598768" y="2560320"/>
            <a:ext cx="384048" cy="384048"/>
          </a:xfrm>
          <a:prstGeom prst="ellipse">
            <a:avLst/>
          </a:prstGeom>
          <a:solidFill>
            <a:srgbClr val="0E7C86"/>
          </a:solidFill>
          <a:ln/>
        </p:spPr>
      </p:sp>
      <p:pic>
        <p:nvPicPr>
          <p:cNvPr id="12" name="Ikon FaCheck" descr="preencoded.png">    </p:cNvPr>
          <p:cNvPicPr>
            <a:picLocks noChangeAspect="1"/>
          </p:cNvPicPr>
          <p:nvPr/>
        </p:nvPicPr>
        <p:blipFill>
          <a:blip r:embed="rId2"/>
          <a:stretch>
            <a:fillRect/>
          </a:stretch>
        </p:blipFill>
        <p:spPr>
          <a:xfrm>
            <a:off x="6690939" y="2652492"/>
            <a:ext cx="199705" cy="199705"/>
          </a:xfrm>
          <a:prstGeom prst="rect">
            <a:avLst/>
          </a:prstGeom>
        </p:spPr>
      </p:pic>
      <p:sp>
        <p:nvSpPr>
          <p:cNvPr id="13" name="Text 9"/>
          <p:cNvSpPr txBox="1"/>
          <p:nvPr/>
        </p:nvSpPr>
        <p:spPr>
          <a:xfrm>
            <a:off x="7147408" y="2560320"/>
            <a:ext cx="3947008"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Ett system for hele driften</a:t>
            </a:r>
            <a:endParaRPr lang="en-US" sz="1600" dirty="0"/>
          </a:p>
        </p:txBody>
      </p:sp>
      <p:sp>
        <p:nvSpPr>
          <p:cNvPr id="14" name="Ikon-sirkel"/>
          <p:cNvSpPr/>
          <p:nvPr/>
        </p:nvSpPr>
        <p:spPr>
          <a:xfrm>
            <a:off x="914400" y="3337560"/>
            <a:ext cx="384048" cy="384048"/>
          </a:xfrm>
          <a:prstGeom prst="ellipse">
            <a:avLst/>
          </a:prstGeom>
          <a:solidFill>
            <a:srgbClr val="DDE7EE"/>
          </a:solidFill>
          <a:ln/>
        </p:spPr>
      </p:sp>
      <p:pic>
        <p:nvPicPr>
          <p:cNvPr id="15" name="Ikon FaXmark" descr="preencoded.png">    </p:cNvPr>
          <p:cNvPicPr>
            <a:picLocks noChangeAspect="1"/>
          </p:cNvPicPr>
          <p:nvPr/>
        </p:nvPicPr>
        <p:blipFill>
          <a:blip r:embed="rId3"/>
          <a:stretch>
            <a:fillRect/>
          </a:stretch>
        </p:blipFill>
        <p:spPr>
          <a:xfrm>
            <a:off x="1006572" y="3429732"/>
            <a:ext cx="199705" cy="199705"/>
          </a:xfrm>
          <a:prstGeom prst="rect">
            <a:avLst/>
          </a:prstGeom>
        </p:spPr>
      </p:pic>
      <p:sp>
        <p:nvSpPr>
          <p:cNvPr id="16" name="Text 11"/>
          <p:cNvSpPr txBox="1"/>
          <p:nvPr/>
        </p:nvSpPr>
        <p:spPr>
          <a:xfrm>
            <a:off x="1463040" y="3337560"/>
            <a:ext cx="4221328" cy="384048"/>
          </a:xfrm>
          <a:prstGeom prst="rect">
            <a:avLst/>
          </a:prstGeom>
          <a:noFill/>
          <a:ln/>
        </p:spPr>
        <p:txBody>
          <a:bodyPr wrap="square" lIns="0" tIns="0" rIns="0" bIns="0" rtlCol="0" anchor="ctr"/>
          <a:lstStyle/>
          <a:p>
            <a:pPr indent="0" marL="0">
              <a:buNone/>
            </a:pPr>
            <a:r>
              <a:rPr lang="en-US" sz="1600" dirty="0">
                <a:solidFill>
                  <a:srgbClr val="1B2A38"/>
                </a:solidFill>
                <a:latin typeface="Calibri" pitchFamily="34" charset="0"/>
                <a:ea typeface="Calibri" pitchFamily="34" charset="-122"/>
                <a:cs typeface="Calibri" pitchFamily="34" charset="-120"/>
              </a:rPr>
              <a:t>Leting i historikk, e-post og permer</a:t>
            </a:r>
            <a:endParaRPr lang="en-US" sz="1600" dirty="0"/>
          </a:p>
        </p:txBody>
      </p:sp>
      <p:sp>
        <p:nvSpPr>
          <p:cNvPr id="17" name="Ikon-sirkel"/>
          <p:cNvSpPr/>
          <p:nvPr/>
        </p:nvSpPr>
        <p:spPr>
          <a:xfrm>
            <a:off x="6598768" y="3337560"/>
            <a:ext cx="384048" cy="384048"/>
          </a:xfrm>
          <a:prstGeom prst="ellipse">
            <a:avLst/>
          </a:prstGeom>
          <a:solidFill>
            <a:srgbClr val="0E7C86"/>
          </a:solidFill>
          <a:ln/>
        </p:spPr>
      </p:sp>
      <p:pic>
        <p:nvPicPr>
          <p:cNvPr id="18" name="Ikon FaCheck" descr="preencoded.png">    </p:cNvPr>
          <p:cNvPicPr>
            <a:picLocks noChangeAspect="1"/>
          </p:cNvPicPr>
          <p:nvPr/>
        </p:nvPicPr>
        <p:blipFill>
          <a:blip r:embed="rId4"/>
          <a:stretch>
            <a:fillRect/>
          </a:stretch>
        </p:blipFill>
        <p:spPr>
          <a:xfrm>
            <a:off x="6690939" y="3429732"/>
            <a:ext cx="199705" cy="199705"/>
          </a:xfrm>
          <a:prstGeom prst="rect">
            <a:avLst/>
          </a:prstGeom>
        </p:spPr>
      </p:pic>
      <p:sp>
        <p:nvSpPr>
          <p:cNvPr id="19" name="Text 13"/>
          <p:cNvSpPr txBox="1"/>
          <p:nvPr/>
        </p:nvSpPr>
        <p:spPr>
          <a:xfrm>
            <a:off x="7147408" y="3337560"/>
            <a:ext cx="3947008"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Spør og få svar med kilde</a:t>
            </a:r>
            <a:endParaRPr lang="en-US" sz="1600" dirty="0"/>
          </a:p>
        </p:txBody>
      </p:sp>
      <p:sp>
        <p:nvSpPr>
          <p:cNvPr id="20" name="Ikon-sirkel"/>
          <p:cNvSpPr/>
          <p:nvPr/>
        </p:nvSpPr>
        <p:spPr>
          <a:xfrm>
            <a:off x="914400" y="4114800"/>
            <a:ext cx="384048" cy="384048"/>
          </a:xfrm>
          <a:prstGeom prst="ellipse">
            <a:avLst/>
          </a:prstGeom>
          <a:solidFill>
            <a:srgbClr val="DDE7EE"/>
          </a:solidFill>
          <a:ln/>
        </p:spPr>
      </p:sp>
      <p:pic>
        <p:nvPicPr>
          <p:cNvPr id="21" name="Ikon FaXmark" descr="preencoded.png">    </p:cNvPr>
          <p:cNvPicPr>
            <a:picLocks noChangeAspect="1"/>
          </p:cNvPicPr>
          <p:nvPr/>
        </p:nvPicPr>
        <p:blipFill>
          <a:blip r:embed="rId5"/>
          <a:stretch>
            <a:fillRect/>
          </a:stretch>
        </p:blipFill>
        <p:spPr>
          <a:xfrm>
            <a:off x="1006572" y="4206972"/>
            <a:ext cx="199705" cy="199705"/>
          </a:xfrm>
          <a:prstGeom prst="rect">
            <a:avLst/>
          </a:prstGeom>
        </p:spPr>
      </p:pic>
      <p:sp>
        <p:nvSpPr>
          <p:cNvPr id="22" name="Text 15"/>
          <p:cNvSpPr txBox="1"/>
          <p:nvPr/>
        </p:nvSpPr>
        <p:spPr>
          <a:xfrm>
            <a:off x="1463040" y="4114800"/>
            <a:ext cx="4221328" cy="384048"/>
          </a:xfrm>
          <a:prstGeom prst="rect">
            <a:avLst/>
          </a:prstGeom>
          <a:noFill/>
          <a:ln/>
        </p:spPr>
        <p:txBody>
          <a:bodyPr wrap="square" lIns="0" tIns="0" rIns="0" bIns="0" rtlCol="0" anchor="ctr"/>
          <a:lstStyle/>
          <a:p>
            <a:pPr indent="0" marL="0">
              <a:buNone/>
            </a:pPr>
            <a:r>
              <a:rPr lang="en-US" sz="1600" dirty="0">
                <a:solidFill>
                  <a:srgbClr val="1B2A38"/>
                </a:solidFill>
                <a:latin typeface="Calibri" pitchFamily="34" charset="0"/>
                <a:ea typeface="Calibri" pitchFamily="34" charset="-122"/>
                <a:cs typeface="Calibri" pitchFamily="34" charset="-120"/>
              </a:rPr>
              <a:t>Status kommer frem på telefon og e-post</a:t>
            </a:r>
            <a:endParaRPr lang="en-US" sz="1600" dirty="0"/>
          </a:p>
        </p:txBody>
      </p:sp>
      <p:sp>
        <p:nvSpPr>
          <p:cNvPr id="23" name="Ikon-sirkel"/>
          <p:cNvSpPr/>
          <p:nvPr/>
        </p:nvSpPr>
        <p:spPr>
          <a:xfrm>
            <a:off x="6598768" y="4114800"/>
            <a:ext cx="384048" cy="384048"/>
          </a:xfrm>
          <a:prstGeom prst="ellipse">
            <a:avLst/>
          </a:prstGeom>
          <a:solidFill>
            <a:srgbClr val="0E7C86"/>
          </a:solidFill>
          <a:ln/>
        </p:spPr>
      </p:sp>
      <p:pic>
        <p:nvPicPr>
          <p:cNvPr id="24" name="Ikon FaCheck" descr="preencoded.png">    </p:cNvPr>
          <p:cNvPicPr>
            <a:picLocks noChangeAspect="1"/>
          </p:cNvPicPr>
          <p:nvPr/>
        </p:nvPicPr>
        <p:blipFill>
          <a:blip r:embed="rId6"/>
          <a:stretch>
            <a:fillRect/>
          </a:stretch>
        </p:blipFill>
        <p:spPr>
          <a:xfrm>
            <a:off x="6690939" y="4206972"/>
            <a:ext cx="199705" cy="199705"/>
          </a:xfrm>
          <a:prstGeom prst="rect">
            <a:avLst/>
          </a:prstGeom>
        </p:spPr>
      </p:pic>
      <p:sp>
        <p:nvSpPr>
          <p:cNvPr id="25" name="Text 17"/>
          <p:cNvSpPr txBox="1"/>
          <p:nvPr/>
        </p:nvSpPr>
        <p:spPr>
          <a:xfrm>
            <a:off x="7147408" y="4114800"/>
            <a:ext cx="3947008"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Samme oversikt om bord og på land</a:t>
            </a:r>
            <a:endParaRPr lang="en-US" sz="1600" dirty="0"/>
          </a:p>
        </p:txBody>
      </p:sp>
      <p:sp>
        <p:nvSpPr>
          <p:cNvPr id="26" name="Ikon-sirkel"/>
          <p:cNvSpPr/>
          <p:nvPr/>
        </p:nvSpPr>
        <p:spPr>
          <a:xfrm>
            <a:off x="914400" y="4892040"/>
            <a:ext cx="384048" cy="384048"/>
          </a:xfrm>
          <a:prstGeom prst="ellipse">
            <a:avLst/>
          </a:prstGeom>
          <a:solidFill>
            <a:srgbClr val="DDE7EE"/>
          </a:solidFill>
          <a:ln/>
        </p:spPr>
      </p:sp>
      <p:pic>
        <p:nvPicPr>
          <p:cNvPr id="27" name="Ikon FaXmark" descr="preencoded.png">    </p:cNvPr>
          <p:cNvPicPr>
            <a:picLocks noChangeAspect="1"/>
          </p:cNvPicPr>
          <p:nvPr/>
        </p:nvPicPr>
        <p:blipFill>
          <a:blip r:embed="rId7"/>
          <a:stretch>
            <a:fillRect/>
          </a:stretch>
        </p:blipFill>
        <p:spPr>
          <a:xfrm>
            <a:off x="1006572" y="4984212"/>
            <a:ext cx="199705" cy="199705"/>
          </a:xfrm>
          <a:prstGeom prst="rect">
            <a:avLst/>
          </a:prstGeom>
        </p:spPr>
      </p:pic>
      <p:sp>
        <p:nvSpPr>
          <p:cNvPr id="28" name="Text 19"/>
          <p:cNvSpPr txBox="1"/>
          <p:nvPr/>
        </p:nvSpPr>
        <p:spPr>
          <a:xfrm>
            <a:off x="1463040" y="4892040"/>
            <a:ext cx="4221328" cy="384048"/>
          </a:xfrm>
          <a:prstGeom prst="rect">
            <a:avLst/>
          </a:prstGeom>
          <a:noFill/>
          <a:ln/>
        </p:spPr>
        <p:txBody>
          <a:bodyPr wrap="square" lIns="0" tIns="0" rIns="0" bIns="0" rtlCol="0" anchor="ctr"/>
          <a:lstStyle/>
          <a:p>
            <a:pPr indent="0" marL="0">
              <a:buNone/>
            </a:pPr>
            <a:r>
              <a:rPr lang="en-US" sz="1600" dirty="0">
                <a:solidFill>
                  <a:srgbClr val="1B2A38"/>
                </a:solidFill>
                <a:latin typeface="Calibri" pitchFamily="34" charset="0"/>
                <a:ea typeface="Calibri" pitchFamily="34" charset="-122"/>
                <a:cs typeface="Calibri" pitchFamily="34" charset="-120"/>
              </a:rPr>
              <a:t>Generelle systemer for mange typer skip</a:t>
            </a:r>
            <a:endParaRPr lang="en-US" sz="1600" dirty="0"/>
          </a:p>
        </p:txBody>
      </p:sp>
      <p:sp>
        <p:nvSpPr>
          <p:cNvPr id="29" name="Ikon-sirkel"/>
          <p:cNvSpPr/>
          <p:nvPr/>
        </p:nvSpPr>
        <p:spPr>
          <a:xfrm>
            <a:off x="6598768" y="4892040"/>
            <a:ext cx="384048" cy="384048"/>
          </a:xfrm>
          <a:prstGeom prst="ellipse">
            <a:avLst/>
          </a:prstGeom>
          <a:solidFill>
            <a:srgbClr val="0E7C86"/>
          </a:solidFill>
          <a:ln/>
        </p:spPr>
      </p:sp>
      <p:pic>
        <p:nvPicPr>
          <p:cNvPr id="30" name="Ikon FaCheck" descr="preencoded.png">    </p:cNvPr>
          <p:cNvPicPr>
            <a:picLocks noChangeAspect="1"/>
          </p:cNvPicPr>
          <p:nvPr/>
        </p:nvPicPr>
        <p:blipFill>
          <a:blip r:embed="rId8"/>
          <a:stretch>
            <a:fillRect/>
          </a:stretch>
        </p:blipFill>
        <p:spPr>
          <a:xfrm>
            <a:off x="6690939" y="4984212"/>
            <a:ext cx="199705" cy="199705"/>
          </a:xfrm>
          <a:prstGeom prst="rect">
            <a:avLst/>
          </a:prstGeom>
        </p:spPr>
      </p:pic>
      <p:sp>
        <p:nvSpPr>
          <p:cNvPr id="31" name="Text 21"/>
          <p:cNvSpPr txBox="1"/>
          <p:nvPr/>
        </p:nvSpPr>
        <p:spPr>
          <a:xfrm>
            <a:off x="7147408" y="4892040"/>
            <a:ext cx="3947008"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Laget for fiskefartøy, av folk fra fiskeflåten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SLIK BYTTER DERE</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I drift på én til to uker – ett fartøy om gangen</a:t>
            </a:r>
            <a:endParaRPr lang="en-US" sz="3000" dirty="0"/>
          </a:p>
        </p:txBody>
      </p:sp>
      <p:sp>
        <p:nvSpPr>
          <p:cNvPr id="4" name="Shape 2"/>
          <p:cNvSpPr/>
          <p:nvPr/>
        </p:nvSpPr>
        <p:spPr>
          <a:xfrm>
            <a:off x="548640" y="1828800"/>
            <a:ext cx="566928" cy="566928"/>
          </a:xfrm>
          <a:prstGeom prst="ellipse">
            <a:avLst/>
          </a:prstGeom>
          <a:solidFill>
            <a:srgbClr val="0E7C86"/>
          </a:solidFill>
          <a:ln/>
        </p:spPr>
      </p:sp>
      <p:sp>
        <p:nvSpPr>
          <p:cNvPr id="5" name="Text 3"/>
          <p:cNvSpPr txBox="1"/>
          <p:nvPr/>
        </p:nvSpPr>
        <p:spPr>
          <a:xfrm>
            <a:off x="548640" y="18288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6" name="Text 4"/>
          <p:cNvSpPr txBox="1"/>
          <p:nvPr/>
        </p:nvSpPr>
        <p:spPr>
          <a:xfrm>
            <a:off x="1371600" y="1783080"/>
            <a:ext cx="5760720" cy="91440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Kartlegging</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Vi går gjennom dagens system, utstyrsliste og rutiner sammen med dere.</a:t>
            </a:r>
            <a:endParaRPr lang="en-US" sz="1700" dirty="0"/>
          </a:p>
        </p:txBody>
      </p:sp>
      <p:sp>
        <p:nvSpPr>
          <p:cNvPr id="7" name="Shape 5"/>
          <p:cNvSpPr/>
          <p:nvPr/>
        </p:nvSpPr>
        <p:spPr>
          <a:xfrm>
            <a:off x="548640" y="2816352"/>
            <a:ext cx="566928" cy="566928"/>
          </a:xfrm>
          <a:prstGeom prst="ellipse">
            <a:avLst/>
          </a:prstGeom>
          <a:solidFill>
            <a:srgbClr val="0E7C86"/>
          </a:solidFill>
          <a:ln/>
        </p:spPr>
      </p:sp>
      <p:sp>
        <p:nvSpPr>
          <p:cNvPr id="8" name="Text 6"/>
          <p:cNvSpPr txBox="1"/>
          <p:nvPr/>
        </p:nvSpPr>
        <p:spPr>
          <a:xfrm>
            <a:off x="548640" y="28163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9" name="Text 7"/>
          <p:cNvSpPr txBox="1"/>
          <p:nvPr/>
        </p:nvSpPr>
        <p:spPr>
          <a:xfrm>
            <a:off x="1371600" y="2770632"/>
            <a:ext cx="5760720" cy="91440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Overføring av data</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Dere flytter dataene selv med våre importmaler, eller vi gjør det for dere mot et engangsgebyr.</a:t>
            </a:r>
            <a:endParaRPr lang="en-US" sz="1700" dirty="0"/>
          </a:p>
        </p:txBody>
      </p:sp>
      <p:sp>
        <p:nvSpPr>
          <p:cNvPr id="10" name="Shape 8"/>
          <p:cNvSpPr/>
          <p:nvPr/>
        </p:nvSpPr>
        <p:spPr>
          <a:xfrm>
            <a:off x="548640" y="3803904"/>
            <a:ext cx="566928" cy="566928"/>
          </a:xfrm>
          <a:prstGeom prst="ellipse">
            <a:avLst/>
          </a:prstGeom>
          <a:solidFill>
            <a:srgbClr val="0E7C86"/>
          </a:solidFill>
          <a:ln/>
        </p:spPr>
      </p:sp>
      <p:sp>
        <p:nvSpPr>
          <p:cNvPr id="11" name="Text 9"/>
          <p:cNvSpPr txBox="1"/>
          <p:nvPr/>
        </p:nvSpPr>
        <p:spPr>
          <a:xfrm>
            <a:off x="548640" y="3803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2" name="Text 10"/>
          <p:cNvSpPr txBox="1"/>
          <p:nvPr/>
        </p:nvSpPr>
        <p:spPr>
          <a:xfrm>
            <a:off x="1371600" y="3758184"/>
            <a:ext cx="5760720" cy="91440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Pilot på ett fartøy</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Seks uker med mål dere har satt på forhånd. Dagens system kan gå parallelt.</a:t>
            </a:r>
            <a:endParaRPr lang="en-US" sz="1700" dirty="0"/>
          </a:p>
        </p:txBody>
      </p:sp>
      <p:sp>
        <p:nvSpPr>
          <p:cNvPr id="13" name="Shape 11"/>
          <p:cNvSpPr/>
          <p:nvPr/>
        </p:nvSpPr>
        <p:spPr>
          <a:xfrm>
            <a:off x="548640" y="4791456"/>
            <a:ext cx="566928" cy="566928"/>
          </a:xfrm>
          <a:prstGeom prst="ellipse">
            <a:avLst/>
          </a:prstGeom>
          <a:solidFill>
            <a:srgbClr val="0E7C86"/>
          </a:solidFill>
          <a:ln/>
        </p:spPr>
      </p:sp>
      <p:sp>
        <p:nvSpPr>
          <p:cNvPr id="14" name="Text 12"/>
          <p:cNvSpPr txBox="1"/>
          <p:nvPr/>
        </p:nvSpPr>
        <p:spPr>
          <a:xfrm>
            <a:off x="548640" y="479145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5" name="Text 13"/>
          <p:cNvSpPr txBox="1"/>
          <p:nvPr/>
        </p:nvSpPr>
        <p:spPr>
          <a:xfrm>
            <a:off x="1371600" y="4745736"/>
            <a:ext cx="5760720" cy="91440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Resten av flåten</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Dere bestemmer om og når flere fartøy skal over.</a:t>
            </a:r>
            <a:endParaRPr lang="en-US" sz="1700" dirty="0"/>
          </a:p>
        </p:txBody>
      </p:sp>
      <p:sp>
        <p:nvSpPr>
          <p:cNvPr id="16" name="Kort"/>
          <p:cNvSpPr/>
          <p:nvPr/>
        </p:nvSpPr>
        <p:spPr>
          <a:xfrm>
            <a:off x="7543800" y="1828800"/>
            <a:ext cx="4099255" cy="3931920"/>
          </a:xfrm>
          <a:prstGeom prst="roundRect">
            <a:avLst>
              <a:gd name="adj" fmla="val 2791"/>
            </a:avLst>
          </a:prstGeom>
          <a:solidFill>
            <a:srgbClr val="0B1F33"/>
          </a:solidFill>
          <a:ln/>
        </p:spPr>
      </p:sp>
      <p:sp>
        <p:nvSpPr>
          <p:cNvPr id="17" name="Ikon-sirkel"/>
          <p:cNvSpPr/>
          <p:nvPr/>
        </p:nvSpPr>
        <p:spPr>
          <a:xfrm>
            <a:off x="7863840" y="2103120"/>
            <a:ext cx="640080" cy="640080"/>
          </a:xfrm>
          <a:prstGeom prst="ellipse">
            <a:avLst/>
          </a:prstGeom>
          <a:solidFill>
            <a:srgbClr val="0E7C86"/>
          </a:solidFill>
          <a:ln/>
        </p:spPr>
      </p:sp>
      <p:pic>
        <p:nvPicPr>
          <p:cNvPr id="18" name="Ikon FaLock" descr="preencoded.png">    </p:cNvPr>
          <p:cNvPicPr>
            <a:picLocks noChangeAspect="1"/>
          </p:cNvPicPr>
          <p:nvPr/>
        </p:nvPicPr>
        <p:blipFill>
          <a:blip r:embed="rId1"/>
          <a:stretch>
            <a:fillRect/>
          </a:stretch>
        </p:blipFill>
        <p:spPr>
          <a:xfrm>
            <a:off x="8017459" y="2256739"/>
            <a:ext cx="332842" cy="332842"/>
          </a:xfrm>
          <a:prstGeom prst="rect">
            <a:avLst/>
          </a:prstGeom>
        </p:spPr>
      </p:pic>
      <p:sp>
        <p:nvSpPr>
          <p:cNvPr id="19" name="Text 16"/>
          <p:cNvSpPr txBox="1"/>
          <p:nvPr/>
        </p:nvSpPr>
        <p:spPr>
          <a:xfrm>
            <a:off x="8686800" y="2103120"/>
            <a:ext cx="2727655"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Dataene deres</a:t>
            </a:r>
            <a:endParaRPr lang="en-US" sz="2000" dirty="0"/>
          </a:p>
        </p:txBody>
      </p:sp>
      <p:sp>
        <p:nvSpPr>
          <p:cNvPr id="20" name="Text 17"/>
          <p:cNvSpPr txBox="1"/>
          <p:nvPr/>
        </p:nvSpPr>
        <p:spPr>
          <a:xfrm>
            <a:off x="7863840" y="3017520"/>
            <a:ext cx="3459175"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DCE6EE"/>
                </a:solidFill>
                <a:latin typeface="Calibri" pitchFamily="34" charset="0"/>
                <a:ea typeface="Calibri" pitchFamily="34" charset="-122"/>
                <a:cs typeface="Calibri" pitchFamily="34" charset="-120"/>
              </a:rPr>
              <a:t>Lagres på server i Norge</a:t>
            </a:r>
            <a:endParaRPr lang="en-US" sz="1500" dirty="0"/>
          </a:p>
          <a:p>
            <a:pPr marL="342900" indent="-342900">
              <a:spcAft>
                <a:spcPts val="800"/>
              </a:spcAft>
              <a:buSzPct val="100000"/>
              <a:buChar char="•"/>
            </a:pPr>
            <a:r>
              <a:rPr lang="en-US" sz="1500" dirty="0">
                <a:solidFill>
                  <a:srgbClr val="DCE6EE"/>
                </a:solidFill>
                <a:latin typeface="Calibri" pitchFamily="34" charset="0"/>
                <a:ea typeface="Calibri" pitchFamily="34" charset="-122"/>
                <a:cs typeface="Calibri" pitchFamily="34" charset="-120"/>
              </a:rPr>
              <a:t>Brukes aldri til å trene KI-modeller</a:t>
            </a:r>
            <a:endParaRPr lang="en-US" sz="1500" dirty="0"/>
          </a:p>
          <a:p>
            <a:pPr marL="342900" indent="-342900">
              <a:spcAft>
                <a:spcPts val="800"/>
              </a:spcAft>
              <a:buSzPct val="100000"/>
              <a:buChar char="•"/>
            </a:pPr>
            <a:r>
              <a:rPr lang="en-US" sz="1500" dirty="0">
                <a:solidFill>
                  <a:srgbClr val="DCE6EE"/>
                </a:solidFill>
                <a:latin typeface="Calibri" pitchFamily="34" charset="0"/>
                <a:ea typeface="Calibri" pitchFamily="34" charset="-122"/>
                <a:cs typeface="Calibri" pitchFamily="34" charset="-120"/>
              </a:rPr>
              <a:t>Dere eier dataene</a:t>
            </a:r>
            <a:endParaRPr lang="en-US" sz="1500" dirty="0"/>
          </a:p>
          <a:p>
            <a:pPr marL="342900" indent="-342900">
              <a:spcAft>
                <a:spcPts val="800"/>
              </a:spcAft>
              <a:buSzPct val="100000"/>
              <a:buChar char="•"/>
            </a:pPr>
            <a:r>
              <a:rPr lang="en-US" sz="1500" dirty="0">
                <a:solidFill>
                  <a:srgbClr val="DCE6EE"/>
                </a:solidFill>
                <a:latin typeface="Calibri" pitchFamily="34" charset="0"/>
                <a:ea typeface="Calibri" pitchFamily="34" charset="-122"/>
                <a:cs typeface="Calibri" pitchFamily="34" charset="-120"/>
              </a:rPr>
              <a:t>Kan eksporteres når som helst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PRIS</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Betal for modulene dere bruker</a:t>
            </a:r>
            <a:endParaRPr lang="en-US" sz="3000" dirty="0"/>
          </a:p>
        </p:txBody>
      </p:sp>
      <p:sp>
        <p:nvSpPr>
          <p:cNvPr id="4" name="Text 2"/>
          <p:cNvSpPr txBox="1"/>
          <p:nvPr/>
        </p:nvSpPr>
        <p:spPr>
          <a:xfrm>
            <a:off x="548640" y="1828800"/>
            <a:ext cx="5486400" cy="1645920"/>
          </a:xfrm>
          <a:prstGeom prst="rect">
            <a:avLst/>
          </a:prstGeom>
          <a:noFill/>
          <a:ln/>
        </p:spPr>
        <p:txBody>
          <a:bodyPr wrap="square" lIns="0" tIns="0" rIns="0" bIns="0" rtlCol="0" anchor="t"/>
          <a:lstStyle/>
          <a:p>
            <a:pPr indent="0" marL="0">
              <a:buNone/>
            </a:pPr>
            <a:r>
              <a:rPr lang="en-US" sz="6000" b="1" dirty="0">
                <a:solidFill>
                  <a:srgbClr val="0E7C86"/>
                </a:solidFill>
                <a:latin typeface="Arial" pitchFamily="34" charset="0"/>
                <a:ea typeface="Arial" pitchFamily="34" charset="-122"/>
                <a:cs typeface="Arial" pitchFamily="34" charset="-120"/>
              </a:rPr>
              <a:t>14 000 kr</a:t>
            </a:r>
            <a:endParaRPr lang="en-US" sz="6000" dirty="0"/>
          </a:p>
          <a:p>
            <a:pPr indent="0" marL="0">
              <a:buNone/>
            </a:pPr>
            <a:r>
              <a:rPr lang="en-US" sz="2000" dirty="0">
                <a:solidFill>
                  <a:srgbClr val="0B1F33"/>
                </a:solidFill>
                <a:latin typeface="Calibri" pitchFamily="34" charset="0"/>
                <a:ea typeface="Calibri" pitchFamily="34" charset="-122"/>
                <a:cs typeface="Calibri" pitchFamily="34" charset="-120"/>
              </a:rPr>
              <a:t>per fartøy per måned for alle 14 moduler</a:t>
            </a:r>
            <a:endParaRPr lang="en-US" sz="6000" dirty="0"/>
          </a:p>
          <a:p>
            <a:pPr indent="0" marL="0">
              <a:buNone/>
            </a:pPr>
            <a:r>
              <a:rPr lang="en-US" sz="1600" dirty="0">
                <a:solidFill>
                  <a:srgbClr val="5B6B7A"/>
                </a:solidFill>
                <a:latin typeface="Calibri" pitchFamily="34" charset="0"/>
                <a:ea typeface="Calibri" pitchFamily="34" charset="-122"/>
                <a:cs typeface="Calibri" pitchFamily="34" charset="-120"/>
              </a:rPr>
              <a:t>Eller 1 000 kr per modul. Alle priser ekskl. mva.</a:t>
            </a:r>
            <a:endParaRPr lang="en-US" sz="6000" dirty="0"/>
          </a:p>
        </p:txBody>
      </p:sp>
      <p:sp>
        <p:nvSpPr>
          <p:cNvPr id="5" name="Text 3"/>
          <p:cNvSpPr txBox="1"/>
          <p:nvPr/>
        </p:nvSpPr>
        <p:spPr>
          <a:xfrm>
            <a:off x="548640" y="3703320"/>
            <a:ext cx="5486400" cy="1463040"/>
          </a:xfrm>
          <a:prstGeom prst="rect">
            <a:avLst/>
          </a:prstGeom>
          <a:noFill/>
          <a:ln/>
        </p:spPr>
        <p:txBody>
          <a:bodyPr wrap="square" lIns="0" tIns="0" rIns="0" bIns="0" rtlCol="0" anchor="t"/>
          <a:lstStyle/>
          <a:p>
            <a:pPr indent="0" marL="0">
              <a:buNone/>
            </a:pPr>
            <a:r>
              <a:rPr lang="en-US" sz="1600" b="1" dirty="0">
                <a:solidFill>
                  <a:srgbClr val="0B1F33"/>
                </a:solidFill>
                <a:latin typeface="Calibri" pitchFamily="34" charset="0"/>
                <a:ea typeface="Calibri" pitchFamily="34" charset="-122"/>
                <a:cs typeface="Calibri" pitchFamily="34" charset="-120"/>
              </a:rPr>
              <a:t>Til sammenligning: </a:t>
            </a:r>
            <a:pPr indent="0" marL="0">
              <a:buNone/>
            </a:pPr>
            <a:r>
              <a:rPr lang="en-US" sz="1600" dirty="0">
                <a:solidFill>
                  <a:srgbClr val="1B2A38"/>
                </a:solidFill>
                <a:latin typeface="Calibri" pitchFamily="34" charset="0"/>
                <a:ea typeface="Calibri" pitchFamily="34" charset="-122"/>
                <a:cs typeface="Calibri" pitchFamily="34" charset="-120"/>
              </a:rPr>
              <a:t>Hva koster ett døgn ved kai fordi en feil ikke ble fanget opp i tide? For mange fartøy er én unngått driftsstans nok til å dekke abonnementet i lang tid.</a:t>
            </a:r>
            <a:endParaRPr lang="en-US" sz="1600" dirty="0"/>
          </a:p>
        </p:txBody>
      </p:sp>
      <p:sp>
        <p:nvSpPr>
          <p:cNvPr id="6" name="Kort"/>
          <p:cNvSpPr/>
          <p:nvPr/>
        </p:nvSpPr>
        <p:spPr>
          <a:xfrm>
            <a:off x="6583680" y="1828800"/>
            <a:ext cx="5059375" cy="3931920"/>
          </a:xfrm>
          <a:prstGeom prst="roundRect">
            <a:avLst>
              <a:gd name="adj" fmla="val 2791"/>
            </a:avLst>
          </a:prstGeom>
          <a:solidFill>
            <a:srgbClr val="EEF3F6"/>
          </a:solidFill>
          <a:ln/>
        </p:spPr>
      </p:sp>
      <p:sp>
        <p:nvSpPr>
          <p:cNvPr id="7" name="Ikon-sirkel"/>
          <p:cNvSpPr/>
          <p:nvPr/>
        </p:nvSpPr>
        <p:spPr>
          <a:xfrm>
            <a:off x="6903720" y="2103120"/>
            <a:ext cx="640080" cy="640080"/>
          </a:xfrm>
          <a:prstGeom prst="ellipse">
            <a:avLst/>
          </a:prstGeom>
          <a:solidFill>
            <a:srgbClr val="0E7C86"/>
          </a:solidFill>
          <a:ln/>
        </p:spPr>
      </p:sp>
      <p:pic>
        <p:nvPicPr>
          <p:cNvPr id="8" name="Ikon FaClipboardCheck" descr="preencoded.png">    </p:cNvPr>
          <p:cNvPicPr>
            <a:picLocks noChangeAspect="1"/>
          </p:cNvPicPr>
          <p:nvPr/>
        </p:nvPicPr>
        <p:blipFill>
          <a:blip r:embed="rId1"/>
          <a:stretch>
            <a:fillRect/>
          </a:stretch>
        </p:blipFill>
        <p:spPr>
          <a:xfrm>
            <a:off x="7057339" y="2256739"/>
            <a:ext cx="332842" cy="332842"/>
          </a:xfrm>
          <a:prstGeom prst="rect">
            <a:avLst/>
          </a:prstGeom>
        </p:spPr>
      </p:pic>
      <p:sp>
        <p:nvSpPr>
          <p:cNvPr id="9" name="Text 6"/>
          <p:cNvSpPr txBox="1"/>
          <p:nvPr/>
        </p:nvSpPr>
        <p:spPr>
          <a:xfrm>
            <a:off x="7726680" y="2103120"/>
            <a:ext cx="3687775" cy="640080"/>
          </a:xfrm>
          <a:prstGeom prst="rect">
            <a:avLst/>
          </a:prstGeom>
          <a:noFill/>
          <a:ln/>
        </p:spPr>
        <p:txBody>
          <a:bodyPr wrap="square" lIns="0" tIns="0" rIns="0" bIns="0" rtlCol="0" anchor="ctr"/>
          <a:lstStyle/>
          <a:p>
            <a:pPr indent="0" marL="0">
              <a:buNone/>
            </a:pPr>
            <a:r>
              <a:rPr lang="en-US" sz="2000" b="1" dirty="0">
                <a:solidFill>
                  <a:srgbClr val="0B1F33"/>
                </a:solidFill>
                <a:latin typeface="Calibri" pitchFamily="34" charset="0"/>
                <a:ea typeface="Calibri" pitchFamily="34" charset="-122"/>
                <a:cs typeface="Calibri" pitchFamily="34" charset="-120"/>
              </a:rPr>
              <a:t>Inkludert i prisen</a:t>
            </a:r>
            <a:endParaRPr lang="en-US" sz="2000" dirty="0"/>
          </a:p>
        </p:txBody>
      </p:sp>
      <p:sp>
        <p:nvSpPr>
          <p:cNvPr id="10" name="Text 7"/>
          <p:cNvSpPr txBox="1"/>
          <p:nvPr/>
        </p:nvSpPr>
        <p:spPr>
          <a:xfrm>
            <a:off x="6903720" y="3017520"/>
            <a:ext cx="4419295" cy="2651760"/>
          </a:xfrm>
          <a:prstGeom prst="rect">
            <a:avLst/>
          </a:prstGeom>
          <a:noFill/>
          <a:ln/>
        </p:spPr>
        <p:txBody>
          <a:bodyPr wrap="square" lIns="0" tIns="0" rIns="0" bIns="0" rtlCol="0" anchor="t"/>
          <a:lstStyle/>
          <a:p>
            <a:pPr indent="0" marL="0">
              <a:spcAft>
                <a:spcPts val="800"/>
              </a:spcAft>
              <a:buNone/>
            </a:pPr>
            <a:r>
              <a:rPr lang="en-US" sz="1500" b="1" dirty="0">
                <a:solidFill>
                  <a:srgbClr val="1B2A38"/>
                </a:solidFill>
                <a:latin typeface="Calibri" pitchFamily="34" charset="0"/>
                <a:ea typeface="Calibri" pitchFamily="34" charset="-122"/>
                <a:cs typeface="Calibri" pitchFamily="34" charset="-120"/>
              </a:rPr>
              <a:t>KI-assistent: </a:t>
            </a:r>
            <a:pPr indent="0" marL="0">
              <a:spcAft>
                <a:spcPts val="800"/>
              </a:spcAft>
              <a:buNone/>
            </a:pPr>
            <a:r>
              <a:rPr lang="en-US" sz="1500" dirty="0">
                <a:solidFill>
                  <a:srgbClr val="1B2A38"/>
                </a:solidFill>
                <a:latin typeface="Calibri" pitchFamily="34" charset="0"/>
                <a:ea typeface="Calibri" pitchFamily="34" charset="-122"/>
                <a:cs typeface="Calibri" pitchFamily="34" charset="-120"/>
              </a:rPr>
              <a:t>inkludert i full pakke</a:t>
            </a:r>
            <a:endParaRPr lang="en-US" sz="1500" dirty="0"/>
          </a:p>
          <a:p>
            <a:pPr indent="0" marL="0">
              <a:spcAft>
                <a:spcPts val="800"/>
              </a:spcAft>
              <a:buNone/>
            </a:pPr>
            <a:r>
              <a:rPr lang="en-US" sz="1500" b="1" dirty="0">
                <a:solidFill>
                  <a:srgbClr val="1B2A38"/>
                </a:solidFill>
                <a:latin typeface="Calibri" pitchFamily="34" charset="0"/>
                <a:ea typeface="Calibri" pitchFamily="34" charset="-122"/>
                <a:cs typeface="Calibri" pitchFamily="34" charset="-120"/>
              </a:rPr>
              <a:t>Support: </a:t>
            </a:r>
            <a:pPr indent="0" marL="0">
              <a:spcAft>
                <a:spcPts val="800"/>
              </a:spcAft>
              <a:buNone/>
            </a:pPr>
            <a:r>
              <a:rPr lang="en-US" sz="1500" dirty="0">
                <a:solidFill>
                  <a:srgbClr val="1B2A38"/>
                </a:solidFill>
                <a:latin typeface="Calibri" pitchFamily="34" charset="0"/>
                <a:ea typeface="Calibri" pitchFamily="34" charset="-122"/>
                <a:cs typeface="Calibri" pitchFamily="34" charset="-120"/>
              </a:rPr>
              <a:t>full support uten ekstra kostnad</a:t>
            </a:r>
            <a:endParaRPr lang="en-US" sz="1500" dirty="0"/>
          </a:p>
          <a:p>
            <a:pPr indent="0" marL="0">
              <a:spcAft>
                <a:spcPts val="800"/>
              </a:spcAft>
              <a:buNone/>
            </a:pPr>
            <a:r>
              <a:rPr lang="en-US" sz="1500" b="1" dirty="0">
                <a:solidFill>
                  <a:srgbClr val="1B2A38"/>
                </a:solidFill>
                <a:latin typeface="Calibri" pitchFamily="34" charset="0"/>
                <a:ea typeface="Calibri" pitchFamily="34" charset="-122"/>
                <a:cs typeface="Calibri" pitchFamily="34" charset="-120"/>
              </a:rPr>
              <a:t>Oppdateringer: </a:t>
            </a:r>
            <a:pPr indent="0" marL="0">
              <a:spcAft>
                <a:spcPts val="800"/>
              </a:spcAft>
              <a:buNone/>
            </a:pPr>
            <a:r>
              <a:rPr lang="en-US" sz="1500" dirty="0">
                <a:solidFill>
                  <a:srgbClr val="1B2A38"/>
                </a:solidFill>
                <a:latin typeface="Calibri" pitchFamily="34" charset="0"/>
                <a:ea typeface="Calibri" pitchFamily="34" charset="-122"/>
                <a:cs typeface="Calibri" pitchFamily="34" charset="-120"/>
              </a:rPr>
              <a:t>alle nye versjoner</a:t>
            </a:r>
            <a:endParaRPr lang="en-US" sz="1500" dirty="0"/>
          </a:p>
          <a:p>
            <a:pPr indent="0" marL="0">
              <a:spcAft>
                <a:spcPts val="800"/>
              </a:spcAft>
              <a:buNone/>
            </a:pPr>
            <a:r>
              <a:rPr lang="en-US" sz="1500" b="1" dirty="0">
                <a:solidFill>
                  <a:srgbClr val="1B2A38"/>
                </a:solidFill>
                <a:latin typeface="Calibri" pitchFamily="34" charset="0"/>
                <a:ea typeface="Calibri" pitchFamily="34" charset="-122"/>
                <a:cs typeface="Calibri" pitchFamily="34" charset="-120"/>
              </a:rPr>
              <a:t>Dataoverføring: </a:t>
            </a:r>
            <a:pPr indent="0" marL="0">
              <a:spcAft>
                <a:spcPts val="800"/>
              </a:spcAft>
              <a:buNone/>
            </a:pPr>
            <a:r>
              <a:rPr lang="en-US" sz="1500" dirty="0">
                <a:solidFill>
                  <a:srgbClr val="1B2A38"/>
                </a:solidFill>
                <a:latin typeface="Calibri" pitchFamily="34" charset="0"/>
                <a:ea typeface="Calibri" pitchFamily="34" charset="-122"/>
                <a:cs typeface="Calibri" pitchFamily="34" charset="-120"/>
              </a:rPr>
              <a:t>gjør det selv, eller vi gjør det mot et engangsgebyr</a:t>
            </a:r>
            <a:endParaRPr lang="en-US" sz="1500" dirty="0"/>
          </a:p>
          <a:p>
            <a:pPr indent="0" marL="0">
              <a:spcAft>
                <a:spcPts val="800"/>
              </a:spcAft>
              <a:buNone/>
            </a:pPr>
            <a:r>
              <a:rPr lang="en-US" sz="1500" b="1" dirty="0">
                <a:solidFill>
                  <a:srgbClr val="1B2A38"/>
                </a:solidFill>
                <a:latin typeface="Calibri" pitchFamily="34" charset="0"/>
                <a:ea typeface="Calibri" pitchFamily="34" charset="-122"/>
                <a:cs typeface="Calibri" pitchFamily="34" charset="-120"/>
              </a:rPr>
              <a:t>Pilot: </a:t>
            </a:r>
            <a:pPr indent="0" marL="0">
              <a:spcAft>
                <a:spcPts val="800"/>
              </a:spcAft>
              <a:buNone/>
            </a:pPr>
            <a:r>
              <a:rPr lang="en-US" sz="1500" dirty="0">
                <a:solidFill>
                  <a:srgbClr val="1B2A38"/>
                </a:solidFill>
                <a:latin typeface="Calibri" pitchFamily="34" charset="0"/>
                <a:ea typeface="Calibri" pitchFamily="34" charset="-122"/>
                <a:cs typeface="Calibri" pitchFamily="34" charset="-120"/>
              </a:rPr>
              <a:t>seks uker på ett fartøy til halv pris. Fortsetter dere, trekkes beløpet fra første års avtale.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0E7C86"/>
                </a:solidFill>
                <a:latin typeface="Calibri" pitchFamily="34" charset="0"/>
                <a:ea typeface="Calibri" pitchFamily="34" charset="-122"/>
                <a:cs typeface="Calibri" pitchFamily="34" charset="-120"/>
              </a:rPr>
              <a:t>PRAKTISKE SPØRSMÅL</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0B1F33"/>
                </a:solidFill>
                <a:latin typeface="Arial" pitchFamily="34" charset="0"/>
                <a:ea typeface="Arial" pitchFamily="34" charset="-122"/>
                <a:cs typeface="Arial" pitchFamily="34" charset="-120"/>
              </a:rPr>
              <a:t>Det dere sannsynligvis lurer på</a:t>
            </a:r>
            <a:endParaRPr lang="en-US" sz="3000" dirty="0"/>
          </a:p>
        </p:txBody>
      </p:sp>
      <p:sp>
        <p:nvSpPr>
          <p:cNvPr id="4" name="Kort"/>
          <p:cNvSpPr/>
          <p:nvPr/>
        </p:nvSpPr>
        <p:spPr>
          <a:xfrm>
            <a:off x="548640" y="1828800"/>
            <a:ext cx="5410048" cy="1143000"/>
          </a:xfrm>
          <a:prstGeom prst="roundRect">
            <a:avLst>
              <a:gd name="adj" fmla="val 9600"/>
            </a:avLst>
          </a:prstGeom>
          <a:solidFill>
            <a:srgbClr val="EEF3F6"/>
          </a:solidFill>
          <a:ln/>
        </p:spPr>
      </p:sp>
      <p:sp>
        <p:nvSpPr>
          <p:cNvPr id="5" name="Text 3"/>
          <p:cNvSpPr txBox="1"/>
          <p:nvPr/>
        </p:nvSpPr>
        <p:spPr>
          <a:xfrm>
            <a:off x="868680" y="2011680"/>
            <a:ext cx="4769968" cy="86868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Må vi ta i bruk alt på en gang?</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Nei. Start med vedlikehold på ett fartøy.</a:t>
            </a:r>
            <a:endParaRPr lang="en-US" sz="1700" dirty="0"/>
          </a:p>
        </p:txBody>
      </p:sp>
      <p:sp>
        <p:nvSpPr>
          <p:cNvPr id="6" name="Kort"/>
          <p:cNvSpPr/>
          <p:nvPr/>
        </p:nvSpPr>
        <p:spPr>
          <a:xfrm>
            <a:off x="6233008" y="1828800"/>
            <a:ext cx="5410048" cy="1143000"/>
          </a:xfrm>
          <a:prstGeom prst="roundRect">
            <a:avLst>
              <a:gd name="adj" fmla="val 9600"/>
            </a:avLst>
          </a:prstGeom>
          <a:solidFill>
            <a:srgbClr val="EEF3F6"/>
          </a:solidFill>
          <a:ln/>
        </p:spPr>
      </p:sp>
      <p:sp>
        <p:nvSpPr>
          <p:cNvPr id="7" name="Text 5"/>
          <p:cNvSpPr txBox="1"/>
          <p:nvPr/>
        </p:nvSpPr>
        <p:spPr>
          <a:xfrm>
            <a:off x="6553048" y="2011680"/>
            <a:ext cx="4769968" cy="86868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Hvor lagres dataene våre?</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På server i Norge. De brukes ikke til å trene KI-modeller.</a:t>
            </a:r>
            <a:endParaRPr lang="en-US" sz="1700" dirty="0"/>
          </a:p>
        </p:txBody>
      </p:sp>
      <p:sp>
        <p:nvSpPr>
          <p:cNvPr id="8" name="Kort"/>
          <p:cNvSpPr/>
          <p:nvPr/>
        </p:nvSpPr>
        <p:spPr>
          <a:xfrm>
            <a:off x="548640" y="3154680"/>
            <a:ext cx="5410048" cy="1143000"/>
          </a:xfrm>
          <a:prstGeom prst="roundRect">
            <a:avLst>
              <a:gd name="adj" fmla="val 9600"/>
            </a:avLst>
          </a:prstGeom>
          <a:solidFill>
            <a:srgbClr val="EEF3F6"/>
          </a:solidFill>
          <a:ln/>
        </p:spPr>
      </p:sp>
      <p:sp>
        <p:nvSpPr>
          <p:cNvPr id="9" name="Text 7"/>
          <p:cNvSpPr txBox="1"/>
          <p:nvPr/>
        </p:nvSpPr>
        <p:spPr>
          <a:xfrm>
            <a:off x="868680" y="3337560"/>
            <a:ext cx="4769968" cy="86868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Trenger vi nett om bord?</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Ja. Med satellittnett som Starlink er dekningen god også til sjøs.</a:t>
            </a:r>
            <a:endParaRPr lang="en-US" sz="1700" dirty="0"/>
          </a:p>
        </p:txBody>
      </p:sp>
      <p:sp>
        <p:nvSpPr>
          <p:cNvPr id="10" name="Kort"/>
          <p:cNvSpPr/>
          <p:nvPr/>
        </p:nvSpPr>
        <p:spPr>
          <a:xfrm>
            <a:off x="6233008" y="3154680"/>
            <a:ext cx="5410048" cy="1143000"/>
          </a:xfrm>
          <a:prstGeom prst="roundRect">
            <a:avLst>
              <a:gd name="adj" fmla="val 9600"/>
            </a:avLst>
          </a:prstGeom>
          <a:solidFill>
            <a:srgbClr val="EEF3F6"/>
          </a:solidFill>
          <a:ln/>
        </p:spPr>
      </p:sp>
      <p:sp>
        <p:nvSpPr>
          <p:cNvPr id="11" name="Text 9"/>
          <p:cNvSpPr txBox="1"/>
          <p:nvPr/>
        </p:nvSpPr>
        <p:spPr>
          <a:xfrm>
            <a:off x="6553048" y="3337560"/>
            <a:ext cx="4769968" cy="86868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Er Nautech DNV-godkjent?</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Nautech er bygget etter DNVs krav. Godkjenning søkes når produktet er ferdig utviklet.</a:t>
            </a:r>
            <a:endParaRPr lang="en-US" sz="1700" dirty="0"/>
          </a:p>
        </p:txBody>
      </p:sp>
      <p:sp>
        <p:nvSpPr>
          <p:cNvPr id="12" name="Kort"/>
          <p:cNvSpPr/>
          <p:nvPr/>
        </p:nvSpPr>
        <p:spPr>
          <a:xfrm>
            <a:off x="548640" y="4480560"/>
            <a:ext cx="5410048" cy="1143000"/>
          </a:xfrm>
          <a:prstGeom prst="roundRect">
            <a:avLst>
              <a:gd name="adj" fmla="val 9600"/>
            </a:avLst>
          </a:prstGeom>
          <a:solidFill>
            <a:srgbClr val="EEF3F6"/>
          </a:solidFill>
          <a:ln/>
        </p:spPr>
      </p:sp>
      <p:sp>
        <p:nvSpPr>
          <p:cNvPr id="13" name="Text 11"/>
          <p:cNvSpPr txBox="1"/>
          <p:nvPr/>
        </p:nvSpPr>
        <p:spPr>
          <a:xfrm>
            <a:off x="868680" y="4663440"/>
            <a:ext cx="4769968" cy="86868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Hvem hjelper oss når noe ikke virker?</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Vi gjør det. Full support er inkludert i prisen.</a:t>
            </a:r>
            <a:endParaRPr lang="en-US" sz="1700" dirty="0"/>
          </a:p>
        </p:txBody>
      </p:sp>
      <p:sp>
        <p:nvSpPr>
          <p:cNvPr id="14" name="Kort"/>
          <p:cNvSpPr/>
          <p:nvPr/>
        </p:nvSpPr>
        <p:spPr>
          <a:xfrm>
            <a:off x="6233008" y="4480560"/>
            <a:ext cx="5410048" cy="1143000"/>
          </a:xfrm>
          <a:prstGeom prst="roundRect">
            <a:avLst>
              <a:gd name="adj" fmla="val 9600"/>
            </a:avLst>
          </a:prstGeom>
          <a:solidFill>
            <a:srgbClr val="EEF3F6"/>
          </a:solidFill>
          <a:ln/>
        </p:spPr>
      </p:sp>
      <p:sp>
        <p:nvSpPr>
          <p:cNvPr id="15" name="Text 13"/>
          <p:cNvSpPr txBox="1"/>
          <p:nvPr/>
        </p:nvSpPr>
        <p:spPr>
          <a:xfrm>
            <a:off x="6553048" y="4663440"/>
            <a:ext cx="4769968" cy="868680"/>
          </a:xfrm>
          <a:prstGeom prst="rect">
            <a:avLst/>
          </a:prstGeom>
          <a:noFill/>
          <a:ln/>
        </p:spPr>
        <p:txBody>
          <a:bodyPr wrap="square" lIns="0" tIns="0" rIns="0" bIns="0" rtlCol="0" anchor="t"/>
          <a:lstStyle/>
          <a:p>
            <a:pPr indent="0" marL="0">
              <a:buNone/>
            </a:pPr>
            <a:r>
              <a:rPr lang="en-US" sz="1700" b="1" dirty="0">
                <a:solidFill>
                  <a:srgbClr val="0B1F33"/>
                </a:solidFill>
                <a:latin typeface="Calibri" pitchFamily="34" charset="0"/>
                <a:ea typeface="Calibri" pitchFamily="34" charset="-122"/>
                <a:cs typeface="Calibri" pitchFamily="34" charset="-120"/>
              </a:rPr>
              <a:t>Hvor lang tid tar det å komme i gang?</a:t>
            </a:r>
            <a:endParaRPr lang="en-US" sz="1700" dirty="0"/>
          </a:p>
          <a:p>
            <a:pPr indent="0" marL="0">
              <a:buNone/>
            </a:pPr>
            <a:r>
              <a:rPr lang="en-US" sz="1500" dirty="0">
                <a:solidFill>
                  <a:srgbClr val="1B2A38"/>
                </a:solidFill>
                <a:latin typeface="Calibri" pitchFamily="34" charset="0"/>
                <a:ea typeface="Calibri" pitchFamily="34" charset="-122"/>
                <a:cs typeface="Calibri" pitchFamily="34" charset="-120"/>
              </a:rPr>
              <a:t>Én til to uker, avhengig av hvor mye data som skal flyttes.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lstStyle/>
          <a:p>
            <a:pPr indent="0" marL="0">
              <a:buNone/>
            </a:pPr>
            <a:r>
              <a:rPr lang="en-US" sz="1200" b="1" spc="200" kern="0" dirty="0">
                <a:solidFill>
                  <a:srgbClr val="7FD1D6"/>
                </a:solidFill>
                <a:latin typeface="Calibri" pitchFamily="34" charset="0"/>
                <a:ea typeface="Calibri" pitchFamily="34" charset="-122"/>
                <a:cs typeface="Calibri" pitchFamily="34" charset="-120"/>
              </a:rPr>
              <a:t>NESTE STEG</a:t>
            </a:r>
            <a:endParaRPr lang="en-US" sz="1200" dirty="0"/>
          </a:p>
        </p:txBody>
      </p:sp>
      <p:sp>
        <p:nvSpPr>
          <p:cNvPr id="3" name="Text 1"/>
          <p:cNvSpPr/>
          <p:nvPr>
            <p:ph idx="102" type="title" hasCustomPrompt="1"/>
          </p:nvPr>
        </p:nvSpPr>
        <p:spPr>
          <a:xfrm>
            <a:off x="548640" y="658368"/>
            <a:ext cx="11094415" cy="105156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Vis oss én oppgave dere vil gjøre enklere – så viser vi Nautech</a:t>
            </a:r>
            <a:endParaRPr lang="en-US" sz="3000" dirty="0"/>
          </a:p>
        </p:txBody>
      </p:sp>
      <p:sp>
        <p:nvSpPr>
          <p:cNvPr id="4" name="Kort"/>
          <p:cNvSpPr/>
          <p:nvPr/>
        </p:nvSpPr>
        <p:spPr>
          <a:xfrm>
            <a:off x="548640" y="1920240"/>
            <a:ext cx="3515258" cy="2743200"/>
          </a:xfrm>
          <a:prstGeom prst="roundRect">
            <a:avLst>
              <a:gd name="adj" fmla="val 4000"/>
            </a:avLst>
          </a:prstGeom>
          <a:solidFill>
            <a:srgbClr val="16324D"/>
          </a:solidFill>
          <a:ln/>
        </p:spPr>
      </p:sp>
      <p:sp>
        <p:nvSpPr>
          <p:cNvPr id="5" name="Ikon-sirkel"/>
          <p:cNvSpPr/>
          <p:nvPr/>
        </p:nvSpPr>
        <p:spPr>
          <a:xfrm>
            <a:off x="868680" y="2194560"/>
            <a:ext cx="685800" cy="685800"/>
          </a:xfrm>
          <a:prstGeom prst="ellipse">
            <a:avLst/>
          </a:prstGeom>
          <a:solidFill>
            <a:srgbClr val="0E7C86"/>
          </a:solidFill>
          <a:ln/>
        </p:spPr>
      </p:sp>
      <p:pic>
        <p:nvPicPr>
          <p:cNvPr id="6" name="Ikon FaComments" descr="preencoded.png">    </p:cNvPr>
          <p:cNvPicPr>
            <a:picLocks noChangeAspect="1"/>
          </p:cNvPicPr>
          <p:nvPr/>
        </p:nvPicPr>
        <p:blipFill>
          <a:blip r:embed="rId1"/>
          <a:stretch>
            <a:fillRect/>
          </a:stretch>
        </p:blipFill>
        <p:spPr>
          <a:xfrm>
            <a:off x="1033272" y="2359152"/>
            <a:ext cx="356616" cy="356616"/>
          </a:xfrm>
          <a:prstGeom prst="rect">
            <a:avLst/>
          </a:prstGeom>
        </p:spPr>
      </p:pic>
      <p:sp>
        <p:nvSpPr>
          <p:cNvPr id="7" name="Text 4"/>
          <p:cNvSpPr txBox="1"/>
          <p:nvPr/>
        </p:nvSpPr>
        <p:spPr>
          <a:xfrm>
            <a:off x="868680" y="3063240"/>
            <a:ext cx="2875178" cy="146304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1. Samtale</a:t>
            </a:r>
            <a:endParaRPr lang="en-US" sz="2000" dirty="0"/>
          </a:p>
          <a:p>
            <a:pPr indent="0" marL="0">
              <a:buNone/>
            </a:pPr>
            <a:r>
              <a:rPr lang="en-US" sz="600" dirty="0">
                <a:solidFill>
                  <a:srgbClr val="1B2A38"/>
                </a:solidFill>
                <a:latin typeface="Calibri" pitchFamily="34" charset="0"/>
                <a:ea typeface="Calibri" pitchFamily="34" charset="-122"/>
                <a:cs typeface="Calibri" pitchFamily="34" charset="-120"/>
              </a:rPr>
              <a:t> </a:t>
            </a:r>
            <a:endParaRPr lang="en-US" sz="2000" dirty="0"/>
          </a:p>
          <a:p>
            <a:pPr indent="0" marL="0">
              <a:buNone/>
            </a:pPr>
            <a:r>
              <a:rPr lang="en-US" sz="1500" dirty="0">
                <a:solidFill>
                  <a:srgbClr val="DCE6EE"/>
                </a:solidFill>
                <a:latin typeface="Calibri" pitchFamily="34" charset="0"/>
                <a:ea typeface="Calibri" pitchFamily="34" charset="-122"/>
                <a:cs typeface="Calibri" pitchFamily="34" charset="-120"/>
              </a:rPr>
              <a:t>Fortell oss hva som tar tid i dag, og hvilket system dere bruker.</a:t>
            </a:r>
            <a:endParaRPr lang="en-US" sz="2000" dirty="0"/>
          </a:p>
        </p:txBody>
      </p:sp>
      <p:sp>
        <p:nvSpPr>
          <p:cNvPr id="8" name="Kort"/>
          <p:cNvSpPr/>
          <p:nvPr/>
        </p:nvSpPr>
        <p:spPr>
          <a:xfrm>
            <a:off x="4338218" y="1920240"/>
            <a:ext cx="3515258" cy="2743200"/>
          </a:xfrm>
          <a:prstGeom prst="roundRect">
            <a:avLst>
              <a:gd name="adj" fmla="val 4000"/>
            </a:avLst>
          </a:prstGeom>
          <a:solidFill>
            <a:srgbClr val="16324D"/>
          </a:solidFill>
          <a:ln/>
        </p:spPr>
      </p:sp>
      <p:sp>
        <p:nvSpPr>
          <p:cNvPr id="9" name="Ikon-sirkel"/>
          <p:cNvSpPr/>
          <p:nvPr/>
        </p:nvSpPr>
        <p:spPr>
          <a:xfrm>
            <a:off x="4658258" y="2194560"/>
            <a:ext cx="685800" cy="685800"/>
          </a:xfrm>
          <a:prstGeom prst="ellipse">
            <a:avLst/>
          </a:prstGeom>
          <a:solidFill>
            <a:srgbClr val="0E7C86"/>
          </a:solidFill>
          <a:ln/>
        </p:spPr>
      </p:sp>
      <p:pic>
        <p:nvPicPr>
          <p:cNvPr id="10" name="Ikon FaDisplay" descr="preencoded.png">    </p:cNvPr>
          <p:cNvPicPr>
            <a:picLocks noChangeAspect="1"/>
          </p:cNvPicPr>
          <p:nvPr/>
        </p:nvPicPr>
        <p:blipFill>
          <a:blip r:embed="rId2"/>
          <a:stretch>
            <a:fillRect/>
          </a:stretch>
        </p:blipFill>
        <p:spPr>
          <a:xfrm>
            <a:off x="4822850" y="2359152"/>
            <a:ext cx="356616" cy="356616"/>
          </a:xfrm>
          <a:prstGeom prst="rect">
            <a:avLst/>
          </a:prstGeom>
        </p:spPr>
      </p:pic>
      <p:sp>
        <p:nvSpPr>
          <p:cNvPr id="11" name="Text 7"/>
          <p:cNvSpPr txBox="1"/>
          <p:nvPr/>
        </p:nvSpPr>
        <p:spPr>
          <a:xfrm>
            <a:off x="4658258" y="3063240"/>
            <a:ext cx="2875178" cy="146304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2. Demo</a:t>
            </a:r>
            <a:endParaRPr lang="en-US" sz="2000" dirty="0"/>
          </a:p>
          <a:p>
            <a:pPr indent="0" marL="0">
              <a:buNone/>
            </a:pPr>
            <a:r>
              <a:rPr lang="en-US" sz="600" dirty="0">
                <a:solidFill>
                  <a:srgbClr val="1B2A38"/>
                </a:solidFill>
                <a:latin typeface="Calibri" pitchFamily="34" charset="0"/>
                <a:ea typeface="Calibri" pitchFamily="34" charset="-122"/>
                <a:cs typeface="Calibri" pitchFamily="34" charset="-120"/>
              </a:rPr>
              <a:t> </a:t>
            </a:r>
            <a:endParaRPr lang="en-US" sz="2000" dirty="0"/>
          </a:p>
          <a:p>
            <a:pPr indent="0" marL="0">
              <a:buNone/>
            </a:pPr>
            <a:r>
              <a:rPr lang="en-US" sz="1500" dirty="0">
                <a:solidFill>
                  <a:srgbClr val="DCE6EE"/>
                </a:solidFill>
                <a:latin typeface="Calibri" pitchFamily="34" charset="0"/>
                <a:ea typeface="Calibri" pitchFamily="34" charset="-122"/>
                <a:cs typeface="Calibri" pitchFamily="34" charset="-120"/>
              </a:rPr>
              <a:t>Vi viser Nautech med eksempler fra deres hverdag.</a:t>
            </a:r>
            <a:endParaRPr lang="en-US" sz="2000" dirty="0"/>
          </a:p>
        </p:txBody>
      </p:sp>
      <p:sp>
        <p:nvSpPr>
          <p:cNvPr id="12" name="Kort"/>
          <p:cNvSpPr/>
          <p:nvPr/>
        </p:nvSpPr>
        <p:spPr>
          <a:xfrm>
            <a:off x="8127797" y="1920240"/>
            <a:ext cx="3515258" cy="2743200"/>
          </a:xfrm>
          <a:prstGeom prst="roundRect">
            <a:avLst>
              <a:gd name="adj" fmla="val 4000"/>
            </a:avLst>
          </a:prstGeom>
          <a:solidFill>
            <a:srgbClr val="16324D"/>
          </a:solidFill>
          <a:ln/>
        </p:spPr>
      </p:sp>
      <p:sp>
        <p:nvSpPr>
          <p:cNvPr id="13" name="Ikon-sirkel"/>
          <p:cNvSpPr/>
          <p:nvPr/>
        </p:nvSpPr>
        <p:spPr>
          <a:xfrm>
            <a:off x="8447837" y="2194560"/>
            <a:ext cx="685800" cy="685800"/>
          </a:xfrm>
          <a:prstGeom prst="ellipse">
            <a:avLst/>
          </a:prstGeom>
          <a:solidFill>
            <a:srgbClr val="0E7C86"/>
          </a:solidFill>
          <a:ln/>
        </p:spPr>
      </p:sp>
      <p:pic>
        <p:nvPicPr>
          <p:cNvPr id="14" name="Ikon FaCalendarCheck" descr="preencoded.png">    </p:cNvPr>
          <p:cNvPicPr>
            <a:picLocks noChangeAspect="1"/>
          </p:cNvPicPr>
          <p:nvPr/>
        </p:nvPicPr>
        <p:blipFill>
          <a:blip r:embed="rId3"/>
          <a:stretch>
            <a:fillRect/>
          </a:stretch>
        </p:blipFill>
        <p:spPr>
          <a:xfrm>
            <a:off x="8612429" y="2359152"/>
            <a:ext cx="356616" cy="356616"/>
          </a:xfrm>
          <a:prstGeom prst="rect">
            <a:avLst/>
          </a:prstGeom>
        </p:spPr>
      </p:pic>
      <p:sp>
        <p:nvSpPr>
          <p:cNvPr id="15" name="Text 10"/>
          <p:cNvSpPr txBox="1"/>
          <p:nvPr/>
        </p:nvSpPr>
        <p:spPr>
          <a:xfrm>
            <a:off x="8447837" y="3063240"/>
            <a:ext cx="2875178" cy="146304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3. Pilot</a:t>
            </a:r>
            <a:endParaRPr lang="en-US" sz="2000" dirty="0"/>
          </a:p>
          <a:p>
            <a:pPr indent="0" marL="0">
              <a:buNone/>
            </a:pPr>
            <a:r>
              <a:rPr lang="en-US" sz="600" dirty="0">
                <a:solidFill>
                  <a:srgbClr val="1B2A38"/>
                </a:solidFill>
                <a:latin typeface="Calibri" pitchFamily="34" charset="0"/>
                <a:ea typeface="Calibri" pitchFamily="34" charset="-122"/>
                <a:cs typeface="Calibri" pitchFamily="34" charset="-120"/>
              </a:rPr>
              <a:t> </a:t>
            </a:r>
            <a:endParaRPr lang="en-US" sz="2000" dirty="0"/>
          </a:p>
          <a:p>
            <a:pPr indent="0" marL="0">
              <a:buNone/>
            </a:pPr>
            <a:r>
              <a:rPr lang="en-US" sz="1500" dirty="0">
                <a:solidFill>
                  <a:srgbClr val="DCE6EE"/>
                </a:solidFill>
                <a:latin typeface="Calibri" pitchFamily="34" charset="0"/>
                <a:ea typeface="Calibri" pitchFamily="34" charset="-122"/>
                <a:cs typeface="Calibri" pitchFamily="34" charset="-120"/>
              </a:rPr>
              <a:t>Seks uker på ett fartøy til halv pris, med mål vi avtaler sammen.</a:t>
            </a:r>
            <a:endParaRPr lang="en-US" sz="2000" dirty="0"/>
          </a:p>
        </p:txBody>
      </p:sp>
      <p:sp>
        <p:nvSpPr>
          <p:cNvPr id="16" name="Text 11"/>
          <p:cNvSpPr txBox="1"/>
          <p:nvPr/>
        </p:nvSpPr>
        <p:spPr>
          <a:xfrm>
            <a:off x="548640" y="4937760"/>
            <a:ext cx="11094415" cy="1188720"/>
          </a:xfrm>
          <a:prstGeom prst="rect">
            <a:avLst/>
          </a:prstGeom>
          <a:noFill/>
          <a:ln/>
        </p:spPr>
        <p:txBody>
          <a:bodyPr wrap="square" lIns="0" tIns="0" rIns="0" bIns="0" rtlCol="0" anchor="t"/>
          <a:lstStyle/>
          <a:p>
            <a:pPr indent="0" marL="0">
              <a:buNone/>
            </a:pPr>
            <a:r>
              <a:rPr lang="en-US" sz="1800" b="1" dirty="0">
                <a:solidFill>
                  <a:srgbClr val="7FD1D6"/>
                </a:solidFill>
                <a:latin typeface="Calibri" pitchFamily="34" charset="0"/>
                <a:ea typeface="Calibri" pitchFamily="34" charset="-122"/>
                <a:cs typeface="Calibri" pitchFamily="34" charset="-120"/>
              </a:rPr>
              <a:t>Ta kontakt</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Arne Kopperstad  </a:t>
            </a:r>
            <a:pPr indent="0" marL="0">
              <a:buNone/>
            </a:pPr>
            <a:r>
              <a:rPr lang="en-US" sz="1500" dirty="0">
                <a:solidFill>
                  <a:srgbClr val="DCE6EE"/>
                </a:solidFill>
                <a:latin typeface="Calibri" pitchFamily="34" charset="0"/>
                <a:ea typeface="Calibri" pitchFamily="34" charset="-122"/>
                <a:cs typeface="Calibri" pitchFamily="34" charset="-120"/>
              </a:rPr>
              <a:t>akopperstad@seawise.no  ·  +47 480 35 351</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Kristian Kopperstad  </a:t>
            </a:r>
            <a:pPr indent="0" marL="0">
              <a:buNone/>
            </a:pPr>
            <a:r>
              <a:rPr lang="en-US" sz="1500" dirty="0">
                <a:solidFill>
                  <a:srgbClr val="DCE6EE"/>
                </a:solidFill>
                <a:latin typeface="Calibri" pitchFamily="34" charset="0"/>
                <a:ea typeface="Calibri" pitchFamily="34" charset="-122"/>
                <a:cs typeface="Calibri" pitchFamily="34" charset="-120"/>
              </a:rPr>
              <a:t>kkopperstad@seawise.no</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Nautech">
  <a:themeElements>
    <a:clrScheme name="Nautech">
      <a:dk1>
        <a:srgbClr val="0B1F33"/>
      </a:dk1>
      <a:lt1>
        <a:srgbClr val="FFFFFF"/>
      </a:lt1>
      <a:dk2>
        <a:srgbClr val="16324D"/>
      </a:dk2>
      <a:lt2>
        <a:srgbClr val="EEF3F6"/>
      </a:lt2>
      <a:accent1>
        <a:srgbClr val="0E7C86"/>
      </a:accent1>
      <a:accent2>
        <a:srgbClr val="E8751A"/>
      </a:accent2>
      <a:accent3>
        <a:srgbClr val="7FD1D6"/>
      </a:accent3>
      <a:accent4>
        <a:srgbClr val="5B6B7A"/>
      </a:accent4>
      <a:accent5>
        <a:srgbClr val="2E9E5B"/>
      </a:accent5>
      <a:accent6>
        <a:srgbClr val="C0392B"/>
      </a:accent6>
      <a:hlink>
        <a:srgbClr val="0E7C86"/>
      </a:hlink>
      <a:folHlink>
        <a:srgbClr val="5B6B7A"/>
      </a:folHlink>
    </a:clrScheme>
    <a:fontScheme name="Naute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Seawise 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Nautech – kundepresentasjon</dc:title>
  <dc:subject>PptxGenJS Presentation</dc:subject>
  <dc:creator>Seawise AS</dc:creator>
  <cp:lastModifiedBy>Seawise AS</cp:lastModifiedBy>
  <cp:revision>1</cp:revision>
  <dcterms:created xsi:type="dcterms:W3CDTF">2026-10-06T09:59:09Z</dcterms:created>
  <dcterms:modified xsi:type="dcterms:W3CDTF">2026-10-06T09:59:09Z</dcterms:modified>
</cp:coreProperties>
</file>