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tfordringen" id="{2f7bb6e8-c320-5977-db94-b1908dec729a}">
          <p14:sldIdLst>
            <p14:sldId id="256"/>
            <p14:sldId id="257"/>
          </p14:sldIdLst>
        </p14:section>
        <p14:section name="Nautech" id="{3772bd97-066a-91e8-6a8f-85bf08bb6d64}">
          <p14:sldIdLst>
            <p14:sldId id="258"/>
            <p14:sldId id="259"/>
            <p14:sldId id="260"/>
            <p14:sldId id="261"/>
            <p14:sldId id="262"/>
          </p14:sldIdLst>
        </p14:section>
        <p14:section name="Bytte og pris" id="{846a9140-8a1a-b366-0af9-dbeba41b7a23}">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 et system for vedlikehold og drift av fiskefartøy, laget av folk som har jobbet om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KI-en svarer ikke ut fra internett, men ut fra deres egne logger, arbeidsordrer og manualer. Den viser kilden, slik at maskinsjefen kan sjekke svaret. Det er fortsatt fagpersonen som bestemmer hva som skal gjøres.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0E7C8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0B1F33"/>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B3C4"/>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7FD1D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SEAWISE AS  ·  OKTOBER 2026</a:t>
            </a:r>
            <a:endParaRPr lang="en-US" sz="1200" dirty="0"/>
          </a:p>
        </p:txBody>
      </p:sp>
      <p:sp>
        <p:nvSpPr>
          <p:cNvPr id="3" name="Text 1"/>
          <p:cNvSpPr txBox="1"/>
          <p:nvPr/>
        </p:nvSpPr>
        <p:spPr>
          <a:xfrm>
            <a:off x="548640" y="1234440"/>
            <a:ext cx="8229600" cy="100584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Nautech</a:t>
            </a:r>
            <a:endParaRPr lang="en-US" sz="6000" dirty="0"/>
          </a:p>
        </p:txBody>
      </p:sp>
      <p:sp>
        <p:nvSpPr>
          <p:cNvPr id="4" name="Text 2"/>
          <p:cNvSpPr txBox="1"/>
          <p:nvPr/>
        </p:nvSpPr>
        <p:spPr>
          <a:xfrm>
            <a:off x="548640" y="2331720"/>
            <a:ext cx="9601200" cy="1188720"/>
          </a:xfrm>
          <a:prstGeom prst="rect">
            <a:avLst/>
          </a:prstGeom>
          <a:noFill/>
          <a:ln/>
        </p:spPr>
        <p:txBody>
          <a:bodyPr wrap="square" lIns="0" tIns="0" rIns="0" bIns="0" rtlCol="0" anchor="t"/>
          <a:lstStyle/>
          <a:p>
            <a:pPr indent="0" marL="0">
              <a:buNone/>
            </a:pPr>
            <a:r>
              <a:rPr lang="en-US" sz="2800" dirty="0">
                <a:solidFill>
                  <a:srgbClr val="FFFFFF"/>
                </a:solidFill>
                <a:latin typeface="Arial" pitchFamily="34" charset="0"/>
                <a:ea typeface="Arial" pitchFamily="34" charset="-122"/>
                <a:cs typeface="Arial" pitchFamily="34" charset="-120"/>
              </a:rPr>
              <a:t>Vedlikehold og drift for fiskefartøy – med KI som kjenner båten deres</a:t>
            </a:r>
            <a:endParaRPr lang="en-US" sz="2800" dirty="0"/>
          </a:p>
        </p:txBody>
      </p:sp>
      <p:sp>
        <p:nvSpPr>
          <p:cNvPr id="5" name="Text 3"/>
          <p:cNvSpPr txBox="1"/>
          <p:nvPr/>
        </p:nvSpPr>
        <p:spPr>
          <a:xfrm>
            <a:off x="548640" y="3611880"/>
            <a:ext cx="9601200" cy="457200"/>
          </a:xfrm>
          <a:prstGeom prst="rect">
            <a:avLst/>
          </a:prstGeom>
          <a:noFill/>
          <a:ln/>
        </p:spPr>
        <p:txBody>
          <a:bodyPr wrap="square" lIns="0" tIns="0" rIns="0" bIns="0" rtlCol="0" anchor="t"/>
          <a:lstStyle/>
          <a:p>
            <a:pPr indent="0" marL="0">
              <a:buNone/>
            </a:pPr>
            <a:r>
              <a:rPr lang="en-US" sz="1800" dirty="0">
                <a:solidFill>
                  <a:srgbClr val="7FD1D6"/>
                </a:solidFill>
                <a:latin typeface="Calibri" pitchFamily="34" charset="0"/>
                <a:ea typeface="Calibri" pitchFamily="34" charset="-122"/>
                <a:cs typeface="Calibri" pitchFamily="34" charset="-120"/>
              </a:rPr>
              <a:t>Laget av en maskinsjef fra fiskeflåten, for fiskeflåten.</a:t>
            </a:r>
            <a:endParaRPr lang="en-US" sz="1800" dirty="0"/>
          </a:p>
        </p:txBody>
      </p:sp>
      <p:sp>
        <p:nvSpPr>
          <p:cNvPr id="6" name="Kort"/>
          <p:cNvSpPr/>
          <p:nvPr/>
        </p:nvSpPr>
        <p:spPr>
          <a:xfrm>
            <a:off x="548640" y="4572000"/>
            <a:ext cx="3515258" cy="1051560"/>
          </a:xfrm>
          <a:prstGeom prst="roundRect">
            <a:avLst>
              <a:gd name="adj" fmla="val 10435"/>
            </a:avLst>
          </a:prstGeom>
          <a:solidFill>
            <a:srgbClr val="16324D"/>
          </a:solidFill>
          <a:ln/>
        </p:spPr>
      </p:sp>
      <p:sp>
        <p:nvSpPr>
          <p:cNvPr id="7" name="Ikon-sirkel"/>
          <p:cNvSpPr/>
          <p:nvPr/>
        </p:nvSpPr>
        <p:spPr>
          <a:xfrm>
            <a:off x="777240" y="4773168"/>
            <a:ext cx="640080" cy="640080"/>
          </a:xfrm>
          <a:prstGeom prst="ellipse">
            <a:avLst/>
          </a:prstGeom>
          <a:solidFill>
            <a:srgbClr val="0E7C86"/>
          </a:solidFill>
          <a:ln/>
        </p:spPr>
      </p:sp>
      <p:pic>
        <p:nvPicPr>
          <p:cNvPr id="8" name="Ikon FaLayerGroup" descr="preencoded.png">    </p:cNvPr>
          <p:cNvPicPr>
            <a:picLocks noChangeAspect="1"/>
          </p:cNvPicPr>
          <p:nvPr/>
        </p:nvPicPr>
        <p:blipFill>
          <a:blip r:embed="rId1"/>
          <a:stretch>
            <a:fillRect/>
          </a:stretch>
        </p:blipFill>
        <p:spPr>
          <a:xfrm>
            <a:off x="930859" y="4926787"/>
            <a:ext cx="332842" cy="332842"/>
          </a:xfrm>
          <a:prstGeom prst="rect">
            <a:avLst/>
          </a:prstGeom>
        </p:spPr>
      </p:pic>
      <p:sp>
        <p:nvSpPr>
          <p:cNvPr id="9" name="Text 6"/>
          <p:cNvSpPr txBox="1"/>
          <p:nvPr/>
        </p:nvSpPr>
        <p:spPr>
          <a:xfrm>
            <a:off x="1600200"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14 moduler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i ett system</a:t>
            </a:r>
            <a:endParaRPr lang="en-US" sz="1800" dirty="0"/>
          </a:p>
        </p:txBody>
      </p:sp>
      <p:sp>
        <p:nvSpPr>
          <p:cNvPr id="10" name="Kort"/>
          <p:cNvSpPr/>
          <p:nvPr/>
        </p:nvSpPr>
        <p:spPr>
          <a:xfrm>
            <a:off x="4338218" y="4572000"/>
            <a:ext cx="3515258" cy="1051560"/>
          </a:xfrm>
          <a:prstGeom prst="roundRect">
            <a:avLst>
              <a:gd name="adj" fmla="val 10435"/>
            </a:avLst>
          </a:prstGeom>
          <a:solidFill>
            <a:srgbClr val="16324D"/>
          </a:solidFill>
          <a:ln/>
        </p:spPr>
      </p:sp>
      <p:sp>
        <p:nvSpPr>
          <p:cNvPr id="11" name="Ikon-sirkel"/>
          <p:cNvSpPr/>
          <p:nvPr/>
        </p:nvSpPr>
        <p:spPr>
          <a:xfrm>
            <a:off x="4566818" y="4773168"/>
            <a:ext cx="640080" cy="640080"/>
          </a:xfrm>
          <a:prstGeom prst="ellipse">
            <a:avLst/>
          </a:prstGeom>
          <a:solidFill>
            <a:srgbClr val="0E7C86"/>
          </a:solidFill>
          <a:ln/>
        </p:spPr>
      </p:sp>
      <p:pic>
        <p:nvPicPr>
          <p:cNvPr id="12" name="Ikon FaBrain" descr="preencoded.png">    </p:cNvPr>
          <p:cNvPicPr>
            <a:picLocks noChangeAspect="1"/>
          </p:cNvPicPr>
          <p:nvPr/>
        </p:nvPicPr>
        <p:blipFill>
          <a:blip r:embed="rId2"/>
          <a:stretch>
            <a:fillRect/>
          </a:stretch>
        </p:blipFill>
        <p:spPr>
          <a:xfrm>
            <a:off x="4720438" y="4926787"/>
            <a:ext cx="332842" cy="332842"/>
          </a:xfrm>
          <a:prstGeom prst="rect">
            <a:avLst/>
          </a:prstGeom>
        </p:spPr>
      </p:pic>
      <p:sp>
        <p:nvSpPr>
          <p:cNvPr id="13" name="Text 9"/>
          <p:cNvSpPr txBox="1"/>
          <p:nvPr/>
        </p:nvSpPr>
        <p:spPr>
          <a:xfrm>
            <a:off x="5389778"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KI som svarer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med kilde fra egne data</a:t>
            </a:r>
            <a:endParaRPr lang="en-US" sz="1800" dirty="0"/>
          </a:p>
        </p:txBody>
      </p:sp>
      <p:sp>
        <p:nvSpPr>
          <p:cNvPr id="14" name="Kort"/>
          <p:cNvSpPr/>
          <p:nvPr/>
        </p:nvSpPr>
        <p:spPr>
          <a:xfrm>
            <a:off x="8127797" y="4572000"/>
            <a:ext cx="3515258" cy="1051560"/>
          </a:xfrm>
          <a:prstGeom prst="roundRect">
            <a:avLst>
              <a:gd name="adj" fmla="val 10435"/>
            </a:avLst>
          </a:prstGeom>
          <a:solidFill>
            <a:srgbClr val="16324D"/>
          </a:solidFill>
          <a:ln/>
        </p:spPr>
      </p:sp>
      <p:sp>
        <p:nvSpPr>
          <p:cNvPr id="15" name="Ikon-sirkel"/>
          <p:cNvSpPr/>
          <p:nvPr/>
        </p:nvSpPr>
        <p:spPr>
          <a:xfrm>
            <a:off x="8356397" y="4773168"/>
            <a:ext cx="640080" cy="640080"/>
          </a:xfrm>
          <a:prstGeom prst="ellipse">
            <a:avLst/>
          </a:prstGeom>
          <a:solidFill>
            <a:srgbClr val="0E7C86"/>
          </a:solidFill>
          <a:ln/>
        </p:spPr>
      </p:sp>
      <p:pic>
        <p:nvPicPr>
          <p:cNvPr id="16" name="Ikon FaLock" descr="preencoded.png">    </p:cNvPr>
          <p:cNvPicPr>
            <a:picLocks noChangeAspect="1"/>
          </p:cNvPicPr>
          <p:nvPr/>
        </p:nvPicPr>
        <p:blipFill>
          <a:blip r:embed="rId3"/>
          <a:stretch>
            <a:fillRect/>
          </a:stretch>
        </p:blipFill>
        <p:spPr>
          <a:xfrm>
            <a:off x="8510016" y="4926787"/>
            <a:ext cx="332842" cy="332842"/>
          </a:xfrm>
          <a:prstGeom prst="rect">
            <a:avLst/>
          </a:prstGeom>
        </p:spPr>
      </p:pic>
      <p:sp>
        <p:nvSpPr>
          <p:cNvPr id="17" name="Text 12"/>
          <p:cNvSpPr txBox="1"/>
          <p:nvPr/>
        </p:nvSpPr>
        <p:spPr>
          <a:xfrm>
            <a:off x="9179357"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Data i Norge/EU</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brukes ikke til KI-trening</a:t>
            </a:r>
            <a:endParaRPr lang="en-US" sz="1800" dirty="0"/>
          </a:p>
        </p:txBody>
      </p:sp>
      <p:sp>
        <p:nvSpPr>
          <p:cNvPr id="19"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KJENNER DERE DETTE IGJEN?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Mye tid går med til å lete, spørre og purre</a:t>
            </a:r>
            <a:endParaRPr lang="en-US" sz="3000" dirty="0"/>
          </a:p>
        </p:txBody>
      </p:sp>
      <p:sp>
        <p:nvSpPr>
          <p:cNvPr id="4" name="Kort"/>
          <p:cNvSpPr/>
          <p:nvPr/>
        </p:nvSpPr>
        <p:spPr>
          <a:xfrm>
            <a:off x="548640" y="1828800"/>
            <a:ext cx="5410048" cy="1783080"/>
          </a:xfrm>
          <a:prstGeom prst="roundRect">
            <a:avLst>
              <a:gd name="adj" fmla="val 6154"/>
            </a:avLst>
          </a:prstGeom>
          <a:solidFill>
            <a:srgbClr val="EEF3F6"/>
          </a:solidFill>
          <a:ln/>
        </p:spPr>
      </p:sp>
      <p:sp>
        <p:nvSpPr>
          <p:cNvPr id="5" name="Ikon-sirkel"/>
          <p:cNvSpPr/>
          <p:nvPr/>
        </p:nvSpPr>
        <p:spPr>
          <a:xfrm>
            <a:off x="868680" y="2194560"/>
            <a:ext cx="731520" cy="731520"/>
          </a:xfrm>
          <a:prstGeom prst="ellipse">
            <a:avLst/>
          </a:prstGeom>
          <a:solidFill>
            <a:srgbClr val="0E7C86"/>
          </a:solidFill>
          <a:ln/>
        </p:spPr>
      </p:sp>
      <p:pic>
        <p:nvPicPr>
          <p:cNvPr id="6" name="Ikon FaMagnifyingGlass" descr="preencoded.png">    </p:cNvPr>
          <p:cNvPicPr>
            <a:picLocks noChangeAspect="1"/>
          </p:cNvPicPr>
          <p:nvPr/>
        </p:nvPicPr>
        <p:blipFill>
          <a:blip r:embed="rId1"/>
          <a:stretch>
            <a:fillRect/>
          </a:stretch>
        </p:blipFill>
        <p:spPr>
          <a:xfrm>
            <a:off x="1044245" y="2370125"/>
            <a:ext cx="380390" cy="380390"/>
          </a:xfrm>
          <a:prstGeom prst="rect">
            <a:avLst/>
          </a:prstGeom>
        </p:spPr>
      </p:pic>
      <p:sp>
        <p:nvSpPr>
          <p:cNvPr id="7" name="Text 4"/>
          <p:cNvSpPr txBox="1"/>
          <p:nvPr/>
        </p:nvSpPr>
        <p:spPr>
          <a:xfrm>
            <a:off x="1874520" y="21488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«Hva ble gjort sist?»</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Historikken ligger i systemet, i e-poster og i permer – og tar tid å finne.</a:t>
            </a:r>
            <a:endParaRPr lang="en-US" sz="1900" dirty="0"/>
          </a:p>
        </p:txBody>
      </p:sp>
      <p:sp>
        <p:nvSpPr>
          <p:cNvPr id="8" name="Kort"/>
          <p:cNvSpPr/>
          <p:nvPr/>
        </p:nvSpPr>
        <p:spPr>
          <a:xfrm>
            <a:off x="6233008" y="1828800"/>
            <a:ext cx="5410048" cy="1783080"/>
          </a:xfrm>
          <a:prstGeom prst="roundRect">
            <a:avLst>
              <a:gd name="adj" fmla="val 6154"/>
            </a:avLst>
          </a:prstGeom>
          <a:solidFill>
            <a:srgbClr val="EEF3F6"/>
          </a:solidFill>
          <a:ln/>
        </p:spPr>
      </p:sp>
      <p:sp>
        <p:nvSpPr>
          <p:cNvPr id="9" name="Ikon-sirkel"/>
          <p:cNvSpPr/>
          <p:nvPr/>
        </p:nvSpPr>
        <p:spPr>
          <a:xfrm>
            <a:off x="6553048" y="2194560"/>
            <a:ext cx="731520" cy="731520"/>
          </a:xfrm>
          <a:prstGeom prst="ellipse">
            <a:avLst/>
          </a:prstGeom>
          <a:solidFill>
            <a:srgbClr val="0E7C86"/>
          </a:solidFill>
          <a:ln/>
        </p:spPr>
      </p:sp>
      <p:pic>
        <p:nvPicPr>
          <p:cNvPr id="10" name="Ikon FaPeopleArrows" descr="preencoded.png">    </p:cNvPr>
          <p:cNvPicPr>
            <a:picLocks noChangeAspect="1"/>
          </p:cNvPicPr>
          <p:nvPr/>
        </p:nvPicPr>
        <p:blipFill>
          <a:blip r:embed="rId2"/>
          <a:stretch>
            <a:fillRect/>
          </a:stretch>
        </p:blipFill>
        <p:spPr>
          <a:xfrm>
            <a:off x="6728612" y="2370125"/>
            <a:ext cx="380390" cy="380390"/>
          </a:xfrm>
          <a:prstGeom prst="rect">
            <a:avLst/>
          </a:prstGeom>
        </p:spPr>
      </p:pic>
      <p:sp>
        <p:nvSpPr>
          <p:cNvPr id="11" name="Text 7"/>
          <p:cNvSpPr txBox="1"/>
          <p:nvPr/>
        </p:nvSpPr>
        <p:spPr>
          <a:xfrm>
            <a:off x="7558888" y="21488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«Hvem har ansvaret nå?»</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Saker faller mellom skift, og mellom båten og land.</a:t>
            </a:r>
            <a:endParaRPr lang="en-US" sz="1900" dirty="0"/>
          </a:p>
        </p:txBody>
      </p:sp>
      <p:sp>
        <p:nvSpPr>
          <p:cNvPr id="12" name="Kort"/>
          <p:cNvSpPr/>
          <p:nvPr/>
        </p:nvSpPr>
        <p:spPr>
          <a:xfrm>
            <a:off x="548640" y="3886200"/>
            <a:ext cx="5410048" cy="1783080"/>
          </a:xfrm>
          <a:prstGeom prst="roundRect">
            <a:avLst>
              <a:gd name="adj" fmla="val 6154"/>
            </a:avLst>
          </a:prstGeom>
          <a:solidFill>
            <a:srgbClr val="EEF3F6"/>
          </a:solidFill>
          <a:ln/>
        </p:spPr>
      </p:sp>
      <p:sp>
        <p:nvSpPr>
          <p:cNvPr id="13" name="Ikon-sirkel"/>
          <p:cNvSpPr/>
          <p:nvPr/>
        </p:nvSpPr>
        <p:spPr>
          <a:xfrm>
            <a:off x="868680" y="4251960"/>
            <a:ext cx="731520" cy="731520"/>
          </a:xfrm>
          <a:prstGeom prst="ellipse">
            <a:avLst/>
          </a:prstGeom>
          <a:solidFill>
            <a:srgbClr val="0E7C86"/>
          </a:solidFill>
          <a:ln/>
        </p:spPr>
      </p:sp>
      <p:pic>
        <p:nvPicPr>
          <p:cNvPr id="14" name="Ikon FaTableList" descr="preencoded.png">    </p:cNvPr>
          <p:cNvPicPr>
            <a:picLocks noChangeAspect="1"/>
          </p:cNvPicPr>
          <p:nvPr/>
        </p:nvPicPr>
        <p:blipFill>
          <a:blip r:embed="rId3"/>
          <a:stretch>
            <a:fillRect/>
          </a:stretch>
        </p:blipFill>
        <p:spPr>
          <a:xfrm>
            <a:off x="1044245" y="4427525"/>
            <a:ext cx="380390" cy="380390"/>
          </a:xfrm>
          <a:prstGeom prst="rect">
            <a:avLst/>
          </a:prstGeom>
        </p:spPr>
      </p:pic>
      <p:sp>
        <p:nvSpPr>
          <p:cNvPr id="15" name="Text 10"/>
          <p:cNvSpPr txBox="1"/>
          <p:nvPr/>
        </p:nvSpPr>
        <p:spPr>
          <a:xfrm>
            <a:off x="1874520" y="42062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Flere systemer og regneark</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og dokumenter ligger i hvert sitt system.</a:t>
            </a:r>
            <a:endParaRPr lang="en-US" sz="1900" dirty="0"/>
          </a:p>
        </p:txBody>
      </p:sp>
      <p:sp>
        <p:nvSpPr>
          <p:cNvPr id="16" name="Kort"/>
          <p:cNvSpPr/>
          <p:nvPr/>
        </p:nvSpPr>
        <p:spPr>
          <a:xfrm>
            <a:off x="6233008" y="3886200"/>
            <a:ext cx="5410048" cy="1783080"/>
          </a:xfrm>
          <a:prstGeom prst="roundRect">
            <a:avLst>
              <a:gd name="adj" fmla="val 6154"/>
            </a:avLst>
          </a:prstGeom>
          <a:solidFill>
            <a:srgbClr val="EEF3F6"/>
          </a:solidFill>
          <a:ln/>
        </p:spPr>
      </p:sp>
      <p:sp>
        <p:nvSpPr>
          <p:cNvPr id="17" name="Ikon-sirkel"/>
          <p:cNvSpPr/>
          <p:nvPr/>
        </p:nvSpPr>
        <p:spPr>
          <a:xfrm>
            <a:off x="6553048" y="4251960"/>
            <a:ext cx="731520" cy="731520"/>
          </a:xfrm>
          <a:prstGeom prst="ellipse">
            <a:avLst/>
          </a:prstGeom>
          <a:solidFill>
            <a:srgbClr val="0E7C86"/>
          </a:solidFill>
          <a:ln/>
        </p:spPr>
      </p:sp>
      <p:pic>
        <p:nvPicPr>
          <p:cNvPr id="18" name="Ikon FaUserClock" descr="preencoded.png">    </p:cNvPr>
          <p:cNvPicPr>
            <a:picLocks noChangeAspect="1"/>
          </p:cNvPicPr>
          <p:nvPr/>
        </p:nvPicPr>
        <p:blipFill>
          <a:blip r:embed="rId4"/>
          <a:stretch>
            <a:fillRect/>
          </a:stretch>
        </p:blipFill>
        <p:spPr>
          <a:xfrm>
            <a:off x="6728612" y="4427525"/>
            <a:ext cx="380390" cy="380390"/>
          </a:xfrm>
          <a:prstGeom prst="rect">
            <a:avLst/>
          </a:prstGeom>
        </p:spPr>
      </p:pic>
      <p:sp>
        <p:nvSpPr>
          <p:cNvPr id="19" name="Text 13"/>
          <p:cNvSpPr txBox="1"/>
          <p:nvPr/>
        </p:nvSpPr>
        <p:spPr>
          <a:xfrm>
            <a:off x="7558888" y="42062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Erfaringen går i land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Når erfarne folk slutter eller har fri, er kunnskapen borte fra båten.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NAUTECH</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Ett system for hele driften – om bord og på land</a:t>
            </a:r>
            <a:endParaRPr lang="en-US" sz="3000" dirty="0"/>
          </a:p>
        </p:txBody>
      </p:sp>
      <p:sp>
        <p:nvSpPr>
          <p:cNvPr id="4" name="Ikon-sirkel"/>
          <p:cNvSpPr/>
          <p:nvPr/>
        </p:nvSpPr>
        <p:spPr>
          <a:xfrm>
            <a:off x="548640" y="1920240"/>
            <a:ext cx="685800" cy="685800"/>
          </a:xfrm>
          <a:prstGeom prst="ellipse">
            <a:avLst/>
          </a:prstGeom>
          <a:solidFill>
            <a:srgbClr val="0E7C86"/>
          </a:solidFill>
          <a:ln/>
        </p:spPr>
      </p:sp>
      <p:pic>
        <p:nvPicPr>
          <p:cNvPr id="5" name="Ikon FaLayerGroup" descr="preencoded.png">    </p:cNvPr>
          <p:cNvPicPr>
            <a:picLocks noChangeAspect="1"/>
          </p:cNvPicPr>
          <p:nvPr/>
        </p:nvPicPr>
        <p:blipFill>
          <a:blip r:embed="rId1"/>
          <a:stretch>
            <a:fillRect/>
          </a:stretch>
        </p:blipFill>
        <p:spPr>
          <a:xfrm>
            <a:off x="713232" y="2084832"/>
            <a:ext cx="356616" cy="356616"/>
          </a:xfrm>
          <a:prstGeom prst="rect">
            <a:avLst/>
          </a:prstGeom>
        </p:spPr>
      </p:pic>
      <p:sp>
        <p:nvSpPr>
          <p:cNvPr id="6" name="Text 3"/>
          <p:cNvSpPr txBox="1"/>
          <p:nvPr/>
        </p:nvSpPr>
        <p:spPr>
          <a:xfrm>
            <a:off x="1463040" y="187452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Alt på ett sted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dokumenter, mannskap, fangst og økonomi. Ikke flere systemer og regneark.</a:t>
            </a:r>
            <a:endParaRPr lang="en-US" sz="1900" dirty="0"/>
          </a:p>
        </p:txBody>
      </p:sp>
      <p:sp>
        <p:nvSpPr>
          <p:cNvPr id="7" name="Ikon-sirkel"/>
          <p:cNvSpPr/>
          <p:nvPr/>
        </p:nvSpPr>
        <p:spPr>
          <a:xfrm>
            <a:off x="548640" y="3246120"/>
            <a:ext cx="685800" cy="68580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13232" y="3410712"/>
            <a:ext cx="356616" cy="356616"/>
          </a:xfrm>
          <a:prstGeom prst="rect">
            <a:avLst/>
          </a:prstGeom>
        </p:spPr>
      </p:pic>
      <p:sp>
        <p:nvSpPr>
          <p:cNvPr id="9" name="Text 5"/>
          <p:cNvSpPr txBox="1"/>
          <p:nvPr/>
        </p:nvSpPr>
        <p:spPr>
          <a:xfrm>
            <a:off x="1463040" y="320040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Spør og få svar</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KI-assistenten kjenner båtens historikk og viser hvor svaret kommer fra.</a:t>
            </a:r>
            <a:endParaRPr lang="en-US" sz="1900" dirty="0"/>
          </a:p>
        </p:txBody>
      </p:sp>
      <p:sp>
        <p:nvSpPr>
          <p:cNvPr id="10" name="Ikon-sirkel"/>
          <p:cNvSpPr/>
          <p:nvPr/>
        </p:nvSpPr>
        <p:spPr>
          <a:xfrm>
            <a:off x="548640" y="4572000"/>
            <a:ext cx="685800" cy="685800"/>
          </a:xfrm>
          <a:prstGeom prst="ellipse">
            <a:avLst/>
          </a:prstGeom>
          <a:solidFill>
            <a:srgbClr val="0E7C86"/>
          </a:solidFill>
          <a:ln/>
        </p:spPr>
      </p:sp>
      <p:pic>
        <p:nvPicPr>
          <p:cNvPr id="11" name="Ikon FaPeopleArrows" descr="preencoded.png">    </p:cNvPr>
          <p:cNvPicPr>
            <a:picLocks noChangeAspect="1"/>
          </p:cNvPicPr>
          <p:nvPr/>
        </p:nvPicPr>
        <p:blipFill>
          <a:blip r:embed="rId3"/>
          <a:stretch>
            <a:fillRect/>
          </a:stretch>
        </p:blipFill>
        <p:spPr>
          <a:xfrm>
            <a:off x="713232" y="4736592"/>
            <a:ext cx="356616" cy="356616"/>
          </a:xfrm>
          <a:prstGeom prst="rect">
            <a:avLst/>
          </a:prstGeom>
        </p:spPr>
      </p:pic>
      <p:sp>
        <p:nvSpPr>
          <p:cNvPr id="12" name="Text 7"/>
          <p:cNvSpPr txBox="1"/>
          <p:nvPr/>
        </p:nvSpPr>
        <p:spPr>
          <a:xfrm>
            <a:off x="1463040" y="452628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Samme oversikt for alle</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Maskinsjef, skipper og teknisk sjef ser de samme sakene og hvem som har ansvaret.</a:t>
            </a:r>
            <a:endParaRPr lang="en-US" sz="1900" dirty="0"/>
          </a:p>
        </p:txBody>
      </p:sp>
      <p:sp>
        <p:nvSpPr>
          <p:cNvPr id="13" name="SKJERMBILDE: Oversikten i Nautech (dashbord)"/>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4" name="Kamera" descr="preencoded.png">    </p:cNvPr>
          <p:cNvPicPr>
            <a:picLocks noChangeAspect="1"/>
          </p:cNvPicPr>
          <p:nvPr/>
        </p:nvPicPr>
        <p:blipFill>
          <a:blip r:embed="rId4"/>
          <a:stretch>
            <a:fillRect/>
          </a:stretch>
        </p:blipFill>
        <p:spPr>
          <a:xfrm>
            <a:off x="8633308" y="3108960"/>
            <a:ext cx="548640" cy="548640"/>
          </a:xfrm>
          <a:prstGeom prst="rect">
            <a:avLst/>
          </a:prstGeom>
        </p:spPr>
      </p:pic>
      <p:sp>
        <p:nvSpPr>
          <p:cNvPr id="15" name="Text 9"/>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Oversikten i Nautech (dashbord)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KI-ASSISTENTEN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Spør om båten deres – og få svar med kilde</a:t>
            </a:r>
            <a:endParaRPr lang="en-US" sz="3000" dirty="0"/>
          </a:p>
        </p:txBody>
      </p:sp>
      <p:sp>
        <p:nvSpPr>
          <p:cNvPr id="4" name="Shape 2"/>
          <p:cNvSpPr/>
          <p:nvPr/>
        </p:nvSpPr>
        <p:spPr>
          <a:xfrm>
            <a:off x="548640" y="1828800"/>
            <a:ext cx="5303520" cy="868680"/>
          </a:xfrm>
          <a:prstGeom prst="roundRect">
            <a:avLst>
              <a:gd name="adj" fmla="val 15789"/>
            </a:avLst>
          </a:prstGeom>
          <a:solidFill>
            <a:srgbClr val="0E7C86"/>
          </a:solidFill>
          <a:ln/>
        </p:spPr>
      </p:sp>
      <p:sp>
        <p:nvSpPr>
          <p:cNvPr id="5" name="Text 3"/>
          <p:cNvSpPr txBox="1"/>
          <p:nvPr/>
        </p:nvSpPr>
        <p:spPr>
          <a:xfrm>
            <a:off x="822960" y="1828800"/>
            <a:ext cx="4754880" cy="868680"/>
          </a:xfrm>
          <a:prstGeom prst="rect">
            <a:avLst/>
          </a:prstGeom>
          <a:noFill/>
          <a:ln/>
        </p:spPr>
        <p:txBody>
          <a:bodyPr wrap="square" lIns="0" tIns="0" rIns="0" bIns="0" rtlCol="0" anchor="ctr"/>
          <a:lstStyle/>
          <a:p>
            <a:pPr indent="0" marL="0">
              <a:buNone/>
            </a:pPr>
            <a:r>
              <a:rPr lang="en-US" sz="1800" i="1" dirty="0">
                <a:solidFill>
                  <a:srgbClr val="FFFFFF"/>
                </a:solidFill>
                <a:latin typeface="Calibri" pitchFamily="34" charset="0"/>
                <a:ea typeface="Calibri" pitchFamily="34" charset="-122"/>
                <a:cs typeface="Calibri" pitchFamily="34" charset="-120"/>
              </a:rPr>
              <a:t>«Hva vet vi om kjølevannspumpa på hjelpemotor 2?»</a:t>
            </a:r>
            <a:endParaRPr lang="en-US" sz="1800" dirty="0"/>
          </a:p>
        </p:txBody>
      </p:sp>
      <p:sp>
        <p:nvSpPr>
          <p:cNvPr id="6" name="Text 4"/>
          <p:cNvSpPr txBox="1"/>
          <p:nvPr/>
        </p:nvSpPr>
        <p:spPr>
          <a:xfrm>
            <a:off x="548640" y="2880360"/>
            <a:ext cx="5303520" cy="36576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Nautech finner og oppsummerer:</a:t>
            </a:r>
            <a:endParaRPr lang="en-US" sz="1600" dirty="0"/>
          </a:p>
        </p:txBody>
      </p:sp>
      <p:sp>
        <p:nvSpPr>
          <p:cNvPr id="7" name="Ikon-sirkel"/>
          <p:cNvSpPr/>
          <p:nvPr/>
        </p:nvSpPr>
        <p:spPr>
          <a:xfrm>
            <a:off x="548640" y="3337560"/>
            <a:ext cx="438912" cy="438912"/>
          </a:xfrm>
          <a:prstGeom prst="ellipse">
            <a:avLst/>
          </a:prstGeom>
          <a:solidFill>
            <a:srgbClr val="DDE7EE"/>
          </a:solidFill>
          <a:ln/>
        </p:spPr>
      </p:sp>
      <p:pic>
        <p:nvPicPr>
          <p:cNvPr id="8" name="Ikon FaClipboardCheck" descr="preencoded.png">    </p:cNvPr>
          <p:cNvPicPr>
            <a:picLocks noChangeAspect="1"/>
          </p:cNvPicPr>
          <p:nvPr/>
        </p:nvPicPr>
        <p:blipFill>
          <a:blip r:embed="rId1"/>
          <a:stretch>
            <a:fillRect/>
          </a:stretch>
        </p:blipFill>
        <p:spPr>
          <a:xfrm>
            <a:off x="653979" y="3442899"/>
            <a:ext cx="228234" cy="228234"/>
          </a:xfrm>
          <a:prstGeom prst="rect">
            <a:avLst/>
          </a:prstGeom>
        </p:spPr>
      </p:pic>
      <p:sp>
        <p:nvSpPr>
          <p:cNvPr id="9" name="Text 6"/>
          <p:cNvSpPr txBox="1"/>
          <p:nvPr/>
        </p:nvSpPr>
        <p:spPr>
          <a:xfrm>
            <a:off x="1188720" y="3337560"/>
            <a:ext cx="466344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Tidligere arbeidsordrer og hva som ble gjort</a:t>
            </a:r>
            <a:endParaRPr lang="en-US" sz="1500" dirty="0"/>
          </a:p>
        </p:txBody>
      </p:sp>
      <p:sp>
        <p:nvSpPr>
          <p:cNvPr id="10" name="Ikon-sirkel"/>
          <p:cNvSpPr/>
          <p:nvPr/>
        </p:nvSpPr>
        <p:spPr>
          <a:xfrm>
            <a:off x="548640" y="3904488"/>
            <a:ext cx="438912" cy="438912"/>
          </a:xfrm>
          <a:prstGeom prst="ellipse">
            <a:avLst/>
          </a:prstGeom>
          <a:solidFill>
            <a:srgbClr val="DDE7EE"/>
          </a:solidFill>
          <a:ln/>
        </p:spPr>
      </p:sp>
      <p:pic>
        <p:nvPicPr>
          <p:cNvPr id="11" name="Ikon FaBoxOpen" descr="preencoded.png">    </p:cNvPr>
          <p:cNvPicPr>
            <a:picLocks noChangeAspect="1"/>
          </p:cNvPicPr>
          <p:nvPr/>
        </p:nvPicPr>
        <p:blipFill>
          <a:blip r:embed="rId2"/>
          <a:stretch>
            <a:fillRect/>
          </a:stretch>
        </p:blipFill>
        <p:spPr>
          <a:xfrm>
            <a:off x="653979" y="4009827"/>
            <a:ext cx="228234" cy="228234"/>
          </a:xfrm>
          <a:prstGeom prst="rect">
            <a:avLst/>
          </a:prstGeom>
        </p:spPr>
      </p:pic>
      <p:sp>
        <p:nvSpPr>
          <p:cNvPr id="12" name="Text 8"/>
          <p:cNvSpPr txBox="1"/>
          <p:nvPr/>
        </p:nvSpPr>
        <p:spPr>
          <a:xfrm>
            <a:off x="1188720" y="3904488"/>
            <a:ext cx="466344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Deler som er byttet, og når</a:t>
            </a:r>
            <a:endParaRPr lang="en-US" sz="1500" dirty="0"/>
          </a:p>
        </p:txBody>
      </p:sp>
      <p:sp>
        <p:nvSpPr>
          <p:cNvPr id="13" name="Ikon-sirkel"/>
          <p:cNvSpPr/>
          <p:nvPr/>
        </p:nvSpPr>
        <p:spPr>
          <a:xfrm>
            <a:off x="548640" y="4471416"/>
            <a:ext cx="438912" cy="438912"/>
          </a:xfrm>
          <a:prstGeom prst="ellipse">
            <a:avLst/>
          </a:prstGeom>
          <a:solidFill>
            <a:srgbClr val="DDE7EE"/>
          </a:solidFill>
          <a:ln/>
        </p:spPr>
      </p:sp>
      <p:pic>
        <p:nvPicPr>
          <p:cNvPr id="14" name="Ikon FaBook" descr="preencoded.png">    </p:cNvPr>
          <p:cNvPicPr>
            <a:picLocks noChangeAspect="1"/>
          </p:cNvPicPr>
          <p:nvPr/>
        </p:nvPicPr>
        <p:blipFill>
          <a:blip r:embed="rId3"/>
          <a:stretch>
            <a:fillRect/>
          </a:stretch>
        </p:blipFill>
        <p:spPr>
          <a:xfrm>
            <a:off x="653979" y="4576755"/>
            <a:ext cx="228234" cy="228234"/>
          </a:xfrm>
          <a:prstGeom prst="rect">
            <a:avLst/>
          </a:prstGeom>
        </p:spPr>
      </p:pic>
      <p:sp>
        <p:nvSpPr>
          <p:cNvPr id="15" name="Text 10"/>
          <p:cNvSpPr txBox="1"/>
          <p:nvPr/>
        </p:nvSpPr>
        <p:spPr>
          <a:xfrm>
            <a:off x="1188720" y="4471416"/>
            <a:ext cx="466344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Riktig side i manualen</a:t>
            </a:r>
            <a:endParaRPr lang="en-US" sz="1500" dirty="0"/>
          </a:p>
        </p:txBody>
      </p:sp>
      <p:sp>
        <p:nvSpPr>
          <p:cNvPr id="16" name="Kort"/>
          <p:cNvSpPr/>
          <p:nvPr/>
        </p:nvSpPr>
        <p:spPr>
          <a:xfrm>
            <a:off x="548640" y="5120640"/>
            <a:ext cx="5303520" cy="685800"/>
          </a:xfrm>
          <a:prstGeom prst="roundRect">
            <a:avLst>
              <a:gd name="adj" fmla="val 16000"/>
            </a:avLst>
          </a:prstGeom>
          <a:solidFill>
            <a:srgbClr val="EEF3F6"/>
          </a:solidFill>
          <a:ln/>
        </p:spPr>
      </p:sp>
      <p:sp>
        <p:nvSpPr>
          <p:cNvPr id="17" name="Text 12"/>
          <p:cNvSpPr txBox="1"/>
          <p:nvPr/>
        </p:nvSpPr>
        <p:spPr>
          <a:xfrm>
            <a:off x="822960" y="5120640"/>
            <a:ext cx="4846320" cy="68580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Svarer bare ut fra deres egne data. Dere ser kilden. Fagpersonen bestemmer.</a:t>
            </a:r>
            <a:endParaRPr lang="en-US" sz="1500" dirty="0"/>
          </a:p>
        </p:txBody>
      </p:sp>
      <p:sp>
        <p:nvSpPr>
          <p:cNvPr id="18" name="SKJERMBILDE: KI-assistenten: spørsmål om pumpa, med svar og kildehenvisning"/>
          <p:cNvSpPr/>
          <p:nvPr/>
        </p:nvSpPr>
        <p:spPr>
          <a:xfrm>
            <a:off x="6172200" y="1828800"/>
            <a:ext cx="5470855" cy="3977640"/>
          </a:xfrm>
          <a:prstGeom prst="roundRect">
            <a:avLst>
              <a:gd name="adj" fmla="val 2299"/>
            </a:avLst>
          </a:prstGeom>
          <a:solidFill>
            <a:srgbClr val="EEF3F6"/>
          </a:solidFill>
          <a:ln w="19050">
            <a:solidFill>
              <a:srgbClr val="E8751A"/>
            </a:solidFill>
            <a:prstDash val="dash"/>
          </a:ln>
        </p:spPr>
      </p:sp>
      <p:pic>
        <p:nvPicPr>
          <p:cNvPr id="19" name="Kamera" descr="preencoded.png">    </p:cNvPr>
          <p:cNvPicPr>
            <a:picLocks noChangeAspect="1"/>
          </p:cNvPicPr>
          <p:nvPr/>
        </p:nvPicPr>
        <p:blipFill>
          <a:blip r:embed="rId4"/>
          <a:stretch>
            <a:fillRect/>
          </a:stretch>
        </p:blipFill>
        <p:spPr>
          <a:xfrm>
            <a:off x="8633308" y="3131820"/>
            <a:ext cx="548640" cy="548640"/>
          </a:xfrm>
          <a:prstGeom prst="rect">
            <a:avLst/>
          </a:prstGeom>
        </p:spPr>
      </p:pic>
      <p:sp>
        <p:nvSpPr>
          <p:cNvPr id="20" name="Text 14"/>
          <p:cNvSpPr txBox="1"/>
          <p:nvPr/>
        </p:nvSpPr>
        <p:spPr>
          <a:xfrm>
            <a:off x="6446520" y="381762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KI-assistenten: spørsmål om pumpa, med svar og kildehenvisning</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LAGET FOR FISKE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Fangst, kvoter og rapportering – i samme system som vedlikeholdet</a:t>
            </a:r>
            <a:endParaRPr lang="en-US" sz="3000" dirty="0"/>
          </a:p>
        </p:txBody>
      </p:sp>
      <p:sp>
        <p:nvSpPr>
          <p:cNvPr id="4" name="Text 2"/>
          <p:cNvSpPr txBox="1"/>
          <p:nvPr/>
        </p:nvSpPr>
        <p:spPr>
          <a:xfrm>
            <a:off x="548640" y="1828800"/>
            <a:ext cx="5394960" cy="822960"/>
          </a:xfrm>
          <a:prstGeom prst="rect">
            <a:avLst/>
          </a:prstGeom>
          <a:noFill/>
          <a:ln/>
        </p:spPr>
        <p:txBody>
          <a:bodyPr wrap="square" lIns="0" tIns="0" rIns="0" bIns="0" rtlCol="0" anchor="t"/>
          <a:lstStyle/>
          <a:p>
            <a:pPr indent="0" marL="0">
              <a:buNone/>
            </a:pPr>
            <a:r>
              <a:rPr lang="en-US" sz="1600" dirty="0">
                <a:solidFill>
                  <a:srgbClr val="1B2A38"/>
                </a:solidFill>
                <a:latin typeface="Calibri" pitchFamily="34" charset="0"/>
                <a:ea typeface="Calibri" pitchFamily="34" charset="-122"/>
                <a:cs typeface="Calibri" pitchFamily="34" charset="-120"/>
              </a:rPr>
              <a:t>Dere slipper et eget system for fangst og et annet for drift.</a:t>
            </a:r>
            <a:endParaRPr lang="en-US" sz="1600" dirty="0"/>
          </a:p>
        </p:txBody>
      </p:sp>
      <p:sp>
        <p:nvSpPr>
          <p:cNvPr id="5" name="Ikon-sirkel"/>
          <p:cNvSpPr/>
          <p:nvPr/>
        </p:nvSpPr>
        <p:spPr>
          <a:xfrm>
            <a:off x="548640" y="2743200"/>
            <a:ext cx="548640" cy="548640"/>
          </a:xfrm>
          <a:prstGeom prst="ellipse">
            <a:avLst/>
          </a:prstGeom>
          <a:solidFill>
            <a:srgbClr val="0E7C86"/>
          </a:solidFill>
          <a:ln/>
        </p:spPr>
      </p:sp>
      <p:pic>
        <p:nvPicPr>
          <p:cNvPr id="6" name="Ikon FaFish" descr="preencoded.png">    </p:cNvPr>
          <p:cNvPicPr>
            <a:picLocks noChangeAspect="1"/>
          </p:cNvPicPr>
          <p:nvPr/>
        </p:nvPicPr>
        <p:blipFill>
          <a:blip r:embed="rId1"/>
          <a:stretch>
            <a:fillRect/>
          </a:stretch>
        </p:blipFill>
        <p:spPr>
          <a:xfrm>
            <a:off x="680314" y="2874874"/>
            <a:ext cx="285293" cy="285293"/>
          </a:xfrm>
          <a:prstGeom prst="rect">
            <a:avLst/>
          </a:prstGeom>
        </p:spPr>
      </p:pic>
      <p:sp>
        <p:nvSpPr>
          <p:cNvPr id="7" name="Text 4"/>
          <p:cNvSpPr txBox="1"/>
          <p:nvPr/>
        </p:nvSpPr>
        <p:spPr>
          <a:xfrm>
            <a:off x="1280160" y="270662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Fangst per hal og tur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Mengde, art, dyp og tid registreres om bord.</a:t>
            </a:r>
            <a:endParaRPr lang="en-US" sz="1600" dirty="0"/>
          </a:p>
        </p:txBody>
      </p:sp>
      <p:sp>
        <p:nvSpPr>
          <p:cNvPr id="8" name="Ikon-sirkel"/>
          <p:cNvSpPr/>
          <p:nvPr/>
        </p:nvSpPr>
        <p:spPr>
          <a:xfrm>
            <a:off x="548640" y="3520440"/>
            <a:ext cx="548640" cy="548640"/>
          </a:xfrm>
          <a:prstGeom prst="ellipse">
            <a:avLst/>
          </a:prstGeom>
          <a:solidFill>
            <a:srgbClr val="0E7C86"/>
          </a:solidFill>
          <a:ln/>
        </p:spPr>
      </p:sp>
      <p:pic>
        <p:nvPicPr>
          <p:cNvPr id="9" name="Ikon FaListCheck" descr="preencoded.png">    </p:cNvPr>
          <p:cNvPicPr>
            <a:picLocks noChangeAspect="1"/>
          </p:cNvPicPr>
          <p:nvPr/>
        </p:nvPicPr>
        <p:blipFill>
          <a:blip r:embed="rId2"/>
          <a:stretch>
            <a:fillRect/>
          </a:stretch>
        </p:blipFill>
        <p:spPr>
          <a:xfrm>
            <a:off x="680314" y="3652114"/>
            <a:ext cx="285293" cy="285293"/>
          </a:xfrm>
          <a:prstGeom prst="rect">
            <a:avLst/>
          </a:prstGeom>
        </p:spPr>
      </p:pic>
      <p:sp>
        <p:nvSpPr>
          <p:cNvPr id="10" name="Text 6"/>
          <p:cNvSpPr txBox="1"/>
          <p:nvPr/>
        </p:nvSpPr>
        <p:spPr>
          <a:xfrm>
            <a:off x="1280160" y="348386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Kvoter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Se hvor mye som er fisket og hva som gjenstår.</a:t>
            </a:r>
            <a:endParaRPr lang="en-US" sz="1600" dirty="0"/>
          </a:p>
        </p:txBody>
      </p:sp>
      <p:sp>
        <p:nvSpPr>
          <p:cNvPr id="11" name="Ikon-sirkel"/>
          <p:cNvSpPr/>
          <p:nvPr/>
        </p:nvSpPr>
        <p:spPr>
          <a:xfrm>
            <a:off x="548640" y="4297680"/>
            <a:ext cx="548640" cy="548640"/>
          </a:xfrm>
          <a:prstGeom prst="ellipse">
            <a:avLst/>
          </a:prstGeom>
          <a:solidFill>
            <a:srgbClr val="0E7C86"/>
          </a:solidFill>
          <a:ln/>
        </p:spPr>
      </p:sp>
      <p:pic>
        <p:nvPicPr>
          <p:cNvPr id="12" name="Ikon FaClipboardCheck" descr="preencoded.png">    </p:cNvPr>
          <p:cNvPicPr>
            <a:picLocks noChangeAspect="1"/>
          </p:cNvPicPr>
          <p:nvPr/>
        </p:nvPicPr>
        <p:blipFill>
          <a:blip r:embed="rId3"/>
          <a:stretch>
            <a:fillRect/>
          </a:stretch>
        </p:blipFill>
        <p:spPr>
          <a:xfrm>
            <a:off x="680314" y="4429354"/>
            <a:ext cx="285293" cy="285293"/>
          </a:xfrm>
          <a:prstGeom prst="rect">
            <a:avLst/>
          </a:prstGeom>
        </p:spPr>
      </p:pic>
      <p:sp>
        <p:nvSpPr>
          <p:cNvPr id="13" name="Text 8"/>
          <p:cNvSpPr txBox="1"/>
          <p:nvPr/>
        </p:nvSpPr>
        <p:spPr>
          <a:xfrm>
            <a:off x="1280160" y="426110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Rapportering og krav</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Oversikt over ERS, VMS, HACCP, bifangst og landingsdeklarasjoner.</a:t>
            </a:r>
            <a:endParaRPr lang="en-US" sz="1600" dirty="0"/>
          </a:p>
        </p:txBody>
      </p:sp>
      <p:sp>
        <p:nvSpPr>
          <p:cNvPr id="14" name="Ikon-sirkel"/>
          <p:cNvSpPr/>
          <p:nvPr/>
        </p:nvSpPr>
        <p:spPr>
          <a:xfrm>
            <a:off x="548640" y="5074920"/>
            <a:ext cx="548640" cy="548640"/>
          </a:xfrm>
          <a:prstGeom prst="ellipse">
            <a:avLst/>
          </a:prstGeom>
          <a:solidFill>
            <a:srgbClr val="0E7C86"/>
          </a:solidFill>
          <a:ln/>
        </p:spPr>
      </p:sp>
      <p:pic>
        <p:nvPicPr>
          <p:cNvPr id="15" name="Ikon FaRoute" descr="preencoded.png">    </p:cNvPr>
          <p:cNvPicPr>
            <a:picLocks noChangeAspect="1"/>
          </p:cNvPicPr>
          <p:nvPr/>
        </p:nvPicPr>
        <p:blipFill>
          <a:blip r:embed="rId4"/>
          <a:stretch>
            <a:fillRect/>
          </a:stretch>
        </p:blipFill>
        <p:spPr>
          <a:xfrm>
            <a:off x="680314" y="5206594"/>
            <a:ext cx="285293" cy="285293"/>
          </a:xfrm>
          <a:prstGeom prst="rect">
            <a:avLst/>
          </a:prstGeom>
        </p:spPr>
      </p:pic>
      <p:sp>
        <p:nvSpPr>
          <p:cNvPr id="16" name="Text 10"/>
          <p:cNvSpPr txBox="1"/>
          <p:nvPr/>
        </p:nvSpPr>
        <p:spPr>
          <a:xfrm>
            <a:off x="1280160" y="503834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Sporbarhet</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Følg fisken fra fangst til salg.</a:t>
            </a:r>
            <a:endParaRPr lang="en-US" sz="1600" dirty="0"/>
          </a:p>
        </p:txBody>
      </p:sp>
      <p:sp>
        <p:nvSpPr>
          <p:cNvPr id="17" name="SKJERMBILDE: Fiskerimodulen: fangst per hal eller samsvar (ERS, VMS, HACCP)"/>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8" name="Kamera" descr="preencoded.png">    </p:cNvPr>
          <p:cNvPicPr>
            <a:picLocks noChangeAspect="1"/>
          </p:cNvPicPr>
          <p:nvPr/>
        </p:nvPicPr>
        <p:blipFill>
          <a:blip r:embed="rId5"/>
          <a:stretch>
            <a:fillRect/>
          </a:stretch>
        </p:blipFill>
        <p:spPr>
          <a:xfrm>
            <a:off x="8633308" y="3108960"/>
            <a:ext cx="548640" cy="548640"/>
          </a:xfrm>
          <a:prstGeom prst="rect">
            <a:avLst/>
          </a:prstGeom>
        </p:spPr>
      </p:pic>
      <p:sp>
        <p:nvSpPr>
          <p:cNvPr id="19" name="Text 12"/>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Fiskerimodulen: fangst per hal eller samsvar (ERS, VMS, HACCP)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ARBEIDSFLYT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Fra feil til ferdig – uten at noe faller mellom stoler</a:t>
            </a:r>
            <a:endParaRPr lang="en-US" sz="3000" dirty="0"/>
          </a:p>
        </p:txBody>
      </p:sp>
      <p:sp>
        <p:nvSpPr>
          <p:cNvPr id="4" name="Kort"/>
          <p:cNvSpPr/>
          <p:nvPr/>
        </p:nvSpPr>
        <p:spPr>
          <a:xfrm>
            <a:off x="548640" y="1920240"/>
            <a:ext cx="2514600" cy="3291840"/>
          </a:xfrm>
          <a:prstGeom prst="roundRect">
            <a:avLst>
              <a:gd name="adj" fmla="val 4364"/>
            </a:avLst>
          </a:prstGeom>
          <a:solidFill>
            <a:srgbClr val="EEF3F6"/>
          </a:solidFill>
          <a:ln/>
        </p:spPr>
      </p:sp>
      <p:sp>
        <p:nvSpPr>
          <p:cNvPr id="5" name="Ikon-sirkel"/>
          <p:cNvSpPr/>
          <p:nvPr/>
        </p:nvSpPr>
        <p:spPr>
          <a:xfrm>
            <a:off x="1394460" y="2240280"/>
            <a:ext cx="822960" cy="822960"/>
          </a:xfrm>
          <a:prstGeom prst="ellipse">
            <a:avLst/>
          </a:prstGeom>
          <a:solidFill>
            <a:srgbClr val="0E7C86"/>
          </a:solidFill>
          <a:ln/>
        </p:spPr>
      </p:sp>
      <p:pic>
        <p:nvPicPr>
          <p:cNvPr id="6" name="Ikon FaBell" descr="preencoded.png">    </p:cNvPr>
          <p:cNvPicPr>
            <a:picLocks noChangeAspect="1"/>
          </p:cNvPicPr>
          <p:nvPr/>
        </p:nvPicPr>
        <p:blipFill>
          <a:blip r:embed="rId1"/>
          <a:stretch>
            <a:fillRect/>
          </a:stretch>
        </p:blipFill>
        <p:spPr>
          <a:xfrm>
            <a:off x="1591970" y="2437790"/>
            <a:ext cx="427939" cy="427939"/>
          </a:xfrm>
          <a:prstGeom prst="rect">
            <a:avLst/>
          </a:prstGeom>
        </p:spPr>
      </p:pic>
      <p:sp>
        <p:nvSpPr>
          <p:cNvPr id="7" name="Text 4"/>
          <p:cNvSpPr txBox="1"/>
          <p:nvPr/>
        </p:nvSpPr>
        <p:spPr>
          <a:xfrm>
            <a:off x="777240"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1. Meld feilen</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Registrer feilen om bord på noen sekunder.</a:t>
            </a:r>
            <a:endParaRPr lang="en-US" sz="1800" dirty="0"/>
          </a:p>
        </p:txBody>
      </p:sp>
      <p:pic>
        <p:nvPicPr>
          <p:cNvPr id="8" name="Image 1" descr="preencoded.png">    </p:cNvPr>
          <p:cNvPicPr>
            <a:picLocks noChangeAspect="1"/>
          </p:cNvPicPr>
          <p:nvPr/>
        </p:nvPicPr>
        <p:blipFill>
          <a:blip r:embed="rId2"/>
          <a:stretch>
            <a:fillRect/>
          </a:stretch>
        </p:blipFill>
        <p:spPr>
          <a:xfrm>
            <a:off x="3098749" y="3429000"/>
            <a:ext cx="274320" cy="274320"/>
          </a:xfrm>
          <a:prstGeom prst="rect">
            <a:avLst/>
          </a:prstGeom>
        </p:spPr>
      </p:pic>
      <p:sp>
        <p:nvSpPr>
          <p:cNvPr id="9" name="Kort"/>
          <p:cNvSpPr/>
          <p:nvPr/>
        </p:nvSpPr>
        <p:spPr>
          <a:xfrm>
            <a:off x="3408578" y="1920240"/>
            <a:ext cx="2514600" cy="3291840"/>
          </a:xfrm>
          <a:prstGeom prst="roundRect">
            <a:avLst>
              <a:gd name="adj" fmla="val 4364"/>
            </a:avLst>
          </a:prstGeom>
          <a:solidFill>
            <a:srgbClr val="EEF3F6"/>
          </a:solidFill>
          <a:ln/>
        </p:spPr>
      </p:sp>
      <p:sp>
        <p:nvSpPr>
          <p:cNvPr id="10" name="Ikon-sirkel"/>
          <p:cNvSpPr/>
          <p:nvPr/>
        </p:nvSpPr>
        <p:spPr>
          <a:xfrm>
            <a:off x="4254398" y="2240280"/>
            <a:ext cx="822960" cy="822960"/>
          </a:xfrm>
          <a:prstGeom prst="ellipse">
            <a:avLst/>
          </a:prstGeom>
          <a:solidFill>
            <a:srgbClr val="0E7C86"/>
          </a:solidFill>
          <a:ln/>
        </p:spPr>
      </p:sp>
      <p:pic>
        <p:nvPicPr>
          <p:cNvPr id="11" name="Ikon FaMagnifyingGlass" descr="preencoded.png">    </p:cNvPr>
          <p:cNvPicPr>
            <a:picLocks noChangeAspect="1"/>
          </p:cNvPicPr>
          <p:nvPr/>
        </p:nvPicPr>
        <p:blipFill>
          <a:blip r:embed="rId3"/>
          <a:stretch>
            <a:fillRect/>
          </a:stretch>
        </p:blipFill>
        <p:spPr>
          <a:xfrm>
            <a:off x="4451909" y="2437790"/>
            <a:ext cx="427939" cy="427939"/>
          </a:xfrm>
          <a:prstGeom prst="rect">
            <a:avLst/>
          </a:prstGeom>
        </p:spPr>
      </p:pic>
      <p:sp>
        <p:nvSpPr>
          <p:cNvPr id="12" name="Text 7"/>
          <p:cNvSpPr txBox="1"/>
          <p:nvPr/>
        </p:nvSpPr>
        <p:spPr>
          <a:xfrm>
            <a:off x="3637178"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2. Finn historikken</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KI-assistenten samler det dere vet fra før.</a:t>
            </a:r>
            <a:endParaRPr lang="en-US" sz="1800" dirty="0"/>
          </a:p>
        </p:txBody>
      </p:sp>
      <p:pic>
        <p:nvPicPr>
          <p:cNvPr id="13" name="Image 3" descr="preencoded.png">    </p:cNvPr>
          <p:cNvPicPr>
            <a:picLocks noChangeAspect="1"/>
          </p:cNvPicPr>
          <p:nvPr/>
        </p:nvPicPr>
        <p:blipFill>
          <a:blip r:embed="rId4"/>
          <a:stretch>
            <a:fillRect/>
          </a:stretch>
        </p:blipFill>
        <p:spPr>
          <a:xfrm>
            <a:off x="5958688" y="3429000"/>
            <a:ext cx="274320" cy="274320"/>
          </a:xfrm>
          <a:prstGeom prst="rect">
            <a:avLst/>
          </a:prstGeom>
        </p:spPr>
      </p:pic>
      <p:sp>
        <p:nvSpPr>
          <p:cNvPr id="14" name="Kort"/>
          <p:cNvSpPr/>
          <p:nvPr/>
        </p:nvSpPr>
        <p:spPr>
          <a:xfrm>
            <a:off x="6268517" y="1920240"/>
            <a:ext cx="2514600" cy="3291840"/>
          </a:xfrm>
          <a:prstGeom prst="roundRect">
            <a:avLst>
              <a:gd name="adj" fmla="val 4364"/>
            </a:avLst>
          </a:prstGeom>
          <a:solidFill>
            <a:srgbClr val="EEF3F6"/>
          </a:solidFill>
          <a:ln/>
        </p:spPr>
      </p:sp>
      <p:sp>
        <p:nvSpPr>
          <p:cNvPr id="15" name="Ikon-sirkel"/>
          <p:cNvSpPr/>
          <p:nvPr/>
        </p:nvSpPr>
        <p:spPr>
          <a:xfrm>
            <a:off x="7114337" y="2240280"/>
            <a:ext cx="822960" cy="822960"/>
          </a:xfrm>
          <a:prstGeom prst="ellipse">
            <a:avLst/>
          </a:prstGeom>
          <a:solidFill>
            <a:srgbClr val="0E7C86"/>
          </a:solidFill>
          <a:ln/>
        </p:spPr>
      </p:sp>
      <p:pic>
        <p:nvPicPr>
          <p:cNvPr id="16" name="Ikon FaUserGear" descr="preencoded.png">    </p:cNvPr>
          <p:cNvPicPr>
            <a:picLocks noChangeAspect="1"/>
          </p:cNvPicPr>
          <p:nvPr/>
        </p:nvPicPr>
        <p:blipFill>
          <a:blip r:embed="rId5"/>
          <a:stretch>
            <a:fillRect/>
          </a:stretch>
        </p:blipFill>
        <p:spPr>
          <a:xfrm>
            <a:off x="7311847" y="2437790"/>
            <a:ext cx="427939" cy="427939"/>
          </a:xfrm>
          <a:prstGeom prst="rect">
            <a:avLst/>
          </a:prstGeom>
        </p:spPr>
      </p:pic>
      <p:sp>
        <p:nvSpPr>
          <p:cNvPr id="17" name="Text 10"/>
          <p:cNvSpPr txBox="1"/>
          <p:nvPr/>
        </p:nvSpPr>
        <p:spPr>
          <a:xfrm>
            <a:off x="6497117"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3. Bestem og tildel</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Velg tiltak og gi oppgaven til riktig person.</a:t>
            </a:r>
            <a:endParaRPr lang="en-US" sz="1800" dirty="0"/>
          </a:p>
        </p:txBody>
      </p:sp>
      <p:pic>
        <p:nvPicPr>
          <p:cNvPr id="18" name="Image 5" descr="preencoded.png">    </p:cNvPr>
          <p:cNvPicPr>
            <a:picLocks noChangeAspect="1"/>
          </p:cNvPicPr>
          <p:nvPr/>
        </p:nvPicPr>
        <p:blipFill>
          <a:blip r:embed="rId6"/>
          <a:stretch>
            <a:fillRect/>
          </a:stretch>
        </p:blipFill>
        <p:spPr>
          <a:xfrm>
            <a:off x="8818626" y="3429000"/>
            <a:ext cx="274320" cy="274320"/>
          </a:xfrm>
          <a:prstGeom prst="rect">
            <a:avLst/>
          </a:prstGeom>
        </p:spPr>
      </p:pic>
      <p:sp>
        <p:nvSpPr>
          <p:cNvPr id="19" name="Kort"/>
          <p:cNvSpPr/>
          <p:nvPr/>
        </p:nvSpPr>
        <p:spPr>
          <a:xfrm>
            <a:off x="9128455" y="1920240"/>
            <a:ext cx="2514600" cy="3291840"/>
          </a:xfrm>
          <a:prstGeom prst="roundRect">
            <a:avLst>
              <a:gd name="adj" fmla="val 4364"/>
            </a:avLst>
          </a:prstGeom>
          <a:solidFill>
            <a:srgbClr val="0B1F33"/>
          </a:solidFill>
          <a:ln/>
        </p:spPr>
      </p:sp>
      <p:sp>
        <p:nvSpPr>
          <p:cNvPr id="20" name="Ikon-sirkel"/>
          <p:cNvSpPr/>
          <p:nvPr/>
        </p:nvSpPr>
        <p:spPr>
          <a:xfrm>
            <a:off x="9974275" y="2240280"/>
            <a:ext cx="822960" cy="822960"/>
          </a:xfrm>
          <a:prstGeom prst="ellipse">
            <a:avLst/>
          </a:prstGeom>
          <a:solidFill>
            <a:srgbClr val="0E7C86"/>
          </a:solidFill>
          <a:ln/>
        </p:spPr>
      </p:sp>
      <p:pic>
        <p:nvPicPr>
          <p:cNvPr id="21" name="Ikon FaListCheck" descr="preencoded.png">    </p:cNvPr>
          <p:cNvPicPr>
            <a:picLocks noChangeAspect="1"/>
          </p:cNvPicPr>
          <p:nvPr/>
        </p:nvPicPr>
        <p:blipFill>
          <a:blip r:embed="rId7"/>
          <a:stretch>
            <a:fillRect/>
          </a:stretch>
        </p:blipFill>
        <p:spPr>
          <a:xfrm>
            <a:off x="10171786" y="2437790"/>
            <a:ext cx="427939" cy="427939"/>
          </a:xfrm>
          <a:prstGeom prst="rect">
            <a:avLst/>
          </a:prstGeom>
        </p:spPr>
      </p:pic>
      <p:sp>
        <p:nvSpPr>
          <p:cNvPr id="22" name="Text 13"/>
          <p:cNvSpPr txBox="1"/>
          <p:nvPr/>
        </p:nvSpPr>
        <p:spPr>
          <a:xfrm>
            <a:off x="9357055" y="3291840"/>
            <a:ext cx="2057400" cy="1737360"/>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4. Følg opp og overlever</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DCE6EE"/>
                </a:solidFill>
                <a:latin typeface="Calibri" pitchFamily="34" charset="0"/>
                <a:ea typeface="Calibri" pitchFamily="34" charset="-122"/>
                <a:cs typeface="Calibri" pitchFamily="34" charset="-120"/>
              </a:rPr>
              <a:t>Neste skift og land ser status og ansvar.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MODULER</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Alt dere trenger – start med det viktigste</a:t>
            </a:r>
            <a:endParaRPr lang="en-US" sz="3000" dirty="0"/>
          </a:p>
        </p:txBody>
      </p:sp>
      <p:sp>
        <p:nvSpPr>
          <p:cNvPr id="4" name="Kort"/>
          <p:cNvSpPr/>
          <p:nvPr/>
        </p:nvSpPr>
        <p:spPr>
          <a:xfrm>
            <a:off x="548640" y="1828800"/>
            <a:ext cx="2567864" cy="3840480"/>
          </a:xfrm>
          <a:prstGeom prst="roundRect">
            <a:avLst>
              <a:gd name="adj" fmla="val 4273"/>
            </a:avLst>
          </a:prstGeom>
          <a:solidFill>
            <a:srgbClr val="EEF3F6"/>
          </a:solidFill>
          <a:ln/>
        </p:spPr>
      </p:sp>
      <p:sp>
        <p:nvSpPr>
          <p:cNvPr id="5" name="Ikon-sirkel"/>
          <p:cNvSpPr/>
          <p:nvPr/>
        </p:nvSpPr>
        <p:spPr>
          <a:xfrm>
            <a:off x="822960" y="2103120"/>
            <a:ext cx="640080" cy="640080"/>
          </a:xfrm>
          <a:prstGeom prst="ellipse">
            <a:avLst/>
          </a:prstGeom>
          <a:solidFill>
            <a:srgbClr val="0E7C86"/>
          </a:solidFill>
          <a:ln/>
        </p:spPr>
      </p:sp>
      <p:pic>
        <p:nvPicPr>
          <p:cNvPr id="6" name="Ikon FaGears"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822960"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Drift</a:t>
            </a:r>
            <a:endParaRPr lang="en-US" sz="1800" dirty="0"/>
          </a:p>
        </p:txBody>
      </p:sp>
      <p:sp>
        <p:nvSpPr>
          <p:cNvPr id="8" name="Text 5"/>
          <p:cNvSpPr txBox="1"/>
          <p:nvPr/>
        </p:nvSpPr>
        <p:spPr>
          <a:xfrm>
            <a:off x="822960"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Vedlikehold</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Innkjøp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Seilaser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Flåte</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Fiskeri: fangst, kvoter og rapportering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Mannskap</a:t>
            </a:r>
            <a:endParaRPr lang="en-US" sz="1500" dirty="0"/>
          </a:p>
        </p:txBody>
      </p:sp>
      <p:sp>
        <p:nvSpPr>
          <p:cNvPr id="9" name="Kort"/>
          <p:cNvSpPr/>
          <p:nvPr/>
        </p:nvSpPr>
        <p:spPr>
          <a:xfrm>
            <a:off x="3390824" y="1828800"/>
            <a:ext cx="2567864" cy="3840480"/>
          </a:xfrm>
          <a:prstGeom prst="roundRect">
            <a:avLst>
              <a:gd name="adj" fmla="val 4273"/>
            </a:avLst>
          </a:prstGeom>
          <a:solidFill>
            <a:srgbClr val="EEF3F6"/>
          </a:solidFill>
          <a:ln/>
        </p:spPr>
      </p:sp>
      <p:sp>
        <p:nvSpPr>
          <p:cNvPr id="10" name="Ikon-sirkel"/>
          <p:cNvSpPr/>
          <p:nvPr/>
        </p:nvSpPr>
        <p:spPr>
          <a:xfrm>
            <a:off x="3665144" y="2103120"/>
            <a:ext cx="640080" cy="640080"/>
          </a:xfrm>
          <a:prstGeom prst="ellipse">
            <a:avLst/>
          </a:prstGeom>
          <a:solidFill>
            <a:srgbClr val="0E7C86"/>
          </a:solidFill>
          <a:ln/>
        </p:spPr>
      </p:sp>
      <p:pic>
        <p:nvPicPr>
          <p:cNvPr id="11" name="Ikon FaShieldHalved" descr="preencoded.png">    </p:cNvPr>
          <p:cNvPicPr>
            <a:picLocks noChangeAspect="1"/>
          </p:cNvPicPr>
          <p:nvPr/>
        </p:nvPicPr>
        <p:blipFill>
          <a:blip r:embed="rId2"/>
          <a:stretch>
            <a:fillRect/>
          </a:stretch>
        </p:blipFill>
        <p:spPr>
          <a:xfrm>
            <a:off x="3818763" y="2256739"/>
            <a:ext cx="332842" cy="332842"/>
          </a:xfrm>
          <a:prstGeom prst="rect">
            <a:avLst/>
          </a:prstGeom>
        </p:spPr>
      </p:pic>
      <p:sp>
        <p:nvSpPr>
          <p:cNvPr id="12" name="Text 8"/>
          <p:cNvSpPr txBox="1"/>
          <p:nvPr/>
        </p:nvSpPr>
        <p:spPr>
          <a:xfrm>
            <a:off x="3665144"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Sikkerhet og krav</a:t>
            </a:r>
            <a:endParaRPr lang="en-US" sz="1800" dirty="0"/>
          </a:p>
        </p:txBody>
      </p:sp>
      <p:sp>
        <p:nvSpPr>
          <p:cNvPr id="13" name="Text 9"/>
          <p:cNvSpPr txBox="1"/>
          <p:nvPr/>
        </p:nvSpPr>
        <p:spPr>
          <a:xfrm>
            <a:off x="3665144"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Sikkerhet og kvalitet</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Utslipp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Medisin og kjemikalier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Dokumenter</a:t>
            </a:r>
            <a:endParaRPr lang="en-US" sz="1500" dirty="0"/>
          </a:p>
        </p:txBody>
      </p:sp>
      <p:sp>
        <p:nvSpPr>
          <p:cNvPr id="14" name="Kort"/>
          <p:cNvSpPr/>
          <p:nvPr/>
        </p:nvSpPr>
        <p:spPr>
          <a:xfrm>
            <a:off x="6233008" y="1828800"/>
            <a:ext cx="2567864" cy="3840480"/>
          </a:xfrm>
          <a:prstGeom prst="roundRect">
            <a:avLst>
              <a:gd name="adj" fmla="val 4273"/>
            </a:avLst>
          </a:prstGeom>
          <a:solidFill>
            <a:srgbClr val="EEF3F6"/>
          </a:solidFill>
          <a:ln/>
        </p:spPr>
      </p:sp>
      <p:sp>
        <p:nvSpPr>
          <p:cNvPr id="15" name="Ikon-sirkel"/>
          <p:cNvSpPr/>
          <p:nvPr/>
        </p:nvSpPr>
        <p:spPr>
          <a:xfrm>
            <a:off x="6507328" y="2103120"/>
            <a:ext cx="640080" cy="640080"/>
          </a:xfrm>
          <a:prstGeom prst="ellipse">
            <a:avLst/>
          </a:prstGeom>
          <a:solidFill>
            <a:srgbClr val="0E7C86"/>
          </a:solidFill>
          <a:ln/>
        </p:spPr>
      </p:sp>
      <p:pic>
        <p:nvPicPr>
          <p:cNvPr id="16" name="Ikon FaSackDollar" descr="preencoded.png">    </p:cNvPr>
          <p:cNvPicPr>
            <a:picLocks noChangeAspect="1"/>
          </p:cNvPicPr>
          <p:nvPr/>
        </p:nvPicPr>
        <p:blipFill>
          <a:blip r:embed="rId3"/>
          <a:stretch>
            <a:fillRect/>
          </a:stretch>
        </p:blipFill>
        <p:spPr>
          <a:xfrm>
            <a:off x="6660947" y="2256739"/>
            <a:ext cx="332842" cy="332842"/>
          </a:xfrm>
          <a:prstGeom prst="rect">
            <a:avLst/>
          </a:prstGeom>
        </p:spPr>
      </p:pic>
      <p:sp>
        <p:nvSpPr>
          <p:cNvPr id="17" name="Text 12"/>
          <p:cNvSpPr txBox="1"/>
          <p:nvPr/>
        </p:nvSpPr>
        <p:spPr>
          <a:xfrm>
            <a:off x="6507328"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Forretning</a:t>
            </a:r>
            <a:endParaRPr lang="en-US" sz="1800" dirty="0"/>
          </a:p>
        </p:txBody>
      </p:sp>
      <p:sp>
        <p:nvSpPr>
          <p:cNvPr id="18" name="Text 13"/>
          <p:cNvSpPr txBox="1"/>
          <p:nvPr/>
        </p:nvSpPr>
        <p:spPr>
          <a:xfrm>
            <a:off x="6507328"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Salg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Befraktning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Økonomi</a:t>
            </a:r>
            <a:endParaRPr lang="en-US" sz="1500" dirty="0"/>
          </a:p>
        </p:txBody>
      </p:sp>
      <p:sp>
        <p:nvSpPr>
          <p:cNvPr id="19" name="Kort"/>
          <p:cNvSpPr/>
          <p:nvPr/>
        </p:nvSpPr>
        <p:spPr>
          <a:xfrm>
            <a:off x="9075191" y="1828800"/>
            <a:ext cx="2567864" cy="3840480"/>
          </a:xfrm>
          <a:prstGeom prst="roundRect">
            <a:avLst>
              <a:gd name="adj" fmla="val 4273"/>
            </a:avLst>
          </a:prstGeom>
          <a:solidFill>
            <a:srgbClr val="0B1F33"/>
          </a:solidFill>
          <a:ln/>
        </p:spPr>
      </p:sp>
      <p:sp>
        <p:nvSpPr>
          <p:cNvPr id="20" name="Ikon-sirkel"/>
          <p:cNvSpPr/>
          <p:nvPr/>
        </p:nvSpPr>
        <p:spPr>
          <a:xfrm>
            <a:off x="9349511" y="2103120"/>
            <a:ext cx="640080" cy="640080"/>
          </a:xfrm>
          <a:prstGeom prst="ellipse">
            <a:avLst/>
          </a:prstGeom>
          <a:solidFill>
            <a:srgbClr val="0E7C86"/>
          </a:solidFill>
          <a:ln/>
        </p:spPr>
      </p:sp>
      <p:pic>
        <p:nvPicPr>
          <p:cNvPr id="21" name="Ikon FaBrain" descr="preencoded.png">    </p:cNvPr>
          <p:cNvPicPr>
            <a:picLocks noChangeAspect="1"/>
          </p:cNvPicPr>
          <p:nvPr/>
        </p:nvPicPr>
        <p:blipFill>
          <a:blip r:embed="rId4"/>
          <a:stretch>
            <a:fillRect/>
          </a:stretch>
        </p:blipFill>
        <p:spPr>
          <a:xfrm>
            <a:off x="9503131" y="2256739"/>
            <a:ext cx="332842" cy="332842"/>
          </a:xfrm>
          <a:prstGeom prst="rect">
            <a:avLst/>
          </a:prstGeom>
        </p:spPr>
      </p:pic>
      <p:sp>
        <p:nvSpPr>
          <p:cNvPr id="22" name="Text 16"/>
          <p:cNvSpPr txBox="1"/>
          <p:nvPr/>
        </p:nvSpPr>
        <p:spPr>
          <a:xfrm>
            <a:off x="9349511" y="2880360"/>
            <a:ext cx="2110664"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KI-assistent</a:t>
            </a:r>
            <a:endParaRPr lang="en-US" sz="1800" dirty="0"/>
          </a:p>
        </p:txBody>
      </p:sp>
      <p:sp>
        <p:nvSpPr>
          <p:cNvPr id="23" name="Text 17"/>
          <p:cNvSpPr txBox="1"/>
          <p:nvPr/>
        </p:nvSpPr>
        <p:spPr>
          <a:xfrm>
            <a:off x="9349511"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Svarer på spørsmål på tvers av alle modulene</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Varsler kommende vedlikeholdsbehov</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Viser alltid kilden</a:t>
            </a:r>
            <a:endParaRPr lang="en-US" sz="1500" dirty="0"/>
          </a:p>
        </p:txBody>
      </p:sp>
      <p:sp>
        <p:nvSpPr>
          <p:cNvPr id="24" name="Text 1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Start med vedlikehold på ett fartøy. Legg til moduler og fartøy når dere er klare.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HVORFOR BYTTE?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Hva dere får med Nautech som dere ikke har i dag</a:t>
            </a:r>
            <a:endParaRPr lang="en-US" sz="3000" dirty="0"/>
          </a:p>
        </p:txBody>
      </p:sp>
      <p:sp>
        <p:nvSpPr>
          <p:cNvPr id="4" name="Kort"/>
          <p:cNvSpPr/>
          <p:nvPr/>
        </p:nvSpPr>
        <p:spPr>
          <a:xfrm>
            <a:off x="548640" y="1828800"/>
            <a:ext cx="5410048" cy="3931920"/>
          </a:xfrm>
          <a:prstGeom prst="roundRect">
            <a:avLst>
              <a:gd name="adj" fmla="val 2791"/>
            </a:avLst>
          </a:prstGeom>
          <a:solidFill>
            <a:srgbClr val="EEF3F6"/>
          </a:solidFill>
          <a:ln/>
        </p:spPr>
      </p:sp>
      <p:sp>
        <p:nvSpPr>
          <p:cNvPr id="5" name="Kort"/>
          <p:cNvSpPr/>
          <p:nvPr/>
        </p:nvSpPr>
        <p:spPr>
          <a:xfrm>
            <a:off x="6233008" y="1828800"/>
            <a:ext cx="5410048" cy="3931920"/>
          </a:xfrm>
          <a:prstGeom prst="roundRect">
            <a:avLst>
              <a:gd name="adj" fmla="val 2791"/>
            </a:avLst>
          </a:prstGeom>
          <a:solidFill>
            <a:srgbClr val="0B1F33"/>
          </a:solidFill>
          <a:ln/>
        </p:spPr>
      </p:sp>
      <p:sp>
        <p:nvSpPr>
          <p:cNvPr id="6" name="Text 4"/>
          <p:cNvSpPr txBox="1"/>
          <p:nvPr/>
        </p:nvSpPr>
        <p:spPr>
          <a:xfrm>
            <a:off x="914400" y="2011680"/>
            <a:ext cx="4678528" cy="365760"/>
          </a:xfrm>
          <a:prstGeom prst="rect">
            <a:avLst/>
          </a:prstGeom>
          <a:noFill/>
          <a:ln/>
        </p:spPr>
        <p:txBody>
          <a:bodyPr wrap="square" lIns="0" tIns="0" rIns="0" bIns="0" rtlCol="0" anchor="t"/>
          <a:lstStyle/>
          <a:p>
            <a:pPr indent="0" marL="0">
              <a:buNone/>
            </a:pPr>
            <a:r>
              <a:rPr lang="en-US" sz="1300" b="1" spc="200" kern="0" dirty="0">
                <a:solidFill>
                  <a:srgbClr val="5B6B7A"/>
                </a:solidFill>
                <a:latin typeface="Calibri" pitchFamily="34" charset="0"/>
                <a:ea typeface="Calibri" pitchFamily="34" charset="-122"/>
                <a:cs typeface="Calibri" pitchFamily="34" charset="-120"/>
              </a:rPr>
              <a:t>TYPISK I DAG</a:t>
            </a:r>
            <a:endParaRPr lang="en-US" sz="1300" dirty="0"/>
          </a:p>
        </p:txBody>
      </p:sp>
      <p:sp>
        <p:nvSpPr>
          <p:cNvPr id="7" name="Text 5"/>
          <p:cNvSpPr txBox="1"/>
          <p:nvPr/>
        </p:nvSpPr>
        <p:spPr>
          <a:xfrm>
            <a:off x="6598768" y="2011680"/>
            <a:ext cx="4678528" cy="365760"/>
          </a:xfrm>
          <a:prstGeom prst="rect">
            <a:avLst/>
          </a:prstGeom>
          <a:noFill/>
          <a:ln/>
        </p:spPr>
        <p:txBody>
          <a:bodyPr wrap="square" lIns="0" tIns="0" rIns="0" bIns="0" rtlCol="0" anchor="t"/>
          <a:lstStyle/>
          <a:p>
            <a:pPr indent="0" marL="0">
              <a:buNone/>
            </a:pPr>
            <a:r>
              <a:rPr lang="en-US" sz="1300" b="1" spc="200" kern="0" dirty="0">
                <a:solidFill>
                  <a:srgbClr val="7FD1D6"/>
                </a:solidFill>
                <a:latin typeface="Calibri" pitchFamily="34" charset="0"/>
                <a:ea typeface="Calibri" pitchFamily="34" charset="-122"/>
                <a:cs typeface="Calibri" pitchFamily="34" charset="-120"/>
              </a:rPr>
              <a:t>MED NAUTECH</a:t>
            </a:r>
            <a:endParaRPr lang="en-US" sz="1300" dirty="0"/>
          </a:p>
        </p:txBody>
      </p:sp>
      <p:sp>
        <p:nvSpPr>
          <p:cNvPr id="8" name="Ikon-sirkel"/>
          <p:cNvSpPr/>
          <p:nvPr/>
        </p:nvSpPr>
        <p:spPr>
          <a:xfrm>
            <a:off x="914400" y="2560320"/>
            <a:ext cx="384048" cy="384048"/>
          </a:xfrm>
          <a:prstGeom prst="ellipse">
            <a:avLst/>
          </a:prstGeom>
          <a:solidFill>
            <a:srgbClr val="DDE7EE"/>
          </a:solidFill>
          <a:ln/>
        </p:spPr>
      </p:sp>
      <p:pic>
        <p:nvPicPr>
          <p:cNvPr id="9" name="Ikon FaXmark" descr="preencoded.png">    </p:cNvPr>
          <p:cNvPicPr>
            <a:picLocks noChangeAspect="1"/>
          </p:cNvPicPr>
          <p:nvPr/>
        </p:nvPicPr>
        <p:blipFill>
          <a:blip r:embed="rId1"/>
          <a:stretch>
            <a:fillRect/>
          </a:stretch>
        </p:blipFill>
        <p:spPr>
          <a:xfrm>
            <a:off x="1006572" y="2652492"/>
            <a:ext cx="199705" cy="199705"/>
          </a:xfrm>
          <a:prstGeom prst="rect">
            <a:avLst/>
          </a:prstGeom>
        </p:spPr>
      </p:pic>
      <p:sp>
        <p:nvSpPr>
          <p:cNvPr id="10" name="Text 7"/>
          <p:cNvSpPr txBox="1"/>
          <p:nvPr/>
        </p:nvSpPr>
        <p:spPr>
          <a:xfrm>
            <a:off x="1463040" y="256032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Flere systemer og regneark</a:t>
            </a:r>
            <a:endParaRPr lang="en-US" sz="1600" dirty="0"/>
          </a:p>
        </p:txBody>
      </p:sp>
      <p:sp>
        <p:nvSpPr>
          <p:cNvPr id="11" name="Ikon-sirkel"/>
          <p:cNvSpPr/>
          <p:nvPr/>
        </p:nvSpPr>
        <p:spPr>
          <a:xfrm>
            <a:off x="6598768" y="2560320"/>
            <a:ext cx="384048" cy="384048"/>
          </a:xfrm>
          <a:prstGeom prst="ellipse">
            <a:avLst/>
          </a:prstGeom>
          <a:solidFill>
            <a:srgbClr val="0E7C86"/>
          </a:solidFill>
          <a:ln/>
        </p:spPr>
      </p:sp>
      <p:pic>
        <p:nvPicPr>
          <p:cNvPr id="12" name="Ikon FaCheck" descr="preencoded.png">    </p:cNvPr>
          <p:cNvPicPr>
            <a:picLocks noChangeAspect="1"/>
          </p:cNvPicPr>
          <p:nvPr/>
        </p:nvPicPr>
        <p:blipFill>
          <a:blip r:embed="rId2"/>
          <a:stretch>
            <a:fillRect/>
          </a:stretch>
        </p:blipFill>
        <p:spPr>
          <a:xfrm>
            <a:off x="6690939" y="2652492"/>
            <a:ext cx="199705" cy="199705"/>
          </a:xfrm>
          <a:prstGeom prst="rect">
            <a:avLst/>
          </a:prstGeom>
        </p:spPr>
      </p:pic>
      <p:sp>
        <p:nvSpPr>
          <p:cNvPr id="13" name="Text 9"/>
          <p:cNvSpPr txBox="1"/>
          <p:nvPr/>
        </p:nvSpPr>
        <p:spPr>
          <a:xfrm>
            <a:off x="7147408" y="256032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Ett system for hele driften</a:t>
            </a:r>
            <a:endParaRPr lang="en-US" sz="1600" dirty="0"/>
          </a:p>
        </p:txBody>
      </p:sp>
      <p:sp>
        <p:nvSpPr>
          <p:cNvPr id="14" name="Ikon-sirkel"/>
          <p:cNvSpPr/>
          <p:nvPr/>
        </p:nvSpPr>
        <p:spPr>
          <a:xfrm>
            <a:off x="914400" y="3337560"/>
            <a:ext cx="384048" cy="384048"/>
          </a:xfrm>
          <a:prstGeom prst="ellipse">
            <a:avLst/>
          </a:prstGeom>
          <a:solidFill>
            <a:srgbClr val="DDE7EE"/>
          </a:solidFill>
          <a:ln/>
        </p:spPr>
      </p:sp>
      <p:pic>
        <p:nvPicPr>
          <p:cNvPr id="15" name="Ikon FaXmark" descr="preencoded.png">    </p:cNvPr>
          <p:cNvPicPr>
            <a:picLocks noChangeAspect="1"/>
          </p:cNvPicPr>
          <p:nvPr/>
        </p:nvPicPr>
        <p:blipFill>
          <a:blip r:embed="rId3"/>
          <a:stretch>
            <a:fillRect/>
          </a:stretch>
        </p:blipFill>
        <p:spPr>
          <a:xfrm>
            <a:off x="1006572" y="3429732"/>
            <a:ext cx="199705" cy="199705"/>
          </a:xfrm>
          <a:prstGeom prst="rect">
            <a:avLst/>
          </a:prstGeom>
        </p:spPr>
      </p:pic>
      <p:sp>
        <p:nvSpPr>
          <p:cNvPr id="16" name="Text 11"/>
          <p:cNvSpPr txBox="1"/>
          <p:nvPr/>
        </p:nvSpPr>
        <p:spPr>
          <a:xfrm>
            <a:off x="1463040" y="333756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Leting i historikk, e-post og permer</a:t>
            </a:r>
            <a:endParaRPr lang="en-US" sz="1600" dirty="0"/>
          </a:p>
        </p:txBody>
      </p:sp>
      <p:sp>
        <p:nvSpPr>
          <p:cNvPr id="17" name="Ikon-sirkel"/>
          <p:cNvSpPr/>
          <p:nvPr/>
        </p:nvSpPr>
        <p:spPr>
          <a:xfrm>
            <a:off x="6598768" y="3337560"/>
            <a:ext cx="384048" cy="384048"/>
          </a:xfrm>
          <a:prstGeom prst="ellipse">
            <a:avLst/>
          </a:prstGeom>
          <a:solidFill>
            <a:srgbClr val="0E7C86"/>
          </a:solidFill>
          <a:ln/>
        </p:spPr>
      </p:sp>
      <p:pic>
        <p:nvPicPr>
          <p:cNvPr id="18" name="Ikon FaCheck" descr="preencoded.png">    </p:cNvPr>
          <p:cNvPicPr>
            <a:picLocks noChangeAspect="1"/>
          </p:cNvPicPr>
          <p:nvPr/>
        </p:nvPicPr>
        <p:blipFill>
          <a:blip r:embed="rId4"/>
          <a:stretch>
            <a:fillRect/>
          </a:stretch>
        </p:blipFill>
        <p:spPr>
          <a:xfrm>
            <a:off x="6690939" y="3429732"/>
            <a:ext cx="199705" cy="199705"/>
          </a:xfrm>
          <a:prstGeom prst="rect">
            <a:avLst/>
          </a:prstGeom>
        </p:spPr>
      </p:pic>
      <p:sp>
        <p:nvSpPr>
          <p:cNvPr id="19" name="Text 13"/>
          <p:cNvSpPr txBox="1"/>
          <p:nvPr/>
        </p:nvSpPr>
        <p:spPr>
          <a:xfrm>
            <a:off x="7147408" y="333756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Spør og få svar med kilde</a:t>
            </a:r>
            <a:endParaRPr lang="en-US" sz="1600" dirty="0"/>
          </a:p>
        </p:txBody>
      </p:sp>
      <p:sp>
        <p:nvSpPr>
          <p:cNvPr id="20" name="Ikon-sirkel"/>
          <p:cNvSpPr/>
          <p:nvPr/>
        </p:nvSpPr>
        <p:spPr>
          <a:xfrm>
            <a:off x="914400" y="4114800"/>
            <a:ext cx="384048" cy="384048"/>
          </a:xfrm>
          <a:prstGeom prst="ellipse">
            <a:avLst/>
          </a:prstGeom>
          <a:solidFill>
            <a:srgbClr val="DDE7EE"/>
          </a:solidFill>
          <a:ln/>
        </p:spPr>
      </p:sp>
      <p:pic>
        <p:nvPicPr>
          <p:cNvPr id="21" name="Ikon FaXmark" descr="preencoded.png">    </p:cNvPr>
          <p:cNvPicPr>
            <a:picLocks noChangeAspect="1"/>
          </p:cNvPicPr>
          <p:nvPr/>
        </p:nvPicPr>
        <p:blipFill>
          <a:blip r:embed="rId5"/>
          <a:stretch>
            <a:fillRect/>
          </a:stretch>
        </p:blipFill>
        <p:spPr>
          <a:xfrm>
            <a:off x="1006572" y="4206972"/>
            <a:ext cx="199705" cy="199705"/>
          </a:xfrm>
          <a:prstGeom prst="rect">
            <a:avLst/>
          </a:prstGeom>
        </p:spPr>
      </p:pic>
      <p:sp>
        <p:nvSpPr>
          <p:cNvPr id="22" name="Text 15"/>
          <p:cNvSpPr txBox="1"/>
          <p:nvPr/>
        </p:nvSpPr>
        <p:spPr>
          <a:xfrm>
            <a:off x="1463040" y="411480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Status kommer frem på telefon og e-post</a:t>
            </a:r>
            <a:endParaRPr lang="en-US" sz="1600" dirty="0"/>
          </a:p>
        </p:txBody>
      </p:sp>
      <p:sp>
        <p:nvSpPr>
          <p:cNvPr id="23" name="Ikon-sirkel"/>
          <p:cNvSpPr/>
          <p:nvPr/>
        </p:nvSpPr>
        <p:spPr>
          <a:xfrm>
            <a:off x="6598768" y="4114800"/>
            <a:ext cx="384048" cy="384048"/>
          </a:xfrm>
          <a:prstGeom prst="ellipse">
            <a:avLst/>
          </a:prstGeom>
          <a:solidFill>
            <a:srgbClr val="0E7C86"/>
          </a:solidFill>
          <a:ln/>
        </p:spPr>
      </p:sp>
      <p:pic>
        <p:nvPicPr>
          <p:cNvPr id="24" name="Ikon FaCheck" descr="preencoded.png">    </p:cNvPr>
          <p:cNvPicPr>
            <a:picLocks noChangeAspect="1"/>
          </p:cNvPicPr>
          <p:nvPr/>
        </p:nvPicPr>
        <p:blipFill>
          <a:blip r:embed="rId6"/>
          <a:stretch>
            <a:fillRect/>
          </a:stretch>
        </p:blipFill>
        <p:spPr>
          <a:xfrm>
            <a:off x="6690939" y="4206972"/>
            <a:ext cx="199705" cy="199705"/>
          </a:xfrm>
          <a:prstGeom prst="rect">
            <a:avLst/>
          </a:prstGeom>
        </p:spPr>
      </p:pic>
      <p:sp>
        <p:nvSpPr>
          <p:cNvPr id="25" name="Text 17"/>
          <p:cNvSpPr txBox="1"/>
          <p:nvPr/>
        </p:nvSpPr>
        <p:spPr>
          <a:xfrm>
            <a:off x="7147408" y="411480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Samme oversikt om bord og på land</a:t>
            </a:r>
            <a:endParaRPr lang="en-US" sz="1600" dirty="0"/>
          </a:p>
        </p:txBody>
      </p:sp>
      <p:sp>
        <p:nvSpPr>
          <p:cNvPr id="26" name="Ikon-sirkel"/>
          <p:cNvSpPr/>
          <p:nvPr/>
        </p:nvSpPr>
        <p:spPr>
          <a:xfrm>
            <a:off x="914400" y="4892040"/>
            <a:ext cx="384048" cy="384048"/>
          </a:xfrm>
          <a:prstGeom prst="ellipse">
            <a:avLst/>
          </a:prstGeom>
          <a:solidFill>
            <a:srgbClr val="DDE7EE"/>
          </a:solidFill>
          <a:ln/>
        </p:spPr>
      </p:sp>
      <p:pic>
        <p:nvPicPr>
          <p:cNvPr id="27" name="Ikon FaXmark" descr="preencoded.png">    </p:cNvPr>
          <p:cNvPicPr>
            <a:picLocks noChangeAspect="1"/>
          </p:cNvPicPr>
          <p:nvPr/>
        </p:nvPicPr>
        <p:blipFill>
          <a:blip r:embed="rId7"/>
          <a:stretch>
            <a:fillRect/>
          </a:stretch>
        </p:blipFill>
        <p:spPr>
          <a:xfrm>
            <a:off x="1006572" y="4984212"/>
            <a:ext cx="199705" cy="199705"/>
          </a:xfrm>
          <a:prstGeom prst="rect">
            <a:avLst/>
          </a:prstGeom>
        </p:spPr>
      </p:pic>
      <p:sp>
        <p:nvSpPr>
          <p:cNvPr id="28" name="Text 19"/>
          <p:cNvSpPr txBox="1"/>
          <p:nvPr/>
        </p:nvSpPr>
        <p:spPr>
          <a:xfrm>
            <a:off x="1463040" y="489204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Generelle systemer for mange typer skip</a:t>
            </a:r>
            <a:endParaRPr lang="en-US" sz="1600" dirty="0"/>
          </a:p>
        </p:txBody>
      </p:sp>
      <p:sp>
        <p:nvSpPr>
          <p:cNvPr id="29" name="Ikon-sirkel"/>
          <p:cNvSpPr/>
          <p:nvPr/>
        </p:nvSpPr>
        <p:spPr>
          <a:xfrm>
            <a:off x="6598768" y="4892040"/>
            <a:ext cx="384048" cy="384048"/>
          </a:xfrm>
          <a:prstGeom prst="ellipse">
            <a:avLst/>
          </a:prstGeom>
          <a:solidFill>
            <a:srgbClr val="0E7C86"/>
          </a:solidFill>
          <a:ln/>
        </p:spPr>
      </p:sp>
      <p:pic>
        <p:nvPicPr>
          <p:cNvPr id="30" name="Ikon FaCheck" descr="preencoded.png">    </p:cNvPr>
          <p:cNvPicPr>
            <a:picLocks noChangeAspect="1"/>
          </p:cNvPicPr>
          <p:nvPr/>
        </p:nvPicPr>
        <p:blipFill>
          <a:blip r:embed="rId8"/>
          <a:stretch>
            <a:fillRect/>
          </a:stretch>
        </p:blipFill>
        <p:spPr>
          <a:xfrm>
            <a:off x="6690939" y="4984212"/>
            <a:ext cx="199705" cy="199705"/>
          </a:xfrm>
          <a:prstGeom prst="rect">
            <a:avLst/>
          </a:prstGeom>
        </p:spPr>
      </p:pic>
      <p:sp>
        <p:nvSpPr>
          <p:cNvPr id="31" name="Text 21"/>
          <p:cNvSpPr txBox="1"/>
          <p:nvPr/>
        </p:nvSpPr>
        <p:spPr>
          <a:xfrm>
            <a:off x="7147408" y="489204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Laget for fiskefartøy, av folk fra fiskeflåten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SLIK BYTTER DERE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Trygt bytte – ett fartøy om gangen</a:t>
            </a:r>
            <a:endParaRPr lang="en-US" sz="3000" dirty="0"/>
          </a:p>
        </p:txBody>
      </p:sp>
      <p:sp>
        <p:nvSpPr>
          <p:cNvPr id="4" name="Shape 2"/>
          <p:cNvSpPr/>
          <p:nvPr/>
        </p:nvSpPr>
        <p:spPr>
          <a:xfrm>
            <a:off x="548640" y="1828800"/>
            <a:ext cx="566928" cy="566928"/>
          </a:xfrm>
          <a:prstGeom prst="ellipse">
            <a:avLst/>
          </a:prstGeom>
          <a:solidFill>
            <a:srgbClr val="0E7C86"/>
          </a:solidFill>
          <a:ln/>
        </p:spPr>
      </p:sp>
      <p:sp>
        <p:nvSpPr>
          <p:cNvPr id="5" name="Text 3"/>
          <p:cNvSpPr txBox="1"/>
          <p:nvPr/>
        </p:nvSpPr>
        <p:spPr>
          <a:xfrm>
            <a:off x="548640" y="18288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1371600" y="1783080"/>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Kartlegging</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Vi går gjennom dagens system, utstyrsliste og rutiner sammen med dere.</a:t>
            </a:r>
            <a:endParaRPr lang="en-US" sz="1700" dirty="0"/>
          </a:p>
        </p:txBody>
      </p:sp>
      <p:sp>
        <p:nvSpPr>
          <p:cNvPr id="7" name="Shape 5"/>
          <p:cNvSpPr/>
          <p:nvPr/>
        </p:nvSpPr>
        <p:spPr>
          <a:xfrm>
            <a:off x="548640" y="2816352"/>
            <a:ext cx="566928" cy="566928"/>
          </a:xfrm>
          <a:prstGeom prst="ellipse">
            <a:avLst/>
          </a:prstGeom>
          <a:solidFill>
            <a:srgbClr val="0E7C86"/>
          </a:solidFill>
          <a:ln/>
        </p:spPr>
      </p:sp>
      <p:sp>
        <p:nvSpPr>
          <p:cNvPr id="8" name="Text 6"/>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1371600" y="2770632"/>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Overføring av data</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Utstyrsliste, mannskap og historikk flyttes over fra dagens system med import fra regneark. </a:t>
            </a:r>
            <a:pPr indent="0" marL="0">
              <a:buNone/>
            </a:pPr>
            <a:r>
              <a:rPr lang="en-US" sz="1500" b="1" dirty="0">
                <a:solidFill>
                  <a:srgbClr val="E8751A"/>
                </a:solidFill>
                <a:latin typeface="Calibri" pitchFamily="34" charset="0"/>
                <a:ea typeface="Calibri" pitchFamily="34" charset="-122"/>
                <a:cs typeface="Calibri" pitchFamily="34" charset="-120"/>
              </a:rPr>
              <a:t>[FYLL INN: bekreft hvem som gjør jobben]</a:t>
            </a:r>
            <a:endParaRPr lang="en-US" sz="1700" dirty="0"/>
          </a:p>
        </p:txBody>
      </p:sp>
      <p:sp>
        <p:nvSpPr>
          <p:cNvPr id="10" name="Shape 8"/>
          <p:cNvSpPr/>
          <p:nvPr/>
        </p:nvSpPr>
        <p:spPr>
          <a:xfrm>
            <a:off x="548640" y="3803904"/>
            <a:ext cx="566928" cy="566928"/>
          </a:xfrm>
          <a:prstGeom prst="ellipse">
            <a:avLst/>
          </a:prstGeom>
          <a:solidFill>
            <a:srgbClr val="0E7C86"/>
          </a:solidFill>
          <a:ln/>
        </p:spPr>
      </p:sp>
      <p:sp>
        <p:nvSpPr>
          <p:cNvPr id="11" name="Text 9"/>
          <p:cNvSpPr txBox="1"/>
          <p:nvPr/>
        </p:nvSpPr>
        <p:spPr>
          <a:xfrm>
            <a:off x="548640" y="3803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2" name="Text 10"/>
          <p:cNvSpPr txBox="1"/>
          <p:nvPr/>
        </p:nvSpPr>
        <p:spPr>
          <a:xfrm>
            <a:off x="1371600" y="3758184"/>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Pilot på ett fartøy</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Seks uker med mål dere har satt på forhånd. Dagens system kan gå parallelt.</a:t>
            </a:r>
            <a:endParaRPr lang="en-US" sz="1700" dirty="0"/>
          </a:p>
        </p:txBody>
      </p:sp>
      <p:sp>
        <p:nvSpPr>
          <p:cNvPr id="13" name="Shape 11"/>
          <p:cNvSpPr/>
          <p:nvPr/>
        </p:nvSpPr>
        <p:spPr>
          <a:xfrm>
            <a:off x="548640" y="4791456"/>
            <a:ext cx="566928" cy="566928"/>
          </a:xfrm>
          <a:prstGeom prst="ellipse">
            <a:avLst/>
          </a:prstGeom>
          <a:solidFill>
            <a:srgbClr val="0E7C86"/>
          </a:solidFill>
          <a:ln/>
        </p:spPr>
      </p:sp>
      <p:sp>
        <p:nvSpPr>
          <p:cNvPr id="14" name="Text 12"/>
          <p:cNvSpPr txBox="1"/>
          <p:nvPr/>
        </p:nvSpPr>
        <p:spPr>
          <a:xfrm>
            <a:off x="548640" y="479145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5" name="Text 13"/>
          <p:cNvSpPr txBox="1"/>
          <p:nvPr/>
        </p:nvSpPr>
        <p:spPr>
          <a:xfrm>
            <a:off x="1371600" y="4745736"/>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Resten av flåten</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Dere bestemmer om og når flere fartøy skal over.</a:t>
            </a:r>
            <a:endParaRPr lang="en-US" sz="1700" dirty="0"/>
          </a:p>
        </p:txBody>
      </p:sp>
      <p:sp>
        <p:nvSpPr>
          <p:cNvPr id="16" name="Kort"/>
          <p:cNvSpPr/>
          <p:nvPr/>
        </p:nvSpPr>
        <p:spPr>
          <a:xfrm>
            <a:off x="7543800" y="1828800"/>
            <a:ext cx="4099255" cy="3931920"/>
          </a:xfrm>
          <a:prstGeom prst="roundRect">
            <a:avLst>
              <a:gd name="adj" fmla="val 2791"/>
            </a:avLst>
          </a:prstGeom>
          <a:solidFill>
            <a:srgbClr val="0B1F33"/>
          </a:solidFill>
          <a:ln/>
        </p:spPr>
      </p:sp>
      <p:sp>
        <p:nvSpPr>
          <p:cNvPr id="17" name="Ikon-sirkel"/>
          <p:cNvSpPr/>
          <p:nvPr/>
        </p:nvSpPr>
        <p:spPr>
          <a:xfrm>
            <a:off x="7863840" y="2103120"/>
            <a:ext cx="640080" cy="640080"/>
          </a:xfrm>
          <a:prstGeom prst="ellipse">
            <a:avLst/>
          </a:prstGeom>
          <a:solidFill>
            <a:srgbClr val="0E7C86"/>
          </a:solidFill>
          <a:ln/>
        </p:spPr>
      </p:sp>
      <p:pic>
        <p:nvPicPr>
          <p:cNvPr id="18" name="Ikon FaLock" descr="preencoded.png">    </p:cNvPr>
          <p:cNvPicPr>
            <a:picLocks noChangeAspect="1"/>
          </p:cNvPicPr>
          <p:nvPr/>
        </p:nvPicPr>
        <p:blipFill>
          <a:blip r:embed="rId1"/>
          <a:stretch>
            <a:fillRect/>
          </a:stretch>
        </p:blipFill>
        <p:spPr>
          <a:xfrm>
            <a:off x="8017459" y="2256739"/>
            <a:ext cx="332842" cy="332842"/>
          </a:xfrm>
          <a:prstGeom prst="rect">
            <a:avLst/>
          </a:prstGeom>
        </p:spPr>
      </p:pic>
      <p:sp>
        <p:nvSpPr>
          <p:cNvPr id="19" name="Text 16"/>
          <p:cNvSpPr txBox="1"/>
          <p:nvPr/>
        </p:nvSpPr>
        <p:spPr>
          <a:xfrm>
            <a:off x="8686800" y="2103120"/>
            <a:ext cx="2727655" cy="6400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Dataene deres</a:t>
            </a:r>
            <a:endParaRPr lang="en-US" sz="2000" dirty="0"/>
          </a:p>
        </p:txBody>
      </p:sp>
      <p:sp>
        <p:nvSpPr>
          <p:cNvPr id="20" name="Text 17"/>
          <p:cNvSpPr txBox="1"/>
          <p:nvPr/>
        </p:nvSpPr>
        <p:spPr>
          <a:xfrm>
            <a:off x="7863840" y="3017520"/>
            <a:ext cx="3459175" cy="2560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Lagres i Norge/EU</a:t>
            </a: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Brukes aldri til å trene KI-modeller</a:t>
            </a: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Dere eier dataene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bekreft]</a:t>
            </a:r>
            <a:pPr indent="0" marL="0">
              <a:spcAft>
                <a:spcPts val="800"/>
              </a:spcAft>
              <a:buNone/>
            </a:pP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Kan eksporteres hvis dere avslutter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bekreft]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PRIS</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Én fast pris per fartøy</a:t>
            </a:r>
            <a:endParaRPr lang="en-US" sz="3000" dirty="0"/>
          </a:p>
        </p:txBody>
      </p:sp>
      <p:sp>
        <p:nvSpPr>
          <p:cNvPr id="4" name="Text 2"/>
          <p:cNvSpPr txBox="1"/>
          <p:nvPr/>
        </p:nvSpPr>
        <p:spPr>
          <a:xfrm>
            <a:off x="548640" y="1828800"/>
            <a:ext cx="5486400" cy="1645920"/>
          </a:xfrm>
          <a:prstGeom prst="rect">
            <a:avLst/>
          </a:prstGeom>
          <a:noFill/>
          <a:ln/>
        </p:spPr>
        <p:txBody>
          <a:bodyPr wrap="square" lIns="0" tIns="0" rIns="0" bIns="0" rtlCol="0" anchor="t"/>
          <a:lstStyle/>
          <a:p>
            <a:pPr indent="0" marL="0">
              <a:buNone/>
            </a:pPr>
            <a:r>
              <a:rPr lang="en-US" sz="6000" b="1" dirty="0">
                <a:solidFill>
                  <a:srgbClr val="0E7C86"/>
                </a:solidFill>
                <a:latin typeface="Arial" pitchFamily="34" charset="0"/>
                <a:ea typeface="Arial" pitchFamily="34" charset="-122"/>
                <a:cs typeface="Arial" pitchFamily="34" charset="-120"/>
              </a:rPr>
              <a:t>10 000 kr</a:t>
            </a:r>
            <a:endParaRPr lang="en-US" sz="6000" dirty="0"/>
          </a:p>
          <a:p>
            <a:pPr indent="0" marL="0">
              <a:buNone/>
            </a:pPr>
            <a:r>
              <a:rPr lang="en-US" sz="2000" dirty="0">
                <a:solidFill>
                  <a:srgbClr val="0B1F33"/>
                </a:solidFill>
                <a:latin typeface="Calibri" pitchFamily="34" charset="0"/>
                <a:ea typeface="Calibri" pitchFamily="34" charset="-122"/>
                <a:cs typeface="Calibri" pitchFamily="34" charset="-120"/>
              </a:rPr>
              <a:t>per fartøy per måned, ekskl. mva.</a:t>
            </a:r>
            <a:endParaRPr lang="en-US" sz="6000" dirty="0"/>
          </a:p>
        </p:txBody>
      </p:sp>
      <p:sp>
        <p:nvSpPr>
          <p:cNvPr id="5" name="Text 3"/>
          <p:cNvSpPr txBox="1"/>
          <p:nvPr/>
        </p:nvSpPr>
        <p:spPr>
          <a:xfrm>
            <a:off x="548640" y="3703320"/>
            <a:ext cx="5486400" cy="146304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Til sammenligning: </a:t>
            </a:r>
            <a:pPr indent="0" marL="0">
              <a:buNone/>
            </a:pPr>
            <a:r>
              <a:rPr lang="en-US" sz="1600" dirty="0">
                <a:solidFill>
                  <a:srgbClr val="1B2A38"/>
                </a:solidFill>
                <a:latin typeface="Calibri" pitchFamily="34" charset="0"/>
                <a:ea typeface="Calibri" pitchFamily="34" charset="-122"/>
                <a:cs typeface="Calibri" pitchFamily="34" charset="-120"/>
              </a:rPr>
              <a:t>Hva koster ett døgn ved kai fordi en feil ikke ble fanget opp i tide? For mange fartøy er én unngått driftsstans nok til å dekke abonnementet i lang tid.</a:t>
            </a:r>
            <a:endParaRPr lang="en-US" sz="1600" dirty="0"/>
          </a:p>
        </p:txBody>
      </p:sp>
      <p:sp>
        <p:nvSpPr>
          <p:cNvPr id="6" name="Kort"/>
          <p:cNvSpPr/>
          <p:nvPr/>
        </p:nvSpPr>
        <p:spPr>
          <a:xfrm>
            <a:off x="6583680" y="1828800"/>
            <a:ext cx="5059375" cy="3931920"/>
          </a:xfrm>
          <a:prstGeom prst="roundRect">
            <a:avLst>
              <a:gd name="adj" fmla="val 2791"/>
            </a:avLst>
          </a:prstGeom>
          <a:solidFill>
            <a:srgbClr val="EEF3F6"/>
          </a:solidFill>
          <a:ln/>
        </p:spPr>
      </p:sp>
      <p:sp>
        <p:nvSpPr>
          <p:cNvPr id="7" name="Ikon-sirkel"/>
          <p:cNvSpPr/>
          <p:nvPr/>
        </p:nvSpPr>
        <p:spPr>
          <a:xfrm>
            <a:off x="6903720" y="2103120"/>
            <a:ext cx="640080" cy="640080"/>
          </a:xfrm>
          <a:prstGeom prst="ellipse">
            <a:avLst/>
          </a:prstGeom>
          <a:solidFill>
            <a:srgbClr val="0E7C86"/>
          </a:solidFill>
          <a:ln/>
        </p:spPr>
      </p:sp>
      <p:pic>
        <p:nvPicPr>
          <p:cNvPr id="8" name="Ikon FaClipboardCheck" descr="preencoded.png">    </p:cNvPr>
          <p:cNvPicPr>
            <a:picLocks noChangeAspect="1"/>
          </p:cNvPicPr>
          <p:nvPr/>
        </p:nvPicPr>
        <p:blipFill>
          <a:blip r:embed="rId1"/>
          <a:stretch>
            <a:fillRect/>
          </a:stretch>
        </p:blipFill>
        <p:spPr>
          <a:xfrm>
            <a:off x="7057339" y="2256739"/>
            <a:ext cx="332842" cy="332842"/>
          </a:xfrm>
          <a:prstGeom prst="rect">
            <a:avLst/>
          </a:prstGeom>
        </p:spPr>
      </p:pic>
      <p:sp>
        <p:nvSpPr>
          <p:cNvPr id="9" name="Text 6"/>
          <p:cNvSpPr txBox="1"/>
          <p:nvPr/>
        </p:nvSpPr>
        <p:spPr>
          <a:xfrm>
            <a:off x="7726680" y="2103120"/>
            <a:ext cx="3687775" cy="64008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Inkludert i prisen</a:t>
            </a:r>
            <a:endParaRPr lang="en-US" sz="2000" dirty="0"/>
          </a:p>
        </p:txBody>
      </p:sp>
      <p:sp>
        <p:nvSpPr>
          <p:cNvPr id="10" name="Text 7"/>
          <p:cNvSpPr txBox="1"/>
          <p:nvPr/>
        </p:nvSpPr>
        <p:spPr>
          <a:xfrm>
            <a:off x="6903720" y="3017520"/>
            <a:ext cx="4419295" cy="2651760"/>
          </a:xfrm>
          <a:prstGeom prst="rect">
            <a:avLst/>
          </a:prstGeom>
          <a:noFill/>
          <a:ln/>
        </p:spPr>
        <p:txBody>
          <a:bodyPr wrap="square" lIns="0" tIns="0" rIns="0" bIns="0" rtlCol="0" anchor="t"/>
          <a:lstStyle/>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Moduler: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alle 14, eller et utvalg?]</a:t>
            </a:r>
            <a:pPr indent="0" marL="0">
              <a:spcAft>
                <a:spcPts val="800"/>
              </a:spcAft>
              <a:buNone/>
            </a:pP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KI-assistent: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inkludert / tillegg?]</a:t>
            </a:r>
            <a:pPr indent="0" marL="0">
              <a:spcAft>
                <a:spcPts val="800"/>
              </a:spcAft>
              <a:buNone/>
            </a:pP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Oppstart og dataoverføring: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pris]</a:t>
            </a:r>
            <a:pPr indent="0" marL="0">
              <a:spcAft>
                <a:spcPts val="800"/>
              </a:spcAft>
              <a:buNone/>
            </a:pP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Opplæring og support: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hva er inkludert]</a:t>
            </a:r>
            <a:pPr indent="0" marL="0">
              <a:spcAft>
                <a:spcPts val="800"/>
              </a:spcAft>
              <a:buNone/>
            </a:pP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Pilot, seks uker: </a:t>
            </a:r>
            <a:pPr indent="0" marL="0">
              <a:spcAft>
                <a:spcPts val="800"/>
              </a:spcAft>
              <a:buNone/>
            </a:pPr>
            <a:r>
              <a:rPr lang="en-US" sz="1500" b="1" dirty="0">
                <a:solidFill>
                  <a:srgbClr val="E8751A"/>
                </a:solidFill>
                <a:latin typeface="Calibri" pitchFamily="34" charset="0"/>
                <a:ea typeface="Calibri" pitchFamily="34" charset="-122"/>
                <a:cs typeface="Calibri" pitchFamily="34" charset="-120"/>
              </a:rPr>
              <a:t>[FYLL INN: pris og vilkår]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PRAKTISKE SPØRSMÅL</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Det dere sannsynligvis lurer på</a:t>
            </a:r>
            <a:endParaRPr lang="en-US" sz="3000" dirty="0"/>
          </a:p>
        </p:txBody>
      </p:sp>
      <p:sp>
        <p:nvSpPr>
          <p:cNvPr id="4" name="Kort"/>
          <p:cNvSpPr/>
          <p:nvPr/>
        </p:nvSpPr>
        <p:spPr>
          <a:xfrm>
            <a:off x="548640" y="1828800"/>
            <a:ext cx="5410048" cy="1143000"/>
          </a:xfrm>
          <a:prstGeom prst="roundRect">
            <a:avLst>
              <a:gd name="adj" fmla="val 9600"/>
            </a:avLst>
          </a:prstGeom>
          <a:solidFill>
            <a:srgbClr val="EEF3F6"/>
          </a:solidFill>
          <a:ln/>
        </p:spPr>
      </p:sp>
      <p:sp>
        <p:nvSpPr>
          <p:cNvPr id="5" name="Text 3"/>
          <p:cNvSpPr txBox="1"/>
          <p:nvPr/>
        </p:nvSpPr>
        <p:spPr>
          <a:xfrm>
            <a:off x="868680" y="201168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Må vi ta i bruk alt på en gang?</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Nei. Start med vedlikehold på ett fartøy.</a:t>
            </a:r>
            <a:endParaRPr lang="en-US" sz="1700" dirty="0"/>
          </a:p>
        </p:txBody>
      </p:sp>
      <p:sp>
        <p:nvSpPr>
          <p:cNvPr id="6" name="Kort"/>
          <p:cNvSpPr/>
          <p:nvPr/>
        </p:nvSpPr>
        <p:spPr>
          <a:xfrm>
            <a:off x="6233008" y="1828800"/>
            <a:ext cx="5410048" cy="1143000"/>
          </a:xfrm>
          <a:prstGeom prst="roundRect">
            <a:avLst>
              <a:gd name="adj" fmla="val 9600"/>
            </a:avLst>
          </a:prstGeom>
          <a:solidFill>
            <a:srgbClr val="EEF3F6"/>
          </a:solidFill>
          <a:ln/>
        </p:spPr>
      </p:sp>
      <p:sp>
        <p:nvSpPr>
          <p:cNvPr id="7" name="Text 5"/>
          <p:cNvSpPr txBox="1"/>
          <p:nvPr/>
        </p:nvSpPr>
        <p:spPr>
          <a:xfrm>
            <a:off x="6553048" y="201168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Hvor lagres dataene våre?</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I Norge/EU. De brukes ikke til å trene KI-modeller.</a:t>
            </a:r>
            <a:endParaRPr lang="en-US" sz="1700" dirty="0"/>
          </a:p>
        </p:txBody>
      </p:sp>
      <p:sp>
        <p:nvSpPr>
          <p:cNvPr id="8" name="Kort"/>
          <p:cNvSpPr/>
          <p:nvPr/>
        </p:nvSpPr>
        <p:spPr>
          <a:xfrm>
            <a:off x="548640" y="3154680"/>
            <a:ext cx="5410048" cy="1143000"/>
          </a:xfrm>
          <a:prstGeom prst="roundRect">
            <a:avLst>
              <a:gd name="adj" fmla="val 9600"/>
            </a:avLst>
          </a:prstGeom>
          <a:solidFill>
            <a:srgbClr val="EEF3F6"/>
          </a:solidFill>
          <a:ln/>
        </p:spPr>
      </p:sp>
      <p:sp>
        <p:nvSpPr>
          <p:cNvPr id="9" name="Text 7"/>
          <p:cNvSpPr txBox="1"/>
          <p:nvPr/>
        </p:nvSpPr>
        <p:spPr>
          <a:xfrm>
            <a:off x="868680" y="333756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Fungerer det uten nett om bord?</a:t>
            </a:r>
            <a:endParaRPr lang="en-US" sz="1700" dirty="0"/>
          </a:p>
          <a:p>
            <a:pPr indent="0" marL="0">
              <a:buNone/>
            </a:pPr>
            <a:r>
              <a:rPr lang="en-US" sz="1500" b="1" dirty="0">
                <a:solidFill>
                  <a:srgbClr val="E8751A"/>
                </a:solidFill>
                <a:latin typeface="Calibri" pitchFamily="34" charset="0"/>
                <a:ea typeface="Calibri" pitchFamily="34" charset="-122"/>
                <a:cs typeface="Calibri" pitchFamily="34" charset="-120"/>
              </a:rPr>
              <a:t>[FYLL INN: svar]</a:t>
            </a:r>
            <a:endParaRPr lang="en-US" sz="1700" dirty="0"/>
          </a:p>
        </p:txBody>
      </p:sp>
      <p:sp>
        <p:nvSpPr>
          <p:cNvPr id="10" name="Kort"/>
          <p:cNvSpPr/>
          <p:nvPr/>
        </p:nvSpPr>
        <p:spPr>
          <a:xfrm>
            <a:off x="6233008" y="3154680"/>
            <a:ext cx="5410048" cy="1143000"/>
          </a:xfrm>
          <a:prstGeom prst="roundRect">
            <a:avLst>
              <a:gd name="adj" fmla="val 9600"/>
            </a:avLst>
          </a:prstGeom>
          <a:solidFill>
            <a:srgbClr val="EEF3F6"/>
          </a:solidFill>
          <a:ln/>
        </p:spPr>
      </p:sp>
      <p:sp>
        <p:nvSpPr>
          <p:cNvPr id="11" name="Text 9"/>
          <p:cNvSpPr txBox="1"/>
          <p:nvPr/>
        </p:nvSpPr>
        <p:spPr>
          <a:xfrm>
            <a:off x="6553048" y="333756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Er vedlikeholdsmodulen DNV-godkjent?</a:t>
            </a:r>
            <a:endParaRPr lang="en-US" sz="1700" dirty="0"/>
          </a:p>
          <a:p>
            <a:pPr indent="0" marL="0">
              <a:buNone/>
            </a:pPr>
            <a:r>
              <a:rPr lang="en-US" sz="1500" b="1" dirty="0">
                <a:solidFill>
                  <a:srgbClr val="E8751A"/>
                </a:solidFill>
                <a:latin typeface="Calibri" pitchFamily="34" charset="0"/>
                <a:ea typeface="Calibri" pitchFamily="34" charset="-122"/>
                <a:cs typeface="Calibri" pitchFamily="34" charset="-120"/>
              </a:rPr>
              <a:t>[FYLL INN: svar]</a:t>
            </a:r>
            <a:endParaRPr lang="en-US" sz="1700" dirty="0"/>
          </a:p>
        </p:txBody>
      </p:sp>
      <p:sp>
        <p:nvSpPr>
          <p:cNvPr id="12" name="Kort"/>
          <p:cNvSpPr/>
          <p:nvPr/>
        </p:nvSpPr>
        <p:spPr>
          <a:xfrm>
            <a:off x="548640" y="4480560"/>
            <a:ext cx="5410048" cy="1143000"/>
          </a:xfrm>
          <a:prstGeom prst="roundRect">
            <a:avLst>
              <a:gd name="adj" fmla="val 9600"/>
            </a:avLst>
          </a:prstGeom>
          <a:solidFill>
            <a:srgbClr val="EEF3F6"/>
          </a:solidFill>
          <a:ln/>
        </p:spPr>
      </p:sp>
      <p:sp>
        <p:nvSpPr>
          <p:cNvPr id="13" name="Text 11"/>
          <p:cNvSpPr txBox="1"/>
          <p:nvPr/>
        </p:nvSpPr>
        <p:spPr>
          <a:xfrm>
            <a:off x="868680" y="466344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Hvem hjelper oss når noe ikke virker?</a:t>
            </a:r>
            <a:endParaRPr lang="en-US" sz="1700" dirty="0"/>
          </a:p>
          <a:p>
            <a:pPr indent="0" marL="0">
              <a:buNone/>
            </a:pPr>
            <a:r>
              <a:rPr lang="en-US" sz="1500" b="1" dirty="0">
                <a:solidFill>
                  <a:srgbClr val="E8751A"/>
                </a:solidFill>
                <a:latin typeface="Calibri" pitchFamily="34" charset="0"/>
                <a:ea typeface="Calibri" pitchFamily="34" charset="-122"/>
                <a:cs typeface="Calibri" pitchFamily="34" charset="-120"/>
              </a:rPr>
              <a:t>[FYLL INN: support: hvem, når, hvordan]</a:t>
            </a:r>
            <a:endParaRPr lang="en-US" sz="1700" dirty="0"/>
          </a:p>
        </p:txBody>
      </p:sp>
      <p:sp>
        <p:nvSpPr>
          <p:cNvPr id="14" name="Kort"/>
          <p:cNvSpPr/>
          <p:nvPr/>
        </p:nvSpPr>
        <p:spPr>
          <a:xfrm>
            <a:off x="6233008" y="4480560"/>
            <a:ext cx="5410048" cy="1143000"/>
          </a:xfrm>
          <a:prstGeom prst="roundRect">
            <a:avLst>
              <a:gd name="adj" fmla="val 9600"/>
            </a:avLst>
          </a:prstGeom>
          <a:solidFill>
            <a:srgbClr val="EEF3F6"/>
          </a:solidFill>
          <a:ln/>
        </p:spPr>
      </p:sp>
      <p:sp>
        <p:nvSpPr>
          <p:cNvPr id="15" name="Text 13"/>
          <p:cNvSpPr txBox="1"/>
          <p:nvPr/>
        </p:nvSpPr>
        <p:spPr>
          <a:xfrm>
            <a:off x="6553048" y="466344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Hvor lang tid tar det å komme i gang?</a:t>
            </a:r>
            <a:endParaRPr lang="en-US" sz="1700" dirty="0"/>
          </a:p>
          <a:p>
            <a:pPr indent="0" marL="0">
              <a:buNone/>
            </a:pPr>
            <a:r>
              <a:rPr lang="en-US" sz="1500" b="1" dirty="0">
                <a:solidFill>
                  <a:srgbClr val="E8751A"/>
                </a:solidFill>
                <a:latin typeface="Calibri" pitchFamily="34" charset="0"/>
                <a:ea typeface="Calibri" pitchFamily="34" charset="-122"/>
                <a:cs typeface="Calibri" pitchFamily="34" charset="-120"/>
              </a:rPr>
              <a:t>[FYLL INN: typisk tid fra avtale til i bruk]</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NESTE STEG</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Vis oss én oppgave dere vil gjøre enklere – så viser vi Nautech</a:t>
            </a:r>
            <a:endParaRPr lang="en-US" sz="3000" dirty="0"/>
          </a:p>
        </p:txBody>
      </p:sp>
      <p:sp>
        <p:nvSpPr>
          <p:cNvPr id="4" name="Kort"/>
          <p:cNvSpPr/>
          <p:nvPr/>
        </p:nvSpPr>
        <p:spPr>
          <a:xfrm>
            <a:off x="548640" y="1920240"/>
            <a:ext cx="3515258" cy="2743200"/>
          </a:xfrm>
          <a:prstGeom prst="roundRect">
            <a:avLst>
              <a:gd name="adj" fmla="val 4000"/>
            </a:avLst>
          </a:prstGeom>
          <a:solidFill>
            <a:srgbClr val="16324D"/>
          </a:solidFill>
          <a:ln/>
        </p:spPr>
      </p:sp>
      <p:sp>
        <p:nvSpPr>
          <p:cNvPr id="5" name="Ikon-sirkel"/>
          <p:cNvSpPr/>
          <p:nvPr/>
        </p:nvSpPr>
        <p:spPr>
          <a:xfrm>
            <a:off x="868680" y="2194560"/>
            <a:ext cx="685800" cy="685800"/>
          </a:xfrm>
          <a:prstGeom prst="ellipse">
            <a:avLst/>
          </a:prstGeom>
          <a:solidFill>
            <a:srgbClr val="0E7C86"/>
          </a:solidFill>
          <a:ln/>
        </p:spPr>
      </p:sp>
      <p:pic>
        <p:nvPicPr>
          <p:cNvPr id="6" name="Ikon FaComments" descr="preencoded.png">    </p:cNvPr>
          <p:cNvPicPr>
            <a:picLocks noChangeAspect="1"/>
          </p:cNvPicPr>
          <p:nvPr/>
        </p:nvPicPr>
        <p:blipFill>
          <a:blip r:embed="rId1"/>
          <a:stretch>
            <a:fillRect/>
          </a:stretch>
        </p:blipFill>
        <p:spPr>
          <a:xfrm>
            <a:off x="1033272" y="2359152"/>
            <a:ext cx="356616" cy="356616"/>
          </a:xfrm>
          <a:prstGeom prst="rect">
            <a:avLst/>
          </a:prstGeom>
        </p:spPr>
      </p:pic>
      <p:sp>
        <p:nvSpPr>
          <p:cNvPr id="7" name="Text 4"/>
          <p:cNvSpPr txBox="1"/>
          <p:nvPr/>
        </p:nvSpPr>
        <p:spPr>
          <a:xfrm>
            <a:off x="868680"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1. Samtale</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Fortell oss hva som tar tid i dag, og hvilket system dere bruker.</a:t>
            </a:r>
            <a:endParaRPr lang="en-US" sz="2000" dirty="0"/>
          </a:p>
        </p:txBody>
      </p:sp>
      <p:sp>
        <p:nvSpPr>
          <p:cNvPr id="8" name="Kort"/>
          <p:cNvSpPr/>
          <p:nvPr/>
        </p:nvSpPr>
        <p:spPr>
          <a:xfrm>
            <a:off x="4338218" y="1920240"/>
            <a:ext cx="3515258" cy="2743200"/>
          </a:xfrm>
          <a:prstGeom prst="roundRect">
            <a:avLst>
              <a:gd name="adj" fmla="val 4000"/>
            </a:avLst>
          </a:prstGeom>
          <a:solidFill>
            <a:srgbClr val="16324D"/>
          </a:solidFill>
          <a:ln/>
        </p:spPr>
      </p:sp>
      <p:sp>
        <p:nvSpPr>
          <p:cNvPr id="9" name="Ikon-sirkel"/>
          <p:cNvSpPr/>
          <p:nvPr/>
        </p:nvSpPr>
        <p:spPr>
          <a:xfrm>
            <a:off x="4658258" y="2194560"/>
            <a:ext cx="685800" cy="685800"/>
          </a:xfrm>
          <a:prstGeom prst="ellipse">
            <a:avLst/>
          </a:prstGeom>
          <a:solidFill>
            <a:srgbClr val="0E7C86"/>
          </a:solidFill>
          <a:ln/>
        </p:spPr>
      </p:sp>
      <p:pic>
        <p:nvPicPr>
          <p:cNvPr id="10" name="Ikon FaDisplay" descr="preencoded.png">    </p:cNvPr>
          <p:cNvPicPr>
            <a:picLocks noChangeAspect="1"/>
          </p:cNvPicPr>
          <p:nvPr/>
        </p:nvPicPr>
        <p:blipFill>
          <a:blip r:embed="rId2"/>
          <a:stretch>
            <a:fillRect/>
          </a:stretch>
        </p:blipFill>
        <p:spPr>
          <a:xfrm>
            <a:off x="4822850" y="2359152"/>
            <a:ext cx="356616" cy="356616"/>
          </a:xfrm>
          <a:prstGeom prst="rect">
            <a:avLst/>
          </a:prstGeom>
        </p:spPr>
      </p:pic>
      <p:sp>
        <p:nvSpPr>
          <p:cNvPr id="11" name="Text 7"/>
          <p:cNvSpPr txBox="1"/>
          <p:nvPr/>
        </p:nvSpPr>
        <p:spPr>
          <a:xfrm>
            <a:off x="4658258"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2. Demo</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Vi viser Nautech med eksempler fra deres hverdag.</a:t>
            </a:r>
            <a:endParaRPr lang="en-US" sz="2000" dirty="0"/>
          </a:p>
        </p:txBody>
      </p:sp>
      <p:sp>
        <p:nvSpPr>
          <p:cNvPr id="12" name="Kort"/>
          <p:cNvSpPr/>
          <p:nvPr/>
        </p:nvSpPr>
        <p:spPr>
          <a:xfrm>
            <a:off x="8127797" y="1920240"/>
            <a:ext cx="3515258" cy="2743200"/>
          </a:xfrm>
          <a:prstGeom prst="roundRect">
            <a:avLst>
              <a:gd name="adj" fmla="val 4000"/>
            </a:avLst>
          </a:prstGeom>
          <a:solidFill>
            <a:srgbClr val="16324D"/>
          </a:solidFill>
          <a:ln/>
        </p:spPr>
      </p:sp>
      <p:sp>
        <p:nvSpPr>
          <p:cNvPr id="13" name="Ikon-sirkel"/>
          <p:cNvSpPr/>
          <p:nvPr/>
        </p:nvSpPr>
        <p:spPr>
          <a:xfrm>
            <a:off x="8447837" y="2194560"/>
            <a:ext cx="685800" cy="685800"/>
          </a:xfrm>
          <a:prstGeom prst="ellipse">
            <a:avLst/>
          </a:prstGeom>
          <a:solidFill>
            <a:srgbClr val="0E7C86"/>
          </a:solidFill>
          <a:ln/>
        </p:spPr>
      </p:sp>
      <p:pic>
        <p:nvPicPr>
          <p:cNvPr id="14" name="Ikon FaCalendarCheck" descr="preencoded.png">    </p:cNvPr>
          <p:cNvPicPr>
            <a:picLocks noChangeAspect="1"/>
          </p:cNvPicPr>
          <p:nvPr/>
        </p:nvPicPr>
        <p:blipFill>
          <a:blip r:embed="rId3"/>
          <a:stretch>
            <a:fillRect/>
          </a:stretch>
        </p:blipFill>
        <p:spPr>
          <a:xfrm>
            <a:off x="8612429" y="2359152"/>
            <a:ext cx="356616" cy="356616"/>
          </a:xfrm>
          <a:prstGeom prst="rect">
            <a:avLst/>
          </a:prstGeom>
        </p:spPr>
      </p:pic>
      <p:sp>
        <p:nvSpPr>
          <p:cNvPr id="15" name="Text 10"/>
          <p:cNvSpPr txBox="1"/>
          <p:nvPr/>
        </p:nvSpPr>
        <p:spPr>
          <a:xfrm>
            <a:off x="8447837"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3. Pilot</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Seks uker på ett fartøy, med mål vi avtaler sammen.</a:t>
            </a:r>
            <a:endParaRPr lang="en-US" sz="2000" dirty="0"/>
          </a:p>
        </p:txBody>
      </p:sp>
      <p:sp>
        <p:nvSpPr>
          <p:cNvPr id="16" name="Text 11"/>
          <p:cNvSpPr txBox="1"/>
          <p:nvPr/>
        </p:nvSpPr>
        <p:spPr>
          <a:xfrm>
            <a:off x="548640" y="4937760"/>
            <a:ext cx="11094415" cy="1188720"/>
          </a:xfrm>
          <a:prstGeom prst="rect">
            <a:avLst/>
          </a:prstGeom>
          <a:noFill/>
          <a:ln/>
        </p:spPr>
        <p:txBody>
          <a:bodyPr wrap="square" lIns="0" tIns="0" rIns="0" bIns="0" rtlCol="0" anchor="t"/>
          <a:lstStyle/>
          <a:p>
            <a:pPr indent="0" marL="0">
              <a:buNone/>
            </a:pPr>
            <a:r>
              <a:rPr lang="en-US" sz="1800" b="1" dirty="0">
                <a:solidFill>
                  <a:srgbClr val="7FD1D6"/>
                </a:solidFill>
                <a:latin typeface="Calibri" pitchFamily="34" charset="0"/>
                <a:ea typeface="Calibri" pitchFamily="34" charset="-122"/>
                <a:cs typeface="Calibri" pitchFamily="34" charset="-120"/>
              </a:rPr>
              <a:t>Ta kontakt</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Arne Kopperstad  </a:t>
            </a:r>
            <a:pPr indent="0" marL="0">
              <a:buNone/>
            </a:pPr>
            <a:r>
              <a:rPr lang="en-US" sz="1500" dirty="0">
                <a:solidFill>
                  <a:srgbClr val="DCE6EE"/>
                </a:solidFill>
                <a:latin typeface="Calibri" pitchFamily="34" charset="0"/>
                <a:ea typeface="Calibri" pitchFamily="34" charset="-122"/>
                <a:cs typeface="Calibri" pitchFamily="34" charset="-120"/>
              </a:rPr>
              <a:t>akopperstad@seawise.no  ·  +47 480 35 351</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Kristian Kopperstad  </a:t>
            </a:r>
            <a:pPr indent="0" marL="0">
              <a:buNone/>
            </a:pPr>
            <a:r>
              <a:rPr lang="en-US" sz="1500" dirty="0">
                <a:solidFill>
                  <a:srgbClr val="DCE6EE"/>
                </a:solidFill>
                <a:latin typeface="Calibri" pitchFamily="34" charset="0"/>
                <a:ea typeface="Calibri" pitchFamily="34" charset="-122"/>
                <a:cs typeface="Calibri" pitchFamily="34" charset="-120"/>
              </a:rPr>
              <a:t>kkopperstad@seawise.no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Nautech">
  <a:themeElements>
    <a:clrScheme name="Nautech">
      <a:dk1>
        <a:srgbClr val="0B1F33"/>
      </a:dk1>
      <a:lt1>
        <a:srgbClr val="FFFFFF"/>
      </a:lt1>
      <a:dk2>
        <a:srgbClr val="16324D"/>
      </a:dk2>
      <a:lt2>
        <a:srgbClr val="EEF3F6"/>
      </a:lt2>
      <a:accent1>
        <a:srgbClr val="0E7C86"/>
      </a:accent1>
      <a:accent2>
        <a:srgbClr val="E8751A"/>
      </a:accent2>
      <a:accent3>
        <a:srgbClr val="7FD1D6"/>
      </a:accent3>
      <a:accent4>
        <a:srgbClr val="5B6B7A"/>
      </a:accent4>
      <a:accent5>
        <a:srgbClr val="2E9E5B"/>
      </a:accent5>
      <a:accent6>
        <a:srgbClr val="C0392B"/>
      </a:accent6>
      <a:hlink>
        <a:srgbClr val="0E7C86"/>
      </a:hlink>
      <a:folHlink>
        <a:srgbClr val="5B6B7A"/>
      </a:folHlink>
    </a:clrScheme>
    <a:fontScheme name="Naute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Seawise 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Nautech – kundepresentasjon</dc:title>
  <dc:subject>PptxGenJS Presentation</dc:subject>
  <dc:creator>Seawise AS</dc:creator>
  <cp:lastModifiedBy>Seawise AS</cp:lastModifiedBy>
  <cp:revision>1</cp:revision>
  <dcterms:created xsi:type="dcterms:W3CDTF">2026-10-06T09:53:31Z</dcterms:created>
  <dcterms:modified xsi:type="dcterms:W3CDTF">2026-10-06T09:53:31Z</dcterms:modified>
</cp:coreProperties>
</file>