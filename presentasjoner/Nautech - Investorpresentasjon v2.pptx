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og løsning" id="{dd5afeef-5ef7-59c8-a519-4a91d47dbd19}">
          <p14:sldIdLst>
            <p14:sldId id="256"/>
            <p14:sldId id="257"/>
            <p14:sldId id="258"/>
            <p14:sldId id="259"/>
            <p14:sldId id="260"/>
            <p14:sldId id="261"/>
            <p14:sldId id="262"/>
          </p14:sldIdLst>
        </p14:section>
        <p14:section name="Marked og konkurranse" id="{9fb0895e-1ae0-9cc5-0795-b8ed8a914a77}">
          <p14:sldIdLst>
            <p14:sldId id="263"/>
            <p14:sldId id="264"/>
            <p14:sldId id="265"/>
          </p14:sldIdLst>
        </p14:section>
        <p14:section name="Selskap og plan" id="{17b30c45-a4bc-5e42-ea7c-72fbc5aa4bf9}">
          <p14:sldIdLst>
            <p14:sldId id="266"/>
            <p14:sldId id="267"/>
            <p14:sldId id="268"/>
          </p14:sldIdLst>
        </p14:section>
        <p14:section name="Vedlegg" id="{cda31126-c823-5eb1-5deb-a4bc78c84c4a}">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F33"/>
                </a:solidFill>
                <a:latin typeface="+mn-lt"/>
              </a:defRPr>
            </a:pPr>
            <a:r>
              <a:rPr sz="1400" b="0" i="0" u="none" strike="noStrike">
                <a:solidFill>
                  <a:srgbClr val="0B1F33"/>
                </a:solidFill>
                <a:latin typeface="+mn-lt"/>
              </a:rPr>
              <a:t>Årlig abonnementsinntekt, MNOK</a:t>
            </a:r>
          </a:p>
        </c:rich>
      </c:tx>
      <c:layout/>
      <c:overlay val="0"/>
    </c:title>
    <c:autoTitleDeleted val="0"/>
    <c:plotArea>
      <c:layout/>
      <c:barChart>
        <c:barDir val="col"/>
        <c:grouping val="clustered"/>
        <c:varyColors val="0"/>
        <c:ser>
          <c:idx val="0"/>
          <c:order val="0"/>
          <c:tx>
            <c:strRef>
              <c:f>Sheet1!$B$1</c:f>
              <c:strCache>
                <c:ptCount val="1"/>
                <c:pt idx="0">
                  <c:v>Årlig abonnement (MNOK)</c:v>
                </c:pt>
              </c:strCache>
            </c:strRef>
          </c:tx>
          <c:spPr>
            <a:solidFill>
              <a:srgbClr val="0E7C86"/>
            </a:solidFill>
            <a:effectLst/>
          </c:spPr>
          <c:invertIfNegative val="0"/>
          <c:dLbls>
            <c:numFmt formatCode="0.0" sourceLinked="0"/>
            <c:txPr>
              <a:bodyPr/>
              <a:lstStyle/>
              <a:p>
                <a:pPr>
                  <a:defRPr b="0" i="0" strike="noStrike" sz="1300" u="none">
                    <a:solidFill>
                      <a:srgbClr val="0B1F33"/>
                    </a:solidFill>
                    <a:latin typeface="+mn-lt"/>
                  </a:defRPr>
                </a:pPr>
              </a:p>
            </c:txPr>
            <c:showLegendKey val="0"/>
            <c:showVal val="1"/>
            <c:showCatName val="0"/>
            <c:showSerName val="0"/>
            <c:showPercent val="0"/>
            <c:showBubbleSize val="0"/>
            <c:showLeaderLines val="0"/>
          </c:dLbls>
          <c:cat>
            <c:multiLvlStrRef>
              <c:f>Sheet1!$A$2:$A$5</c:f>
              <c:multiLvlStrCache>
                <c:ptCount val="4"/>
                <c:lvl>
                  <c:pt idx="0">
                    <c:v>10 fartøy</c:v>
                  </c:pt>
                  <c:pt idx="1">
                    <c:v>50 fartøy</c:v>
                  </c:pt>
                  <c:pt idx="2">
                    <c:v>100 fartøy</c:v>
                  </c:pt>
                  <c:pt idx="3">
                    <c:v>260 fartøy</c:v>
                  </c:pt>
                </c:lvl>
              </c:multiLvlStrCache>
            </c:multiLvlStrRef>
          </c:cat>
          <c:val>
            <c:numRef>
              <c:f>Sheet1!$B$2:$B$5</c:f>
              <c:numCache>
                <c:formatCode>General</c:formatCode>
                <c:ptCount val="4"/>
                <c:pt idx="0">
                  <c:v>1.68</c:v>
                </c:pt>
                <c:pt idx="1">
                  <c:v>8.4</c:v>
                </c:pt>
                <c:pt idx="2">
                  <c:v>16.8</c:v>
                </c:pt>
                <c:pt idx="3">
                  <c:v>43.68</c:v>
                </c:pt>
              </c:numCache>
            </c:numRef>
          </c:val>
        </c:ser>
        <c:dLbls>
          <c:numFmt formatCode="0.0" sourceLinked="0"/>
          <c:txPr>
            <a:bodyPr/>
            <a:lstStyle/>
            <a:p>
              <a:pPr>
                <a:defRPr b="0" i="0" strike="noStrike" sz="1300" u="none">
                  <a:solidFill>
                    <a:srgbClr val="0B1F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5B6B7A"/>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Nautech er et komplett system for drift og vedlikehold av fiskefartøy. Det er laget av folk som har jobbet om bord, og har en KI-assistent som svarer ut fra rederiets egne data. MVP-en er klar, vi har kontaktet rederier i hele Norge, og flere har vist interesse.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Dette er hverdagen Arne kjenner fra maskinrommet. Informasjonen finnes, men den ligger spredt, og den forsvinner når folk skifter. Det koster tid om bord, og det gjør det vanskelig for ledelsen på land å se hva som faktisk skjer.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Nautech erstatter dagens vedlikeholds- og kvalitetssystem med én løsning. Det som skiller oss ut er KI-assistenten: den kjenner båtens egen historikk og viser alltid kilden, slik at fagpersonen kan sjekke svaret.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er et konkret eksempel. Maskinsjefen spør på vanlig norsk, og får et svar som bygger på båtens egen historikk, med henvisning til kildene. Beslutningen tas fortsatt av fagpersonen, men grunnlaget er samlet på sekunder i stedet for å letes frem fra flere steder.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Nautech dekker hele driften, ikke bare vedlikehold. Det gir oss mulighet til å vokse hos hver kunde: de kan starte smalt og utvide.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er tre av modulene slik de ser ut i MVP-en i dag: flåteoversikten, arbeidsordrer i vedlikeholdsmodulen og sikkerhetsoversikten.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Dette er det som skiller oss fra de brede maritime systemene. Fiskerimodulen dekker fangst, kvoter, sporbarhet og rapporteringskravene en tråler lever med, i samme system som vedlikeholdet.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Markedet har etablerte aktører, og CCOM X og PreMaster har kunder i fiskeflåten. Vår fordel er at Nautech er bygget spesielt for fiskefartøy, av folk fra fiskeflåten, og at KI er en del av produktet fra start. De etablerte aktørene bygger KI inn i eldre plattformer.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Norge er hjemmemarkedet vårt, med rundt 260 fiskefartøy over 28 meter. Med full dekning tilsvarer det rundt 44 millioner i årlig abonnement. Samme type fartøy finnes i EU, med rundt 2 270 fartøy over 24 meter. Til sammen er første målgruppe rundt 425 millioner kroner i året, før vi regner med havbruk og andre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Modellen er enkel: 1 000 kroner per modul per fartøy i måneden, 14 000 for alle modulene. Ti fartøy med full dekning gir 1,7 millioner i året. Når et rederi først har tatt i bruk et vedlikeholdssystem, bytter de sjelden, så inntektene er stabile.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MVP-en er klar, og vi har kontaktet rederier i hele Norge. Flere har vist interesse, og vi jobber nå med å signere intensjonsavtaler. De utløser også neste støtterunde fra Innovasjon Norge. Deretter kommer pilot og første betalende kunde. Produktet er bygget etter DNVs krav, og vi søker godkjenning når det er ferdig utviklet.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Arne er maskinsjef og har levd med problemet selv. Kristian har prosjekt- og ingeniørerfaring fra offshore. Sammen kjenner vi både arbeidet om bord og hvordan et prosjekt leveres.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 henter ikke kapital i dag. Vi vil bli kjent med investorer som kan være aktuelle videre, og med rederier som vil være med som første kunder. Neste steg er en demo av produktet.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Seawise AS  ·  Nautech</a:t>
            </a:r>
            <a:endParaRPr lang="en-US" sz="1000" dirty="0"/>
          </a:p>
        </p:txBody>
      </p:sp>
      <p:sp>
        <p:nvSpPr>
          <p:cNvPr id="3" name="Text 1"/>
          <p:cNvSpPr/>
          <p:nvPr>
            <p:ph idx="101" type="body" hasCustomPrompt="1"/>
          </p:nvPr>
        </p:nvSpPr>
        <p:spPr>
          <a:xfrm>
            <a:off x="548640" y="365760"/>
            <a:ext cx="9144000" cy="274320"/>
          </a:xfrm>
          <a:prstGeom prst="rect">
            <a:avLst/>
          </a:prstGeom>
          <a:noFill/>
          <a:ln/>
        </p:spPr>
        <p:txBody>
          <a:bodyPr wrap="square" rtlCol="0"/>
          <a:lstStyle>
            <a:lvl1pPr indent="0" marL="0">
              <a:buNone/>
              <a:defRPr lang="en-US" sz="1200" b="1" spc="200" kern="0" dirty="0">
                <a:solidFill>
                  <a:srgbClr val="0E7C86"/>
                </a:solidFill>
                <a:latin typeface="Calibri" pitchFamily="34" charset="0"/>
                <a:ea typeface="Calibri" pitchFamily="34" charset="-122"/>
                <a:cs typeface="Calibri" pitchFamily="34" charset="-120"/>
              </a:defRPr>
            </a:lvl1pPr>
          </a:lstStyle>
          <a:p>
            <a:pPr indent="0" marL="0">
              <a:buNone/>
            </a:pPr>
            <a:endParaRPr lang="en-US" sz="1200" dirty="0"/>
          </a:p>
        </p:txBody>
      </p:sp>
      <p:sp>
        <p:nvSpPr>
          <p:cNvPr id="4" name="Text 1"/>
          <p:cNvSpPr/>
          <p:nvPr>
            <p:ph idx="102" type="title" hasCustomPrompt="1"/>
          </p:nvPr>
        </p:nvSpPr>
        <p:spPr>
          <a:xfrm>
            <a:off x="548640" y="658368"/>
            <a:ext cx="11094415" cy="1051560"/>
          </a:xfrm>
          <a:prstGeom prst="rect">
            <a:avLst/>
          </a:prstGeom>
          <a:noFill/>
          <a:ln/>
        </p:spPr>
        <p:txBody>
          <a:bodyPr wrap="square" rtlCol="0"/>
          <a:lstStyle>
            <a:lvl1pPr algn="l" indent="0" marL="0">
              <a:buNone/>
              <a:defRPr lang="en-US" sz="3000" b="1" dirty="0">
                <a:solidFill>
                  <a:srgbClr val="0B1F33"/>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1F33"/>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9FB3C4"/>
                </a:solidFill>
                <a:latin typeface="Calibri" pitchFamily="34" charset="0"/>
                <a:ea typeface="Calibri" pitchFamily="34" charset="-122"/>
                <a:cs typeface="Calibri" pitchFamily="34" charset="-120"/>
              </a:rPr>
              <a:t>Seawise AS  ·  Nautech</a:t>
            </a:r>
            <a:endParaRPr lang="en-US" sz="1000" dirty="0"/>
          </a:p>
        </p:txBody>
      </p:sp>
      <p:sp>
        <p:nvSpPr>
          <p:cNvPr id="3" name="Text 1"/>
          <p:cNvSpPr/>
          <p:nvPr>
            <p:ph idx="101" type="body" hasCustomPrompt="1"/>
          </p:nvPr>
        </p:nvSpPr>
        <p:spPr>
          <a:xfrm>
            <a:off x="548640" y="365760"/>
            <a:ext cx="9144000" cy="274320"/>
          </a:xfrm>
          <a:prstGeom prst="rect">
            <a:avLst/>
          </a:prstGeom>
          <a:noFill/>
          <a:ln/>
        </p:spPr>
        <p:txBody>
          <a:bodyPr wrap="square" rtlCol="0"/>
          <a:lstStyle>
            <a:lvl1pPr indent="0" marL="0">
              <a:buNone/>
              <a:defRPr lang="en-US" sz="1200" b="1" spc="200" kern="0" dirty="0">
                <a:solidFill>
                  <a:srgbClr val="7FD1D6"/>
                </a:solidFill>
                <a:latin typeface="Calibri" pitchFamily="34" charset="0"/>
                <a:ea typeface="Calibri" pitchFamily="34" charset="-122"/>
                <a:cs typeface="Calibri" pitchFamily="34" charset="-120"/>
              </a:defRPr>
            </a:lvl1pPr>
          </a:lstStyle>
          <a:p>
            <a:pPr indent="0" marL="0">
              <a:buNone/>
            </a:pPr>
            <a:endParaRPr lang="en-US" sz="1200" dirty="0"/>
          </a:p>
        </p:txBody>
      </p:sp>
      <p:sp>
        <p:nvSpPr>
          <p:cNvPr id="4" name="Text 1"/>
          <p:cNvSpPr/>
          <p:nvPr>
            <p:ph idx="102" type="title" hasCustomPrompt="1"/>
          </p:nvPr>
        </p:nvSpPr>
        <p:spPr>
          <a:xfrm>
            <a:off x="548640" y="658368"/>
            <a:ext cx="11094415" cy="1051560"/>
          </a:xfrm>
          <a:prstGeom prst="rect">
            <a:avLst/>
          </a:prstGeom>
          <a:noFill/>
          <a:ln/>
        </p:spPr>
        <p:txBody>
          <a:bodyPr wrap="square" rtlCol="0"/>
          <a:lstStyle>
            <a:lvl1pPr algn="l" indent="0" marL="0">
              <a:buNone/>
              <a:defRPr lang="en-US" sz="3000" b="1" dirty="0">
                <a:solidFill>
                  <a:srgbClr val="FFFFFF"/>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3C4"/>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4" Type="http://schemas.openxmlformats.org/officeDocument/2006/relationships/chart" Target="/ppt/charts/chart1.xml"/><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lstStyle/>
          <a:p>
            <a:pPr indent="0" marL="0">
              <a:buNone/>
            </a:pPr>
            <a:r>
              <a:rPr lang="en-US" sz="1200" b="1" spc="200" kern="0" dirty="0">
                <a:solidFill>
                  <a:srgbClr val="7FD1D6"/>
                </a:solidFill>
                <a:latin typeface="Calibri" pitchFamily="34" charset="0"/>
                <a:ea typeface="Calibri" pitchFamily="34" charset="-122"/>
                <a:cs typeface="Calibri" pitchFamily="34" charset="-120"/>
              </a:rPr>
              <a:t>SEAWISE AS  ·  INVESTORPRESENTASJON  ·  OKTOBER 2026</a:t>
            </a:r>
            <a:endParaRPr lang="en-US" sz="1200" dirty="0"/>
          </a:p>
        </p:txBody>
      </p:sp>
      <p:pic>
        <p:nvPicPr>
          <p:cNvPr id="3" name="Nautech-logo" descr="/tmp/claude-0/-home-user-Claude/bbdec16f-2a10-550d-bb32-af07b09e4311/scratchpad/build/img/logo_white.png">    </p:cNvPr>
          <p:cNvPicPr>
            <a:picLocks noChangeAspect="1"/>
          </p:cNvPicPr>
          <p:nvPr/>
        </p:nvPicPr>
        <p:blipFill>
          <a:blip r:embed="rId1"/>
          <a:stretch>
            <a:fillRect/>
          </a:stretch>
        </p:blipFill>
        <p:spPr>
          <a:xfrm>
            <a:off x="9631375" y="320040"/>
            <a:ext cx="2011680" cy="613733"/>
          </a:xfrm>
          <a:prstGeom prst="rect">
            <a:avLst/>
          </a:prstGeom>
        </p:spPr>
      </p:pic>
      <p:sp>
        <p:nvSpPr>
          <p:cNvPr id="4" name="Text 1"/>
          <p:cNvSpPr txBox="1"/>
          <p:nvPr/>
        </p:nvSpPr>
        <p:spPr>
          <a:xfrm>
            <a:off x="548640" y="1234440"/>
            <a:ext cx="8229600" cy="1005840"/>
          </a:xfrm>
          <a:prstGeom prst="rect">
            <a:avLst/>
          </a:prstGeom>
          <a:noFill/>
          <a:ln/>
        </p:spPr>
        <p:txBody>
          <a:bodyPr wrap="square" lIns="0" tIns="0" rIns="0" bIns="0" rtlCol="0" anchor="t"/>
          <a:lstStyle/>
          <a:p>
            <a:pPr indent="0" marL="0">
              <a:buNone/>
            </a:pPr>
            <a:r>
              <a:rPr lang="en-US" sz="6000" b="1" dirty="0">
                <a:solidFill>
                  <a:srgbClr val="FFFFFF"/>
                </a:solidFill>
                <a:latin typeface="Arial" pitchFamily="34" charset="0"/>
                <a:ea typeface="Arial" pitchFamily="34" charset="-122"/>
                <a:cs typeface="Arial" pitchFamily="34" charset="-120"/>
              </a:rPr>
              <a:t>Nautech</a:t>
            </a:r>
            <a:endParaRPr lang="en-US" sz="6000" dirty="0"/>
          </a:p>
        </p:txBody>
      </p:sp>
      <p:sp>
        <p:nvSpPr>
          <p:cNvPr id="5" name="Text 2"/>
          <p:cNvSpPr txBox="1"/>
          <p:nvPr/>
        </p:nvSpPr>
        <p:spPr>
          <a:xfrm>
            <a:off x="548640" y="2331720"/>
            <a:ext cx="9601200" cy="1188720"/>
          </a:xfrm>
          <a:prstGeom prst="rect">
            <a:avLst/>
          </a:prstGeom>
          <a:noFill/>
          <a:ln/>
        </p:spPr>
        <p:txBody>
          <a:bodyPr wrap="square" lIns="0" tIns="0" rIns="0" bIns="0" rtlCol="0" anchor="t"/>
          <a:lstStyle/>
          <a:p>
            <a:pPr indent="0" marL="0">
              <a:buNone/>
            </a:pPr>
            <a:r>
              <a:rPr lang="en-US" sz="2800" dirty="0">
                <a:solidFill>
                  <a:srgbClr val="FFFFFF"/>
                </a:solidFill>
                <a:latin typeface="Arial" pitchFamily="34" charset="0"/>
                <a:ea typeface="Arial" pitchFamily="34" charset="-122"/>
                <a:cs typeface="Arial" pitchFamily="34" charset="-120"/>
              </a:rPr>
              <a:t>Drifts- og vedlikeholdssystemet for fiskeflåten – med KI som kjenner båten</a:t>
            </a:r>
            <a:endParaRPr lang="en-US" sz="2800" dirty="0"/>
          </a:p>
        </p:txBody>
      </p:sp>
      <p:sp>
        <p:nvSpPr>
          <p:cNvPr id="6" name="Text 3"/>
          <p:cNvSpPr txBox="1"/>
          <p:nvPr/>
        </p:nvSpPr>
        <p:spPr>
          <a:xfrm>
            <a:off x="548640" y="3611880"/>
            <a:ext cx="9601200" cy="457200"/>
          </a:xfrm>
          <a:prstGeom prst="rect">
            <a:avLst/>
          </a:prstGeom>
          <a:noFill/>
          <a:ln/>
        </p:spPr>
        <p:txBody>
          <a:bodyPr wrap="square" lIns="0" tIns="0" rIns="0" bIns="0" rtlCol="0" anchor="t"/>
          <a:lstStyle/>
          <a:p>
            <a:pPr indent="0" marL="0">
              <a:buNone/>
            </a:pPr>
            <a:r>
              <a:rPr lang="en-US" sz="1800" dirty="0">
                <a:solidFill>
                  <a:srgbClr val="7FD1D6"/>
                </a:solidFill>
                <a:latin typeface="Calibri" pitchFamily="34" charset="0"/>
                <a:ea typeface="Calibri" pitchFamily="34" charset="-122"/>
                <a:cs typeface="Calibri" pitchFamily="34" charset="-120"/>
              </a:rPr>
              <a:t>Bygget av en maskinsjef fra fiskeflåten. MVP klar. Rederier i hele Norge er kontaktet.</a:t>
            </a:r>
            <a:endParaRPr lang="en-US" sz="1800" dirty="0"/>
          </a:p>
        </p:txBody>
      </p:sp>
      <p:sp>
        <p:nvSpPr>
          <p:cNvPr id="7" name="Kort"/>
          <p:cNvSpPr/>
          <p:nvPr/>
        </p:nvSpPr>
        <p:spPr>
          <a:xfrm>
            <a:off x="548640" y="4572000"/>
            <a:ext cx="3515258" cy="1051560"/>
          </a:xfrm>
          <a:prstGeom prst="roundRect">
            <a:avLst>
              <a:gd name="adj" fmla="val 10435"/>
            </a:avLst>
          </a:prstGeom>
          <a:solidFill>
            <a:srgbClr val="16324D"/>
          </a:solidFill>
          <a:ln/>
        </p:spPr>
      </p:sp>
      <p:sp>
        <p:nvSpPr>
          <p:cNvPr id="8" name="Ikon-sirkel"/>
          <p:cNvSpPr/>
          <p:nvPr/>
        </p:nvSpPr>
        <p:spPr>
          <a:xfrm>
            <a:off x="777240" y="4773168"/>
            <a:ext cx="640080" cy="640080"/>
          </a:xfrm>
          <a:prstGeom prst="ellipse">
            <a:avLst/>
          </a:prstGeom>
          <a:solidFill>
            <a:srgbClr val="0E7C86"/>
          </a:solidFill>
          <a:ln/>
        </p:spPr>
      </p:sp>
      <p:pic>
        <p:nvPicPr>
          <p:cNvPr id="9" name="Ikon FaLayerGroup" descr="preencoded.png">    </p:cNvPr>
          <p:cNvPicPr>
            <a:picLocks noChangeAspect="1"/>
          </p:cNvPicPr>
          <p:nvPr/>
        </p:nvPicPr>
        <p:blipFill>
          <a:blip r:embed="rId2"/>
          <a:stretch>
            <a:fillRect/>
          </a:stretch>
        </p:blipFill>
        <p:spPr>
          <a:xfrm>
            <a:off x="930859" y="4926787"/>
            <a:ext cx="332842" cy="332842"/>
          </a:xfrm>
          <a:prstGeom prst="rect">
            <a:avLst/>
          </a:prstGeom>
        </p:spPr>
      </p:pic>
      <p:sp>
        <p:nvSpPr>
          <p:cNvPr id="10" name="Text 6"/>
          <p:cNvSpPr txBox="1"/>
          <p:nvPr/>
        </p:nvSpPr>
        <p:spPr>
          <a:xfrm>
            <a:off x="1600200" y="4754880"/>
            <a:ext cx="2326538" cy="7315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14 moduler</a:t>
            </a:r>
            <a:endParaRPr lang="en-US" sz="1800" dirty="0"/>
          </a:p>
          <a:p>
            <a:pPr indent="0" marL="0">
              <a:buNone/>
            </a:pPr>
            <a:r>
              <a:rPr lang="en-US" sz="1400" dirty="0">
                <a:solidFill>
                  <a:srgbClr val="B9C8D4"/>
                </a:solidFill>
                <a:latin typeface="Calibri" pitchFamily="34" charset="0"/>
                <a:ea typeface="Calibri" pitchFamily="34" charset="-122"/>
                <a:cs typeface="Calibri" pitchFamily="34" charset="-120"/>
              </a:rPr>
              <a:t>i ett system</a:t>
            </a:r>
            <a:endParaRPr lang="en-US" sz="1800" dirty="0"/>
          </a:p>
        </p:txBody>
      </p:sp>
      <p:sp>
        <p:nvSpPr>
          <p:cNvPr id="11" name="Kort"/>
          <p:cNvSpPr/>
          <p:nvPr/>
        </p:nvSpPr>
        <p:spPr>
          <a:xfrm>
            <a:off x="4338218" y="4572000"/>
            <a:ext cx="3515258" cy="1051560"/>
          </a:xfrm>
          <a:prstGeom prst="roundRect">
            <a:avLst>
              <a:gd name="adj" fmla="val 10435"/>
            </a:avLst>
          </a:prstGeom>
          <a:solidFill>
            <a:srgbClr val="16324D"/>
          </a:solidFill>
          <a:ln/>
        </p:spPr>
      </p:sp>
      <p:sp>
        <p:nvSpPr>
          <p:cNvPr id="12" name="Ikon-sirkel"/>
          <p:cNvSpPr/>
          <p:nvPr/>
        </p:nvSpPr>
        <p:spPr>
          <a:xfrm>
            <a:off x="4566818" y="4773168"/>
            <a:ext cx="640080" cy="640080"/>
          </a:xfrm>
          <a:prstGeom prst="ellipse">
            <a:avLst/>
          </a:prstGeom>
          <a:solidFill>
            <a:srgbClr val="0E7C86"/>
          </a:solidFill>
          <a:ln/>
        </p:spPr>
      </p:sp>
      <p:pic>
        <p:nvPicPr>
          <p:cNvPr id="13" name="Ikon FaBrain" descr="preencoded.png">    </p:cNvPr>
          <p:cNvPicPr>
            <a:picLocks noChangeAspect="1"/>
          </p:cNvPicPr>
          <p:nvPr/>
        </p:nvPicPr>
        <p:blipFill>
          <a:blip r:embed="rId3"/>
          <a:stretch>
            <a:fillRect/>
          </a:stretch>
        </p:blipFill>
        <p:spPr>
          <a:xfrm>
            <a:off x="4720438" y="4926787"/>
            <a:ext cx="332842" cy="332842"/>
          </a:xfrm>
          <a:prstGeom prst="rect">
            <a:avLst/>
          </a:prstGeom>
        </p:spPr>
      </p:pic>
      <p:sp>
        <p:nvSpPr>
          <p:cNvPr id="14" name="Text 9"/>
          <p:cNvSpPr txBox="1"/>
          <p:nvPr/>
        </p:nvSpPr>
        <p:spPr>
          <a:xfrm>
            <a:off x="5389778" y="4754880"/>
            <a:ext cx="2326538" cy="7315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KI som svarer</a:t>
            </a:r>
            <a:endParaRPr lang="en-US" sz="1800" dirty="0"/>
          </a:p>
          <a:p>
            <a:pPr indent="0" marL="0">
              <a:buNone/>
            </a:pPr>
            <a:r>
              <a:rPr lang="en-US" sz="1400" dirty="0">
                <a:solidFill>
                  <a:srgbClr val="B9C8D4"/>
                </a:solidFill>
                <a:latin typeface="Calibri" pitchFamily="34" charset="0"/>
                <a:ea typeface="Calibri" pitchFamily="34" charset="-122"/>
                <a:cs typeface="Calibri" pitchFamily="34" charset="-120"/>
              </a:rPr>
              <a:t>med kilde fra egne data</a:t>
            </a:r>
            <a:endParaRPr lang="en-US" sz="1800" dirty="0"/>
          </a:p>
        </p:txBody>
      </p:sp>
      <p:sp>
        <p:nvSpPr>
          <p:cNvPr id="15" name="Kort"/>
          <p:cNvSpPr/>
          <p:nvPr/>
        </p:nvSpPr>
        <p:spPr>
          <a:xfrm>
            <a:off x="8127797" y="4572000"/>
            <a:ext cx="3515258" cy="1051560"/>
          </a:xfrm>
          <a:prstGeom prst="roundRect">
            <a:avLst>
              <a:gd name="adj" fmla="val 10435"/>
            </a:avLst>
          </a:prstGeom>
          <a:solidFill>
            <a:srgbClr val="16324D"/>
          </a:solidFill>
          <a:ln/>
        </p:spPr>
      </p:sp>
      <p:sp>
        <p:nvSpPr>
          <p:cNvPr id="16" name="Ikon-sirkel"/>
          <p:cNvSpPr/>
          <p:nvPr/>
        </p:nvSpPr>
        <p:spPr>
          <a:xfrm>
            <a:off x="8356397" y="4773168"/>
            <a:ext cx="640080" cy="640080"/>
          </a:xfrm>
          <a:prstGeom prst="ellipse">
            <a:avLst/>
          </a:prstGeom>
          <a:solidFill>
            <a:srgbClr val="0E7C86"/>
          </a:solidFill>
          <a:ln/>
        </p:spPr>
      </p:sp>
      <p:pic>
        <p:nvPicPr>
          <p:cNvPr id="17" name="Ikon FaLock" descr="preencoded.png">    </p:cNvPr>
          <p:cNvPicPr>
            <a:picLocks noChangeAspect="1"/>
          </p:cNvPicPr>
          <p:nvPr/>
        </p:nvPicPr>
        <p:blipFill>
          <a:blip r:embed="rId4"/>
          <a:stretch>
            <a:fillRect/>
          </a:stretch>
        </p:blipFill>
        <p:spPr>
          <a:xfrm>
            <a:off x="8510016" y="4926787"/>
            <a:ext cx="332842" cy="332842"/>
          </a:xfrm>
          <a:prstGeom prst="rect">
            <a:avLst/>
          </a:prstGeom>
        </p:spPr>
      </p:pic>
      <p:sp>
        <p:nvSpPr>
          <p:cNvPr id="18" name="Text 12"/>
          <p:cNvSpPr txBox="1"/>
          <p:nvPr/>
        </p:nvSpPr>
        <p:spPr>
          <a:xfrm>
            <a:off x="9179357" y="4754880"/>
            <a:ext cx="2326538" cy="7315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Data i Norge</a:t>
            </a:r>
            <a:endParaRPr lang="en-US" sz="1800" dirty="0"/>
          </a:p>
          <a:p>
            <a:pPr indent="0" marL="0">
              <a:buNone/>
            </a:pPr>
            <a:r>
              <a:rPr lang="en-US" sz="1400" dirty="0">
                <a:solidFill>
                  <a:srgbClr val="B9C8D4"/>
                </a:solidFill>
                <a:latin typeface="Calibri" pitchFamily="34" charset="0"/>
                <a:ea typeface="Calibri" pitchFamily="34" charset="-122"/>
                <a:cs typeface="Calibri" pitchFamily="34" charset="-120"/>
              </a:rPr>
              <a:t>brukes ikke til KI-trening</a:t>
            </a:r>
            <a:endParaRPr lang="en-US" sz="1800" dirty="0"/>
          </a:p>
        </p:txBody>
      </p:sp>
      <p:sp>
        <p:nvSpPr>
          <p:cNvPr id="20" name="Text 1"/>
          <p:cNvSpPr/>
          <p:nvPr>
            <p:ph idx="102" type="title" hasCustomPrompt="1"/>
          </p:nvPr>
        </p:nvSpPr>
        <p:spPr>
          <a:xfrm>
            <a:off x="548640" y="658368"/>
            <a:ext cx="11094415" cy="1051560"/>
          </a:xfrm>
          <a:prstGeom prst="rect">
            <a:avLst/>
          </a:prstGeom>
          <a:noFill/>
          <a:ln/>
        </p:spPr>
        <p:txBody>
          <a:bodyPr wrap="square" lIns="0" tIns="0" rIns="0" bIns="0" rtlCol="0" anchor="t"/>
          <a:lstStyle/>
          <a:p>
            <a:pPr algn="l" indent="0" marL="0">
              <a:buNone/>
            </a:pPr>
            <a:endParaRPr lang="en-US" sz="3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3C4"/>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lstStyle/>
          <a:p>
            <a:pPr indent="0" marL="0">
              <a:buNone/>
            </a:pPr>
            <a:r>
              <a:rPr lang="en-US" sz="1200" b="1" spc="200" kern="0" dirty="0">
                <a:solidFill>
                  <a:srgbClr val="0E7C86"/>
                </a:solidFill>
                <a:latin typeface="Calibri" pitchFamily="34" charset="0"/>
                <a:ea typeface="Calibri" pitchFamily="34" charset="-122"/>
                <a:cs typeface="Calibri" pitchFamily="34" charset="-120"/>
              </a:rPr>
              <a:t>PROBLEMET</a:t>
            </a:r>
            <a:endParaRPr lang="en-US" sz="1200" dirty="0"/>
          </a:p>
        </p:txBody>
      </p:sp>
      <p:sp>
        <p:nvSpPr>
          <p:cNvPr id="3" name="Text 1"/>
          <p:cNvSpPr/>
          <p:nvPr>
            <p:ph idx="102" type="title" hasCustomPrompt="1"/>
          </p:nvPr>
        </p:nvSpPr>
        <p:spPr>
          <a:xfrm>
            <a:off x="548640" y="658368"/>
            <a:ext cx="11094415" cy="1051560"/>
          </a:xfrm>
          <a:prstGeom prst="rect">
            <a:avLst/>
          </a:prstGeom>
          <a:noFill/>
          <a:ln/>
        </p:spPr>
        <p:txBody>
          <a:bodyPr wrap="square" lIns="0" tIns="0" rIns="0" bIns="0" rtlCol="0" anchor="t"/>
          <a:lstStyle/>
          <a:p>
            <a:pPr algn="l" indent="0" marL="0">
              <a:buNone/>
            </a:pPr>
            <a:r>
              <a:rPr lang="en-US" sz="3000" b="1" dirty="0">
                <a:solidFill>
                  <a:srgbClr val="0B1F33"/>
                </a:solidFill>
                <a:latin typeface="Arial" pitchFamily="34" charset="0"/>
                <a:ea typeface="Arial" pitchFamily="34" charset="-122"/>
                <a:cs typeface="Arial" pitchFamily="34" charset="-120"/>
              </a:rPr>
              <a:t>Kunnskapen om båten ligger spredt – og går i land med mannskapet</a:t>
            </a:r>
            <a:endParaRPr lang="en-US" sz="3000" dirty="0"/>
          </a:p>
        </p:txBody>
      </p:sp>
      <p:sp>
        <p:nvSpPr>
          <p:cNvPr id="4" name="Kort"/>
          <p:cNvSpPr/>
          <p:nvPr/>
        </p:nvSpPr>
        <p:spPr>
          <a:xfrm>
            <a:off x="548640" y="1828800"/>
            <a:ext cx="5394960" cy="3931920"/>
          </a:xfrm>
          <a:prstGeom prst="roundRect">
            <a:avLst>
              <a:gd name="adj" fmla="val 2791"/>
            </a:avLst>
          </a:prstGeom>
          <a:solidFill>
            <a:srgbClr val="0B1F33"/>
          </a:solidFill>
          <a:ln/>
        </p:spPr>
      </p:sp>
      <p:sp>
        <p:nvSpPr>
          <p:cNvPr id="5" name="Text 3"/>
          <p:cNvSpPr txBox="1"/>
          <p:nvPr/>
        </p:nvSpPr>
        <p:spPr>
          <a:xfrm>
            <a:off x="914400" y="2148840"/>
            <a:ext cx="4663440" cy="3383280"/>
          </a:xfrm>
          <a:prstGeom prst="rect">
            <a:avLst/>
          </a:prstGeom>
          <a:noFill/>
          <a:ln/>
        </p:spPr>
        <p:txBody>
          <a:bodyPr wrap="square" lIns="0" tIns="0" rIns="0" bIns="0" rtlCol="0" anchor="t"/>
          <a:lstStyle/>
          <a:p>
            <a:pPr indent="0" marL="0">
              <a:buNone/>
            </a:pPr>
            <a:r>
              <a:rPr lang="en-US" sz="1200" b="1" spc="200" kern="0" dirty="0">
                <a:solidFill>
                  <a:srgbClr val="7FD1D6"/>
                </a:solidFill>
                <a:latin typeface="Calibri" pitchFamily="34" charset="0"/>
                <a:ea typeface="Calibri" pitchFamily="34" charset="-122"/>
                <a:cs typeface="Calibri" pitchFamily="34" charset="-120"/>
              </a:rPr>
              <a:t>ET TYPISK SCENARIO</a:t>
            </a:r>
            <a:endParaRPr lang="en-US" sz="1200" dirty="0"/>
          </a:p>
          <a:p>
            <a:pPr indent="0" marL="0">
              <a:buNone/>
            </a:pPr>
            <a:r>
              <a:rPr lang="en-US" sz="800" dirty="0">
                <a:solidFill>
                  <a:srgbClr val="1B2A38"/>
                </a:solidFill>
                <a:latin typeface="Calibri" pitchFamily="34" charset="0"/>
                <a:ea typeface="Calibri" pitchFamily="34" charset="-122"/>
                <a:cs typeface="Calibri" pitchFamily="34" charset="-120"/>
              </a:rPr>
              <a:t> </a:t>
            </a:r>
            <a:endParaRPr lang="en-US" sz="1200" dirty="0"/>
          </a:p>
          <a:p>
            <a:pPr indent="0" marL="0">
              <a:buNone/>
            </a:pPr>
            <a:r>
              <a:rPr lang="en-US" sz="2000" dirty="0">
                <a:solidFill>
                  <a:srgbClr val="FFFFFF"/>
                </a:solidFill>
                <a:latin typeface="Calibri" pitchFamily="34" charset="0"/>
                <a:ea typeface="Calibri" pitchFamily="34" charset="-122"/>
                <a:cs typeface="Calibri" pitchFamily="34" charset="-120"/>
              </a:rPr>
              <a:t>Kl. 03 i Barentshavet. Kjølevannspumpa på en hjelpemotor svikter – for tredje gang i år.</a:t>
            </a:r>
            <a:endParaRPr lang="en-US" sz="1200" dirty="0"/>
          </a:p>
          <a:p>
            <a:pPr indent="0" marL="0">
              <a:buNone/>
            </a:pPr>
            <a:r>
              <a:rPr lang="en-US" sz="1000" dirty="0">
                <a:solidFill>
                  <a:srgbClr val="1B2A38"/>
                </a:solidFill>
                <a:latin typeface="Calibri" pitchFamily="34" charset="0"/>
                <a:ea typeface="Calibri" pitchFamily="34" charset="-122"/>
                <a:cs typeface="Calibri" pitchFamily="34" charset="-120"/>
              </a:rPr>
              <a:t> </a:t>
            </a:r>
            <a:endParaRPr lang="en-US" sz="1200" dirty="0"/>
          </a:p>
          <a:p>
            <a:pPr indent="0" marL="0">
              <a:buNone/>
            </a:pPr>
            <a:r>
              <a:rPr lang="en-US" sz="1600" dirty="0">
                <a:solidFill>
                  <a:srgbClr val="C9D6E0"/>
                </a:solidFill>
                <a:latin typeface="Calibri" pitchFamily="34" charset="0"/>
                <a:ea typeface="Calibri" pitchFamily="34" charset="-122"/>
                <a:cs typeface="Calibri" pitchFamily="34" charset="-120"/>
              </a:rPr>
              <a:t>Maskinsjefen på vakt må finne ut hva som ble gjort sist, hvilke deler som ble byttet og hva leverandøren anbefalte. Forrige maskinsjef er i land.</a:t>
            </a:r>
            <a:endParaRPr lang="en-US" sz="1200" dirty="0"/>
          </a:p>
        </p:txBody>
      </p:sp>
      <p:sp>
        <p:nvSpPr>
          <p:cNvPr id="6" name="Text 4"/>
          <p:cNvSpPr txBox="1"/>
          <p:nvPr/>
        </p:nvSpPr>
        <p:spPr>
          <a:xfrm>
            <a:off x="6400800" y="1828800"/>
            <a:ext cx="5212080" cy="365760"/>
          </a:xfrm>
          <a:prstGeom prst="rect">
            <a:avLst/>
          </a:prstGeom>
          <a:noFill/>
          <a:ln/>
        </p:spPr>
        <p:txBody>
          <a:bodyPr wrap="square" lIns="0" tIns="0" rIns="0" bIns="0" rtlCol="0" anchor="t"/>
          <a:lstStyle/>
          <a:p>
            <a:pPr indent="0" marL="0">
              <a:buNone/>
            </a:pPr>
            <a:r>
              <a:rPr lang="en-US" sz="1700" b="1" dirty="0">
                <a:solidFill>
                  <a:srgbClr val="0B1F33"/>
                </a:solidFill>
                <a:latin typeface="Calibri" pitchFamily="34" charset="0"/>
                <a:ea typeface="Calibri" pitchFamily="34" charset="-122"/>
                <a:cs typeface="Calibri" pitchFamily="34" charset="-120"/>
              </a:rPr>
              <a:t>Svaret ligger i dag spredt på:</a:t>
            </a:r>
            <a:endParaRPr lang="en-US" sz="1700" dirty="0"/>
          </a:p>
        </p:txBody>
      </p:sp>
      <p:sp>
        <p:nvSpPr>
          <p:cNvPr id="7" name="Ikon-sirkel"/>
          <p:cNvSpPr/>
          <p:nvPr/>
        </p:nvSpPr>
        <p:spPr>
          <a:xfrm>
            <a:off x="6400800" y="2377440"/>
            <a:ext cx="548640" cy="548640"/>
          </a:xfrm>
          <a:prstGeom prst="ellipse">
            <a:avLst/>
          </a:prstGeom>
          <a:solidFill>
            <a:srgbClr val="DDE7EE"/>
          </a:solidFill>
          <a:ln/>
        </p:spPr>
      </p:sp>
      <p:pic>
        <p:nvPicPr>
          <p:cNvPr id="8" name="Ikon FaTableList" descr="preencoded.png">    </p:cNvPr>
          <p:cNvPicPr>
            <a:picLocks noChangeAspect="1"/>
          </p:cNvPicPr>
          <p:nvPr/>
        </p:nvPicPr>
        <p:blipFill>
          <a:blip r:embed="rId1"/>
          <a:stretch>
            <a:fillRect/>
          </a:stretch>
        </p:blipFill>
        <p:spPr>
          <a:xfrm>
            <a:off x="6532474" y="2509114"/>
            <a:ext cx="285293" cy="285293"/>
          </a:xfrm>
          <a:prstGeom prst="rect">
            <a:avLst/>
          </a:prstGeom>
        </p:spPr>
      </p:pic>
      <p:sp>
        <p:nvSpPr>
          <p:cNvPr id="9" name="Text 6"/>
          <p:cNvSpPr txBox="1"/>
          <p:nvPr/>
        </p:nvSpPr>
        <p:spPr>
          <a:xfrm>
            <a:off x="7132320" y="2359152"/>
            <a:ext cx="4480560" cy="685800"/>
          </a:xfrm>
          <a:prstGeom prst="rect">
            <a:avLst/>
          </a:prstGeom>
          <a:noFill/>
          <a:ln/>
        </p:spPr>
        <p:txBody>
          <a:bodyPr wrap="square" lIns="0" tIns="0" rIns="0" bIns="0" rtlCol="0" anchor="t"/>
          <a:lstStyle/>
          <a:p>
            <a:pPr indent="0" marL="0">
              <a:buNone/>
            </a:pPr>
            <a:r>
              <a:rPr lang="en-US" sz="1600" b="1" dirty="0">
                <a:solidFill>
                  <a:srgbClr val="0B1F33"/>
                </a:solidFill>
                <a:latin typeface="Calibri" pitchFamily="34" charset="0"/>
                <a:ea typeface="Calibri" pitchFamily="34" charset="-122"/>
                <a:cs typeface="Calibri" pitchFamily="34" charset="-120"/>
              </a:rPr>
              <a:t>Vedlikeholdssystemet</a:t>
            </a:r>
            <a:endParaRPr lang="en-US" sz="1600" dirty="0"/>
          </a:p>
          <a:p>
            <a:pPr indent="0" marL="0">
              <a:buNone/>
            </a:pPr>
            <a:r>
              <a:rPr lang="en-US" sz="1400" dirty="0">
                <a:solidFill>
                  <a:srgbClr val="5B6B7A"/>
                </a:solidFill>
                <a:latin typeface="Calibri" pitchFamily="34" charset="0"/>
                <a:ea typeface="Calibri" pitchFamily="34" charset="-122"/>
                <a:cs typeface="Calibri" pitchFamily="34" charset="-120"/>
              </a:rPr>
              <a:t>ofte ett av flere systemer om bord</a:t>
            </a:r>
            <a:endParaRPr lang="en-US" sz="1600" dirty="0"/>
          </a:p>
        </p:txBody>
      </p:sp>
      <p:sp>
        <p:nvSpPr>
          <p:cNvPr id="10" name="Ikon-sirkel"/>
          <p:cNvSpPr/>
          <p:nvPr/>
        </p:nvSpPr>
        <p:spPr>
          <a:xfrm>
            <a:off x="6400800" y="3182112"/>
            <a:ext cx="548640" cy="548640"/>
          </a:xfrm>
          <a:prstGeom prst="ellipse">
            <a:avLst/>
          </a:prstGeom>
          <a:solidFill>
            <a:srgbClr val="DDE7EE"/>
          </a:solidFill>
          <a:ln/>
        </p:spPr>
      </p:sp>
      <p:pic>
        <p:nvPicPr>
          <p:cNvPr id="11" name="Ikon FaEnvelope" descr="preencoded.png">    </p:cNvPr>
          <p:cNvPicPr>
            <a:picLocks noChangeAspect="1"/>
          </p:cNvPicPr>
          <p:nvPr/>
        </p:nvPicPr>
        <p:blipFill>
          <a:blip r:embed="rId2"/>
          <a:stretch>
            <a:fillRect/>
          </a:stretch>
        </p:blipFill>
        <p:spPr>
          <a:xfrm>
            <a:off x="6532474" y="3313786"/>
            <a:ext cx="285293" cy="285293"/>
          </a:xfrm>
          <a:prstGeom prst="rect">
            <a:avLst/>
          </a:prstGeom>
        </p:spPr>
      </p:pic>
      <p:sp>
        <p:nvSpPr>
          <p:cNvPr id="12" name="Text 8"/>
          <p:cNvSpPr txBox="1"/>
          <p:nvPr/>
        </p:nvSpPr>
        <p:spPr>
          <a:xfrm>
            <a:off x="7132320" y="3163824"/>
            <a:ext cx="4480560" cy="685800"/>
          </a:xfrm>
          <a:prstGeom prst="rect">
            <a:avLst/>
          </a:prstGeom>
          <a:noFill/>
          <a:ln/>
        </p:spPr>
        <p:txBody>
          <a:bodyPr wrap="square" lIns="0" tIns="0" rIns="0" bIns="0" rtlCol="0" anchor="t"/>
          <a:lstStyle/>
          <a:p>
            <a:pPr indent="0" marL="0">
              <a:buNone/>
            </a:pPr>
            <a:r>
              <a:rPr lang="en-US" sz="1600" b="1" dirty="0">
                <a:solidFill>
                  <a:srgbClr val="0B1F33"/>
                </a:solidFill>
                <a:latin typeface="Calibri" pitchFamily="34" charset="0"/>
                <a:ea typeface="Calibri" pitchFamily="34" charset="-122"/>
                <a:cs typeface="Calibri" pitchFamily="34" charset="-120"/>
              </a:rPr>
              <a:t>E-post og telefon</a:t>
            </a:r>
            <a:endParaRPr lang="en-US" sz="1600" dirty="0"/>
          </a:p>
          <a:p>
            <a:pPr indent="0" marL="0">
              <a:buNone/>
            </a:pPr>
            <a:r>
              <a:rPr lang="en-US" sz="1400" dirty="0">
                <a:solidFill>
                  <a:srgbClr val="5B6B7A"/>
                </a:solidFill>
                <a:latin typeface="Calibri" pitchFamily="34" charset="0"/>
                <a:ea typeface="Calibri" pitchFamily="34" charset="-122"/>
                <a:cs typeface="Calibri" pitchFamily="34" charset="-120"/>
              </a:rPr>
              <a:t>mellom båt, land og leverandør</a:t>
            </a:r>
            <a:endParaRPr lang="en-US" sz="1600" dirty="0"/>
          </a:p>
        </p:txBody>
      </p:sp>
      <p:sp>
        <p:nvSpPr>
          <p:cNvPr id="13" name="Ikon-sirkel"/>
          <p:cNvSpPr/>
          <p:nvPr/>
        </p:nvSpPr>
        <p:spPr>
          <a:xfrm>
            <a:off x="6400800" y="3986784"/>
            <a:ext cx="548640" cy="548640"/>
          </a:xfrm>
          <a:prstGeom prst="ellipse">
            <a:avLst/>
          </a:prstGeom>
          <a:solidFill>
            <a:srgbClr val="DDE7EE"/>
          </a:solidFill>
          <a:ln/>
        </p:spPr>
      </p:sp>
      <p:pic>
        <p:nvPicPr>
          <p:cNvPr id="14" name="Ikon FaBook" descr="preencoded.png">    </p:cNvPr>
          <p:cNvPicPr>
            <a:picLocks noChangeAspect="1"/>
          </p:cNvPicPr>
          <p:nvPr/>
        </p:nvPicPr>
        <p:blipFill>
          <a:blip r:embed="rId3"/>
          <a:stretch>
            <a:fillRect/>
          </a:stretch>
        </p:blipFill>
        <p:spPr>
          <a:xfrm>
            <a:off x="6532474" y="4118458"/>
            <a:ext cx="285293" cy="285293"/>
          </a:xfrm>
          <a:prstGeom prst="rect">
            <a:avLst/>
          </a:prstGeom>
        </p:spPr>
      </p:pic>
      <p:sp>
        <p:nvSpPr>
          <p:cNvPr id="15" name="Text 10"/>
          <p:cNvSpPr txBox="1"/>
          <p:nvPr/>
        </p:nvSpPr>
        <p:spPr>
          <a:xfrm>
            <a:off x="7132320" y="3968496"/>
            <a:ext cx="4480560" cy="685800"/>
          </a:xfrm>
          <a:prstGeom prst="rect">
            <a:avLst/>
          </a:prstGeom>
          <a:noFill/>
          <a:ln/>
        </p:spPr>
        <p:txBody>
          <a:bodyPr wrap="square" lIns="0" tIns="0" rIns="0" bIns="0" rtlCol="0" anchor="t"/>
          <a:lstStyle/>
          <a:p>
            <a:pPr indent="0" marL="0">
              <a:buNone/>
            </a:pPr>
            <a:r>
              <a:rPr lang="en-US" sz="1600" b="1" dirty="0">
                <a:solidFill>
                  <a:srgbClr val="0B1F33"/>
                </a:solidFill>
                <a:latin typeface="Calibri" pitchFamily="34" charset="0"/>
                <a:ea typeface="Calibri" pitchFamily="34" charset="-122"/>
                <a:cs typeface="Calibri" pitchFamily="34" charset="-120"/>
              </a:rPr>
              <a:t>Permer og manualer</a:t>
            </a:r>
            <a:endParaRPr lang="en-US" sz="1600" dirty="0"/>
          </a:p>
          <a:p>
            <a:pPr indent="0" marL="0">
              <a:buNone/>
            </a:pPr>
            <a:r>
              <a:rPr lang="en-US" sz="1400" dirty="0">
                <a:solidFill>
                  <a:srgbClr val="5B6B7A"/>
                </a:solidFill>
                <a:latin typeface="Calibri" pitchFamily="34" charset="0"/>
                <a:ea typeface="Calibri" pitchFamily="34" charset="-122"/>
                <a:cs typeface="Calibri" pitchFamily="34" charset="-120"/>
              </a:rPr>
              <a:t>på papir eller i mapper på en PC</a:t>
            </a:r>
            <a:endParaRPr lang="en-US" sz="1600" dirty="0"/>
          </a:p>
        </p:txBody>
      </p:sp>
      <p:sp>
        <p:nvSpPr>
          <p:cNvPr id="16" name="Ikon-sirkel"/>
          <p:cNvSpPr/>
          <p:nvPr/>
        </p:nvSpPr>
        <p:spPr>
          <a:xfrm>
            <a:off x="6400800" y="4791456"/>
            <a:ext cx="548640" cy="548640"/>
          </a:xfrm>
          <a:prstGeom prst="ellipse">
            <a:avLst/>
          </a:prstGeom>
          <a:solidFill>
            <a:srgbClr val="DDE7EE"/>
          </a:solidFill>
          <a:ln/>
        </p:spPr>
      </p:sp>
      <p:pic>
        <p:nvPicPr>
          <p:cNvPr id="17" name="Ikon FaUserClock" descr="preencoded.png">    </p:cNvPr>
          <p:cNvPicPr>
            <a:picLocks noChangeAspect="1"/>
          </p:cNvPicPr>
          <p:nvPr/>
        </p:nvPicPr>
        <p:blipFill>
          <a:blip r:embed="rId4"/>
          <a:stretch>
            <a:fillRect/>
          </a:stretch>
        </p:blipFill>
        <p:spPr>
          <a:xfrm>
            <a:off x="6532474" y="4923130"/>
            <a:ext cx="285293" cy="285293"/>
          </a:xfrm>
          <a:prstGeom prst="rect">
            <a:avLst/>
          </a:prstGeom>
        </p:spPr>
      </p:pic>
      <p:sp>
        <p:nvSpPr>
          <p:cNvPr id="18" name="Text 12"/>
          <p:cNvSpPr txBox="1"/>
          <p:nvPr/>
        </p:nvSpPr>
        <p:spPr>
          <a:xfrm>
            <a:off x="7132320" y="4773168"/>
            <a:ext cx="4480560" cy="685800"/>
          </a:xfrm>
          <a:prstGeom prst="rect">
            <a:avLst/>
          </a:prstGeom>
          <a:noFill/>
          <a:ln/>
        </p:spPr>
        <p:txBody>
          <a:bodyPr wrap="square" lIns="0" tIns="0" rIns="0" bIns="0" rtlCol="0" anchor="t"/>
          <a:lstStyle/>
          <a:p>
            <a:pPr indent="0" marL="0">
              <a:buNone/>
            </a:pPr>
            <a:r>
              <a:rPr lang="en-US" sz="1600" b="1" dirty="0">
                <a:solidFill>
                  <a:srgbClr val="0B1F33"/>
                </a:solidFill>
                <a:latin typeface="Calibri" pitchFamily="34" charset="0"/>
                <a:ea typeface="Calibri" pitchFamily="34" charset="-122"/>
                <a:cs typeface="Calibri" pitchFamily="34" charset="-120"/>
              </a:rPr>
              <a:t>Hodet til forrige skift</a:t>
            </a:r>
            <a:endParaRPr lang="en-US" sz="1600" dirty="0"/>
          </a:p>
          <a:p>
            <a:pPr indent="0" marL="0">
              <a:buNone/>
            </a:pPr>
            <a:r>
              <a:rPr lang="en-US" sz="1400" dirty="0">
                <a:solidFill>
                  <a:srgbClr val="5B6B7A"/>
                </a:solidFill>
                <a:latin typeface="Calibri" pitchFamily="34" charset="0"/>
                <a:ea typeface="Calibri" pitchFamily="34" charset="-122"/>
                <a:cs typeface="Calibri" pitchFamily="34" charset="-120"/>
              </a:rPr>
              <a:t>som ikke er om bord nå</a:t>
            </a:r>
            <a:endParaRPr lang="en-US" sz="1600" dirty="0"/>
          </a:p>
        </p:txBody>
      </p:sp>
      <p:sp>
        <p:nvSpPr>
          <p:cNvPr id="19" name="Text 13"/>
          <p:cNvSpPr txBox="1"/>
          <p:nvPr/>
        </p:nvSpPr>
        <p:spPr>
          <a:xfrm>
            <a:off x="548640" y="5989320"/>
            <a:ext cx="11094415" cy="320040"/>
          </a:xfrm>
          <a:prstGeom prst="rect">
            <a:avLst/>
          </a:prstGeom>
          <a:noFill/>
          <a:ln/>
        </p:spPr>
        <p:txBody>
          <a:bodyPr wrap="square" lIns="0" tIns="0" rIns="0" bIns="0" rtlCol="0" anchor="b"/>
          <a:lstStyle/>
          <a:p>
            <a:pPr indent="0" marL="0">
              <a:buNone/>
            </a:pPr>
            <a:r>
              <a:rPr lang="en-US" sz="1100" dirty="0">
                <a:solidFill>
                  <a:srgbClr val="5B6B7A"/>
                </a:solidFill>
              </a:rPr>
              <a:t>Resultatet: tid går tapt, feil gjentar seg, og ledelsen på land mangler et samlet bilde av driften.</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lstStyle/>
          <a:p>
            <a:pPr indent="0" marL="0">
              <a:buNone/>
            </a:pPr>
            <a:r>
              <a:rPr lang="en-US" sz="1200" b="1" spc="200" kern="0" dirty="0">
                <a:solidFill>
                  <a:srgbClr val="0E7C86"/>
                </a:solidFill>
                <a:latin typeface="Calibri" pitchFamily="34" charset="0"/>
                <a:ea typeface="Calibri" pitchFamily="34" charset="-122"/>
                <a:cs typeface="Calibri" pitchFamily="34" charset="-120"/>
              </a:rPr>
              <a:t>LØSNINGEN</a:t>
            </a:r>
            <a:endParaRPr lang="en-US" sz="1200" dirty="0"/>
          </a:p>
        </p:txBody>
      </p:sp>
      <p:sp>
        <p:nvSpPr>
          <p:cNvPr id="3" name="Text 1"/>
          <p:cNvSpPr/>
          <p:nvPr>
            <p:ph idx="102" type="title" hasCustomPrompt="1"/>
          </p:nvPr>
        </p:nvSpPr>
        <p:spPr>
          <a:xfrm>
            <a:off x="548640" y="658368"/>
            <a:ext cx="11094415" cy="1051560"/>
          </a:xfrm>
          <a:prstGeom prst="rect">
            <a:avLst/>
          </a:prstGeom>
          <a:noFill/>
          <a:ln/>
        </p:spPr>
        <p:txBody>
          <a:bodyPr wrap="square" lIns="0" tIns="0" rIns="0" bIns="0" rtlCol="0" anchor="t"/>
          <a:lstStyle/>
          <a:p>
            <a:pPr algn="l" indent="0" marL="0">
              <a:buNone/>
            </a:pPr>
            <a:r>
              <a:rPr lang="en-US" sz="3000" b="1" dirty="0">
                <a:solidFill>
                  <a:srgbClr val="0B1F33"/>
                </a:solidFill>
                <a:latin typeface="Arial" pitchFamily="34" charset="0"/>
                <a:ea typeface="Arial" pitchFamily="34" charset="-122"/>
                <a:cs typeface="Arial" pitchFamily="34" charset="-120"/>
              </a:rPr>
              <a:t>Nautech samler alt om båten på ett sted – og lar mannskapet spørre om det</a:t>
            </a:r>
            <a:endParaRPr lang="en-US" sz="3000" dirty="0"/>
          </a:p>
        </p:txBody>
      </p:sp>
      <p:sp>
        <p:nvSpPr>
          <p:cNvPr id="4" name="Ikon-sirkel"/>
          <p:cNvSpPr/>
          <p:nvPr/>
        </p:nvSpPr>
        <p:spPr>
          <a:xfrm>
            <a:off x="548640" y="1920240"/>
            <a:ext cx="685800" cy="685800"/>
          </a:xfrm>
          <a:prstGeom prst="ellipse">
            <a:avLst/>
          </a:prstGeom>
          <a:solidFill>
            <a:srgbClr val="0E7C86"/>
          </a:solidFill>
          <a:ln/>
        </p:spPr>
      </p:sp>
      <p:pic>
        <p:nvPicPr>
          <p:cNvPr id="5" name="Ikon FaLayerGroup" descr="preencoded.png">    </p:cNvPr>
          <p:cNvPicPr>
            <a:picLocks noChangeAspect="1"/>
          </p:cNvPicPr>
          <p:nvPr/>
        </p:nvPicPr>
        <p:blipFill>
          <a:blip r:embed="rId1"/>
          <a:stretch>
            <a:fillRect/>
          </a:stretch>
        </p:blipFill>
        <p:spPr>
          <a:xfrm>
            <a:off x="713232" y="2084832"/>
            <a:ext cx="356616" cy="356616"/>
          </a:xfrm>
          <a:prstGeom prst="rect">
            <a:avLst/>
          </a:prstGeom>
        </p:spPr>
      </p:pic>
      <p:sp>
        <p:nvSpPr>
          <p:cNvPr id="6" name="Text 3"/>
          <p:cNvSpPr txBox="1"/>
          <p:nvPr/>
        </p:nvSpPr>
        <p:spPr>
          <a:xfrm>
            <a:off x="1463040" y="1874520"/>
            <a:ext cx="3520440" cy="1280160"/>
          </a:xfrm>
          <a:prstGeom prst="rect">
            <a:avLst/>
          </a:prstGeom>
          <a:noFill/>
          <a:ln/>
        </p:spPr>
        <p:txBody>
          <a:bodyPr wrap="square" lIns="0" tIns="0" rIns="0" bIns="0" rtlCol="0" anchor="t"/>
          <a:lstStyle/>
          <a:p>
            <a:pPr indent="0" marL="0">
              <a:buNone/>
            </a:pPr>
            <a:r>
              <a:rPr lang="en-US" sz="1900" b="1" dirty="0">
                <a:solidFill>
                  <a:srgbClr val="0B1F33"/>
                </a:solidFill>
                <a:latin typeface="Calibri" pitchFamily="34" charset="0"/>
                <a:ea typeface="Calibri" pitchFamily="34" charset="-122"/>
                <a:cs typeface="Calibri" pitchFamily="34" charset="-120"/>
              </a:rPr>
              <a:t>Ett system for hele driften</a:t>
            </a:r>
            <a:endParaRPr lang="en-US" sz="1900" dirty="0"/>
          </a:p>
          <a:p>
            <a:pPr indent="0" marL="0">
              <a:buNone/>
            </a:pPr>
            <a:r>
              <a:rPr lang="en-US" sz="1500" dirty="0">
                <a:solidFill>
                  <a:srgbClr val="1B2A38"/>
                </a:solidFill>
                <a:latin typeface="Calibri" pitchFamily="34" charset="0"/>
                <a:ea typeface="Calibri" pitchFamily="34" charset="-122"/>
                <a:cs typeface="Calibri" pitchFamily="34" charset="-120"/>
              </a:rPr>
              <a:t>Vedlikehold, sikkerhet, dokumenter, mannskap, fangst og økonomi. Erstatter flere systemer og regneark.</a:t>
            </a:r>
            <a:endParaRPr lang="en-US" sz="1900" dirty="0"/>
          </a:p>
        </p:txBody>
      </p:sp>
      <p:sp>
        <p:nvSpPr>
          <p:cNvPr id="7" name="Ikon-sirkel"/>
          <p:cNvSpPr/>
          <p:nvPr/>
        </p:nvSpPr>
        <p:spPr>
          <a:xfrm>
            <a:off x="548640" y="3246120"/>
            <a:ext cx="685800" cy="685800"/>
          </a:xfrm>
          <a:prstGeom prst="ellipse">
            <a:avLst/>
          </a:prstGeom>
          <a:solidFill>
            <a:srgbClr val="0E7C86"/>
          </a:solidFill>
          <a:ln/>
        </p:spPr>
      </p:sp>
      <p:pic>
        <p:nvPicPr>
          <p:cNvPr id="8" name="Ikon FaBrain" descr="preencoded.png">    </p:cNvPr>
          <p:cNvPicPr>
            <a:picLocks noChangeAspect="1"/>
          </p:cNvPicPr>
          <p:nvPr/>
        </p:nvPicPr>
        <p:blipFill>
          <a:blip r:embed="rId2"/>
          <a:stretch>
            <a:fillRect/>
          </a:stretch>
        </p:blipFill>
        <p:spPr>
          <a:xfrm>
            <a:off x="713232" y="3410712"/>
            <a:ext cx="356616" cy="356616"/>
          </a:xfrm>
          <a:prstGeom prst="rect">
            <a:avLst/>
          </a:prstGeom>
        </p:spPr>
      </p:pic>
      <p:sp>
        <p:nvSpPr>
          <p:cNvPr id="9" name="Text 5"/>
          <p:cNvSpPr txBox="1"/>
          <p:nvPr/>
        </p:nvSpPr>
        <p:spPr>
          <a:xfrm>
            <a:off x="1463040" y="3200400"/>
            <a:ext cx="3520440" cy="1280160"/>
          </a:xfrm>
          <a:prstGeom prst="rect">
            <a:avLst/>
          </a:prstGeom>
          <a:noFill/>
          <a:ln/>
        </p:spPr>
        <p:txBody>
          <a:bodyPr wrap="square" lIns="0" tIns="0" rIns="0" bIns="0" rtlCol="0" anchor="t"/>
          <a:lstStyle/>
          <a:p>
            <a:pPr indent="0" marL="0">
              <a:buNone/>
            </a:pPr>
            <a:r>
              <a:rPr lang="en-US" sz="1900" b="1" dirty="0">
                <a:solidFill>
                  <a:srgbClr val="0B1F33"/>
                </a:solidFill>
                <a:latin typeface="Calibri" pitchFamily="34" charset="0"/>
                <a:ea typeface="Calibri" pitchFamily="34" charset="-122"/>
                <a:cs typeface="Calibri" pitchFamily="34" charset="-120"/>
              </a:rPr>
              <a:t>KI som kjenner båten</a:t>
            </a:r>
            <a:endParaRPr lang="en-US" sz="1900" dirty="0"/>
          </a:p>
          <a:p>
            <a:pPr indent="0" marL="0">
              <a:buNone/>
            </a:pPr>
            <a:r>
              <a:rPr lang="en-US" sz="1500" dirty="0">
                <a:solidFill>
                  <a:srgbClr val="1B2A38"/>
                </a:solidFill>
                <a:latin typeface="Calibri" pitchFamily="34" charset="0"/>
                <a:ea typeface="Calibri" pitchFamily="34" charset="-122"/>
                <a:cs typeface="Calibri" pitchFamily="34" charset="-120"/>
              </a:rPr>
              <a:t>Søker i rederiets egne logger, manualer og dokumenter, og viser hvor svaret kommer fra.</a:t>
            </a:r>
            <a:endParaRPr lang="en-US" sz="1900" dirty="0"/>
          </a:p>
        </p:txBody>
      </p:sp>
      <p:sp>
        <p:nvSpPr>
          <p:cNvPr id="10" name="Ikon-sirkel"/>
          <p:cNvSpPr/>
          <p:nvPr/>
        </p:nvSpPr>
        <p:spPr>
          <a:xfrm>
            <a:off x="548640" y="4572000"/>
            <a:ext cx="685800" cy="685800"/>
          </a:xfrm>
          <a:prstGeom prst="ellipse">
            <a:avLst/>
          </a:prstGeom>
          <a:solidFill>
            <a:srgbClr val="0E7C86"/>
          </a:solidFill>
          <a:ln/>
        </p:spPr>
      </p:sp>
      <p:pic>
        <p:nvPicPr>
          <p:cNvPr id="11" name="Ikon FaPeopleArrows" descr="preencoded.png">    </p:cNvPr>
          <p:cNvPicPr>
            <a:picLocks noChangeAspect="1"/>
          </p:cNvPicPr>
          <p:nvPr/>
        </p:nvPicPr>
        <p:blipFill>
          <a:blip r:embed="rId3"/>
          <a:stretch>
            <a:fillRect/>
          </a:stretch>
        </p:blipFill>
        <p:spPr>
          <a:xfrm>
            <a:off x="713232" y="4736592"/>
            <a:ext cx="356616" cy="356616"/>
          </a:xfrm>
          <a:prstGeom prst="rect">
            <a:avLst/>
          </a:prstGeom>
        </p:spPr>
      </p:pic>
      <p:sp>
        <p:nvSpPr>
          <p:cNvPr id="12" name="Text 7"/>
          <p:cNvSpPr txBox="1"/>
          <p:nvPr/>
        </p:nvSpPr>
        <p:spPr>
          <a:xfrm>
            <a:off x="1463040" y="4526280"/>
            <a:ext cx="3520440" cy="1280160"/>
          </a:xfrm>
          <a:prstGeom prst="rect">
            <a:avLst/>
          </a:prstGeom>
          <a:noFill/>
          <a:ln/>
        </p:spPr>
        <p:txBody>
          <a:bodyPr wrap="square" lIns="0" tIns="0" rIns="0" bIns="0" rtlCol="0" anchor="t"/>
          <a:lstStyle/>
          <a:p>
            <a:pPr indent="0" marL="0">
              <a:buNone/>
            </a:pPr>
            <a:r>
              <a:rPr lang="en-US" sz="1900" b="1" dirty="0">
                <a:solidFill>
                  <a:srgbClr val="0B1F33"/>
                </a:solidFill>
                <a:latin typeface="Calibri" pitchFamily="34" charset="0"/>
                <a:ea typeface="Calibri" pitchFamily="34" charset="-122"/>
                <a:cs typeface="Calibri" pitchFamily="34" charset="-120"/>
              </a:rPr>
              <a:t>Samme bilde om bord og på land</a:t>
            </a:r>
            <a:endParaRPr lang="en-US" sz="1900" dirty="0"/>
          </a:p>
          <a:p>
            <a:pPr indent="0" marL="0">
              <a:buNone/>
            </a:pPr>
            <a:r>
              <a:rPr lang="en-US" sz="1500" dirty="0">
                <a:solidFill>
                  <a:srgbClr val="1B2A38"/>
                </a:solidFill>
                <a:latin typeface="Calibri" pitchFamily="34" charset="0"/>
                <a:ea typeface="Calibri" pitchFamily="34" charset="-122"/>
                <a:cs typeface="Calibri" pitchFamily="34" charset="-120"/>
              </a:rPr>
              <a:t>Maskinsjef, skipper og teknisk sjef ser de samme sakene, statusene og hvem som har ansvaret.</a:t>
            </a:r>
            <a:endParaRPr lang="en-US" sz="1900" dirty="0"/>
          </a:p>
        </p:txBody>
      </p:sp>
      <p:sp>
        <p:nvSpPr>
          <p:cNvPr id="13" name="Skjermbilde-ramme"/>
          <p:cNvSpPr/>
          <p:nvPr/>
        </p:nvSpPr>
        <p:spPr>
          <a:xfrm>
            <a:off x="5221224" y="1792224"/>
            <a:ext cx="6458407" cy="4063937"/>
          </a:xfrm>
          <a:prstGeom prst="rect">
            <a:avLst/>
          </a:prstGeom>
          <a:solidFill>
            <a:srgbClr val="FFFFFF"/>
          </a:solidFill>
          <a:ln w="12700">
            <a:solidFill>
              <a:srgbClr val="C9D5DE"/>
            </a:solidFill>
            <a:prstDash val="solid"/>
          </a:ln>
          <a:effectLst>
            <a:outerShdw sx="100000" sy="100000" kx="0" ky="0" algn="bl" rotWithShape="0" blurRad="101600" dist="38100" dir="5400000">
              <a:srgbClr val="000000">
                <a:alpha val="18000"/>
              </a:srgbClr>
            </a:outerShdw>
          </a:effectLst>
        </p:spPr>
      </p:sp>
      <p:pic>
        <p:nvPicPr>
          <p:cNvPr id="14" name="Skjermbilde command-center__dashboard.png" descr="/tmp/claude-0/-home-user-Claude/bbdec16f-2a10-550d-bb32-af07b09e4311/scratchpad/build/img/command-center__dashboard.png">    </p:cNvPr>
          <p:cNvPicPr>
            <a:picLocks noChangeAspect="1"/>
          </p:cNvPicPr>
          <p:nvPr/>
        </p:nvPicPr>
        <p:blipFill>
          <a:blip r:embed="rId4"/>
          <a:stretch>
            <a:fillRect/>
          </a:stretch>
        </p:blipFill>
        <p:spPr>
          <a:xfrm>
            <a:off x="5257800" y="1828800"/>
            <a:ext cx="6385255" cy="3990785"/>
          </a:xfrm>
          <a:prstGeom prst="rect">
            <a:avLst/>
          </a:prstGeom>
        </p:spPr>
      </p:pic>
      <p:sp>
        <p:nvSpPr>
          <p:cNvPr id="15" name="Text 9"/>
          <p:cNvSpPr txBox="1"/>
          <p:nvPr/>
        </p:nvSpPr>
        <p:spPr>
          <a:xfrm>
            <a:off x="5257800" y="5929313"/>
            <a:ext cx="6385255" cy="274320"/>
          </a:xfrm>
          <a:prstGeom prst="rect">
            <a:avLst/>
          </a:prstGeom>
          <a:noFill/>
          <a:ln/>
        </p:spPr>
        <p:txBody>
          <a:bodyPr wrap="square" lIns="0" tIns="0" rIns="0" bIns="0" rtlCol="0" anchor="ctr"/>
          <a:lstStyle/>
          <a:p>
            <a:pPr indent="0" marL="0">
              <a:buNone/>
            </a:pPr>
            <a:r>
              <a:rPr lang="en-US" sz="1100" i="1" dirty="0">
                <a:solidFill>
                  <a:srgbClr val="5B6B7A"/>
                </a:solidFill>
                <a:latin typeface="Calibri" pitchFamily="34" charset="0"/>
                <a:ea typeface="Calibri" pitchFamily="34" charset="-122"/>
                <a:cs typeface="Calibri" pitchFamily="34" charset="-120"/>
              </a:rPr>
              <a:t>Oversikten i Nautech: fartøy, arbeidsordrer, sertifikater og hendelser på ett sted.</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lstStyle/>
          <a:p>
            <a:pPr indent="0" marL="0">
              <a:buNone/>
            </a:pPr>
            <a:r>
              <a:rPr lang="en-US" sz="1200" b="1" spc="200" kern="0" dirty="0">
                <a:solidFill>
                  <a:srgbClr val="0E7C86"/>
                </a:solidFill>
                <a:latin typeface="Calibri" pitchFamily="34" charset="0"/>
                <a:ea typeface="Calibri" pitchFamily="34" charset="-122"/>
                <a:cs typeface="Calibri" pitchFamily="34" charset="-120"/>
              </a:rPr>
              <a:t>SLIK VIRKER DET</a:t>
            </a:r>
            <a:endParaRPr lang="en-US" sz="1200" dirty="0"/>
          </a:p>
        </p:txBody>
      </p:sp>
      <p:sp>
        <p:nvSpPr>
          <p:cNvPr id="3" name="Text 1"/>
          <p:cNvSpPr/>
          <p:nvPr>
            <p:ph idx="102" type="title" hasCustomPrompt="1"/>
          </p:nvPr>
        </p:nvSpPr>
        <p:spPr>
          <a:xfrm>
            <a:off x="548640" y="658368"/>
            <a:ext cx="11094415" cy="1051560"/>
          </a:xfrm>
          <a:prstGeom prst="rect">
            <a:avLst/>
          </a:prstGeom>
          <a:noFill/>
          <a:ln/>
        </p:spPr>
        <p:txBody>
          <a:bodyPr wrap="square" lIns="0" tIns="0" rIns="0" bIns="0" rtlCol="0" anchor="t"/>
          <a:lstStyle/>
          <a:p>
            <a:pPr algn="l" indent="0" marL="0">
              <a:buNone/>
            </a:pPr>
            <a:r>
              <a:rPr lang="en-US" sz="3000" b="1" dirty="0">
                <a:solidFill>
                  <a:srgbClr val="0B1F33"/>
                </a:solidFill>
                <a:latin typeface="Arial" pitchFamily="34" charset="0"/>
                <a:ea typeface="Arial" pitchFamily="34" charset="-122"/>
                <a:cs typeface="Arial" pitchFamily="34" charset="-120"/>
              </a:rPr>
              <a:t>Eksempel: Pumpa svikter igjen – slik hjelper Nautech</a:t>
            </a:r>
            <a:endParaRPr lang="en-US" sz="3000" dirty="0"/>
          </a:p>
        </p:txBody>
      </p:sp>
      <p:sp>
        <p:nvSpPr>
          <p:cNvPr id="4" name="Shape 2"/>
          <p:cNvSpPr/>
          <p:nvPr/>
        </p:nvSpPr>
        <p:spPr>
          <a:xfrm>
            <a:off x="548640" y="1874520"/>
            <a:ext cx="548640" cy="548640"/>
          </a:xfrm>
          <a:prstGeom prst="ellipse">
            <a:avLst/>
          </a:prstGeom>
          <a:solidFill>
            <a:srgbClr val="0E7C86"/>
          </a:solidFill>
          <a:ln/>
        </p:spPr>
      </p:sp>
      <p:sp>
        <p:nvSpPr>
          <p:cNvPr id="5" name="Text 3"/>
          <p:cNvSpPr txBox="1"/>
          <p:nvPr/>
        </p:nvSpPr>
        <p:spPr>
          <a:xfrm>
            <a:off x="548640" y="18745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6" name="Text 4"/>
          <p:cNvSpPr txBox="1"/>
          <p:nvPr/>
        </p:nvSpPr>
        <p:spPr>
          <a:xfrm>
            <a:off x="1325880" y="1828800"/>
            <a:ext cx="3657600" cy="960120"/>
          </a:xfrm>
          <a:prstGeom prst="rect">
            <a:avLst/>
          </a:prstGeom>
          <a:noFill/>
          <a:ln/>
        </p:spPr>
        <p:txBody>
          <a:bodyPr wrap="square" lIns="0" tIns="0" rIns="0" bIns="0" rtlCol="0" anchor="t"/>
          <a:lstStyle/>
          <a:p>
            <a:pPr indent="0" marL="0">
              <a:buNone/>
            </a:pPr>
            <a:r>
              <a:rPr lang="en-US" sz="1700" b="1" dirty="0">
                <a:solidFill>
                  <a:srgbClr val="0B1F33"/>
                </a:solidFill>
                <a:latin typeface="Calibri" pitchFamily="34" charset="0"/>
                <a:ea typeface="Calibri" pitchFamily="34" charset="-122"/>
                <a:cs typeface="Calibri" pitchFamily="34" charset="-120"/>
              </a:rPr>
              <a:t>Spør</a:t>
            </a:r>
            <a:endParaRPr lang="en-US" sz="1700" dirty="0"/>
          </a:p>
          <a:p>
            <a:pPr indent="0" marL="0">
              <a:buNone/>
            </a:pPr>
            <a:r>
              <a:rPr lang="en-US" sz="1500" dirty="0">
                <a:solidFill>
                  <a:srgbClr val="1B2A38"/>
                </a:solidFill>
                <a:latin typeface="Calibri" pitchFamily="34" charset="0"/>
                <a:ea typeface="Calibri" pitchFamily="34" charset="-122"/>
                <a:cs typeface="Calibri" pitchFamily="34" charset="-120"/>
              </a:rPr>
              <a:t>Maskinsjefen skriver: «Hva vet vi om kjølevannspumpa på hjelpemotor 2?»</a:t>
            </a:r>
            <a:endParaRPr lang="en-US" sz="1700" dirty="0"/>
          </a:p>
        </p:txBody>
      </p:sp>
      <p:sp>
        <p:nvSpPr>
          <p:cNvPr id="7" name="Shape 5"/>
          <p:cNvSpPr/>
          <p:nvPr/>
        </p:nvSpPr>
        <p:spPr>
          <a:xfrm>
            <a:off x="548640" y="2880360"/>
            <a:ext cx="548640" cy="548640"/>
          </a:xfrm>
          <a:prstGeom prst="ellipse">
            <a:avLst/>
          </a:prstGeom>
          <a:solidFill>
            <a:srgbClr val="0E7C86"/>
          </a:solidFill>
          <a:ln/>
        </p:spPr>
      </p:sp>
      <p:sp>
        <p:nvSpPr>
          <p:cNvPr id="8" name="Text 6"/>
          <p:cNvSpPr txBox="1"/>
          <p:nvPr/>
        </p:nvSpPr>
        <p:spPr>
          <a:xfrm>
            <a:off x="548640" y="28803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9" name="Text 7"/>
          <p:cNvSpPr txBox="1"/>
          <p:nvPr/>
        </p:nvSpPr>
        <p:spPr>
          <a:xfrm>
            <a:off x="1325880" y="2834640"/>
            <a:ext cx="3657600" cy="960120"/>
          </a:xfrm>
          <a:prstGeom prst="rect">
            <a:avLst/>
          </a:prstGeom>
          <a:noFill/>
          <a:ln/>
        </p:spPr>
        <p:txBody>
          <a:bodyPr wrap="square" lIns="0" tIns="0" rIns="0" bIns="0" rtlCol="0" anchor="t"/>
          <a:lstStyle/>
          <a:p>
            <a:pPr indent="0" marL="0">
              <a:buNone/>
            </a:pPr>
            <a:r>
              <a:rPr lang="en-US" sz="1700" b="1" dirty="0">
                <a:solidFill>
                  <a:srgbClr val="0B1F33"/>
                </a:solidFill>
                <a:latin typeface="Calibri" pitchFamily="34" charset="0"/>
                <a:ea typeface="Calibri" pitchFamily="34" charset="-122"/>
                <a:cs typeface="Calibri" pitchFamily="34" charset="-120"/>
              </a:rPr>
              <a:t>Få svar med kilde</a:t>
            </a:r>
            <a:endParaRPr lang="en-US" sz="1700" dirty="0"/>
          </a:p>
          <a:p>
            <a:pPr indent="0" marL="0">
              <a:buNone/>
            </a:pPr>
            <a:r>
              <a:rPr lang="en-US" sz="1500" dirty="0">
                <a:solidFill>
                  <a:srgbClr val="1B2A38"/>
                </a:solidFill>
                <a:latin typeface="Calibri" pitchFamily="34" charset="0"/>
                <a:ea typeface="Calibri" pitchFamily="34" charset="-122"/>
                <a:cs typeface="Calibri" pitchFamily="34" charset="-120"/>
              </a:rPr>
              <a:t>Nautech henter tidligere arbeidsordrer, byttede deler og riktig side i manualen.</a:t>
            </a:r>
            <a:endParaRPr lang="en-US" sz="1700" dirty="0"/>
          </a:p>
        </p:txBody>
      </p:sp>
      <p:sp>
        <p:nvSpPr>
          <p:cNvPr id="10" name="Shape 8"/>
          <p:cNvSpPr/>
          <p:nvPr/>
        </p:nvSpPr>
        <p:spPr>
          <a:xfrm>
            <a:off x="548640" y="3886200"/>
            <a:ext cx="548640" cy="548640"/>
          </a:xfrm>
          <a:prstGeom prst="ellipse">
            <a:avLst/>
          </a:prstGeom>
          <a:solidFill>
            <a:srgbClr val="0E7C86"/>
          </a:solidFill>
          <a:ln/>
        </p:spPr>
      </p:sp>
      <p:sp>
        <p:nvSpPr>
          <p:cNvPr id="11" name="Text 9"/>
          <p:cNvSpPr txBox="1"/>
          <p:nvPr/>
        </p:nvSpPr>
        <p:spPr>
          <a:xfrm>
            <a:off x="548640" y="388620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2" name="Text 10"/>
          <p:cNvSpPr txBox="1"/>
          <p:nvPr/>
        </p:nvSpPr>
        <p:spPr>
          <a:xfrm>
            <a:off x="1325880" y="3840480"/>
            <a:ext cx="3657600" cy="960120"/>
          </a:xfrm>
          <a:prstGeom prst="rect">
            <a:avLst/>
          </a:prstGeom>
          <a:noFill/>
          <a:ln/>
        </p:spPr>
        <p:txBody>
          <a:bodyPr wrap="square" lIns="0" tIns="0" rIns="0" bIns="0" rtlCol="0" anchor="t"/>
          <a:lstStyle/>
          <a:p>
            <a:pPr indent="0" marL="0">
              <a:buNone/>
            </a:pPr>
            <a:r>
              <a:rPr lang="en-US" sz="1700" b="1" dirty="0">
                <a:solidFill>
                  <a:srgbClr val="0B1F33"/>
                </a:solidFill>
                <a:latin typeface="Calibri" pitchFamily="34" charset="0"/>
                <a:ea typeface="Calibri" pitchFamily="34" charset="-122"/>
                <a:cs typeface="Calibri" pitchFamily="34" charset="-120"/>
              </a:rPr>
              <a:t>Bestem tiltak</a:t>
            </a:r>
            <a:endParaRPr lang="en-US" sz="1700" dirty="0"/>
          </a:p>
          <a:p>
            <a:pPr indent="0" marL="0">
              <a:buNone/>
            </a:pPr>
            <a:r>
              <a:rPr lang="en-US" sz="1500" dirty="0">
                <a:solidFill>
                  <a:srgbClr val="1B2A38"/>
                </a:solidFill>
                <a:latin typeface="Calibri" pitchFamily="34" charset="0"/>
                <a:ea typeface="Calibri" pitchFamily="34" charset="-122"/>
                <a:cs typeface="Calibri" pitchFamily="34" charset="-120"/>
              </a:rPr>
              <a:t>Fagpersonen vurderer svaret og oppretter arbeidsordren direkte.</a:t>
            </a:r>
            <a:endParaRPr lang="en-US" sz="1700" dirty="0"/>
          </a:p>
        </p:txBody>
      </p:sp>
      <p:sp>
        <p:nvSpPr>
          <p:cNvPr id="13" name="Shape 11"/>
          <p:cNvSpPr/>
          <p:nvPr/>
        </p:nvSpPr>
        <p:spPr>
          <a:xfrm>
            <a:off x="548640" y="4892040"/>
            <a:ext cx="548640" cy="548640"/>
          </a:xfrm>
          <a:prstGeom prst="ellipse">
            <a:avLst/>
          </a:prstGeom>
          <a:solidFill>
            <a:srgbClr val="0E7C86"/>
          </a:solidFill>
          <a:ln/>
        </p:spPr>
      </p:sp>
      <p:sp>
        <p:nvSpPr>
          <p:cNvPr id="14" name="Text 12"/>
          <p:cNvSpPr txBox="1"/>
          <p:nvPr/>
        </p:nvSpPr>
        <p:spPr>
          <a:xfrm>
            <a:off x="548640" y="489204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15" name="Text 13"/>
          <p:cNvSpPr txBox="1"/>
          <p:nvPr/>
        </p:nvSpPr>
        <p:spPr>
          <a:xfrm>
            <a:off x="1325880" y="4846320"/>
            <a:ext cx="3657600" cy="960120"/>
          </a:xfrm>
          <a:prstGeom prst="rect">
            <a:avLst/>
          </a:prstGeom>
          <a:noFill/>
          <a:ln/>
        </p:spPr>
        <p:txBody>
          <a:bodyPr wrap="square" lIns="0" tIns="0" rIns="0" bIns="0" rtlCol="0" anchor="t"/>
          <a:lstStyle/>
          <a:p>
            <a:pPr indent="0" marL="0">
              <a:buNone/>
            </a:pPr>
            <a:r>
              <a:rPr lang="en-US" sz="1700" b="1" dirty="0">
                <a:solidFill>
                  <a:srgbClr val="0B1F33"/>
                </a:solidFill>
                <a:latin typeface="Calibri" pitchFamily="34" charset="0"/>
                <a:ea typeface="Calibri" pitchFamily="34" charset="-122"/>
                <a:cs typeface="Calibri" pitchFamily="34" charset="-120"/>
              </a:rPr>
              <a:t>Overlever</a:t>
            </a:r>
            <a:endParaRPr lang="en-US" sz="1700" dirty="0"/>
          </a:p>
          <a:p>
            <a:pPr indent="0" marL="0">
              <a:buNone/>
            </a:pPr>
            <a:r>
              <a:rPr lang="en-US" sz="1500" dirty="0">
                <a:solidFill>
                  <a:srgbClr val="1B2A38"/>
                </a:solidFill>
                <a:latin typeface="Calibri" pitchFamily="34" charset="0"/>
                <a:ea typeface="Calibri" pitchFamily="34" charset="-122"/>
                <a:cs typeface="Calibri" pitchFamily="34" charset="-120"/>
              </a:rPr>
              <a:t>Neste skift og teknisk sjef på land ser status og hvem som har ansvaret.</a:t>
            </a:r>
            <a:endParaRPr lang="en-US" sz="1700" dirty="0"/>
          </a:p>
        </p:txBody>
      </p:sp>
      <p:sp>
        <p:nvSpPr>
          <p:cNvPr id="16" name="Skjermbilde-ramme"/>
          <p:cNvSpPr/>
          <p:nvPr/>
        </p:nvSpPr>
        <p:spPr>
          <a:xfrm>
            <a:off x="5221224" y="1792224"/>
            <a:ext cx="6458407" cy="4063937"/>
          </a:xfrm>
          <a:prstGeom prst="rect">
            <a:avLst/>
          </a:prstGeom>
          <a:solidFill>
            <a:srgbClr val="FFFFFF"/>
          </a:solidFill>
          <a:ln w="12700">
            <a:solidFill>
              <a:srgbClr val="C9D5DE"/>
            </a:solidFill>
            <a:prstDash val="solid"/>
          </a:ln>
          <a:effectLst>
            <a:outerShdw sx="100000" sy="100000" kx="0" ky="0" algn="bl" rotWithShape="0" blurRad="101600" dist="38100" dir="5400000">
              <a:srgbClr val="000000">
                <a:alpha val="18000"/>
              </a:srgbClr>
            </a:outerShdw>
          </a:effectLst>
        </p:spPr>
      </p:sp>
      <p:pic>
        <p:nvPicPr>
          <p:cNvPr id="17" name="Skjermbilde maintenance__defects.png" descr="/tmp/claude-0/-home-user-Claude/bbdec16f-2a10-550d-bb32-af07b09e4311/scratchpad/build/img/maintenance__defects.png">    </p:cNvPr>
          <p:cNvPicPr>
            <a:picLocks noChangeAspect="1"/>
          </p:cNvPicPr>
          <p:nvPr/>
        </p:nvPicPr>
        <p:blipFill>
          <a:blip r:embed="rId1"/>
          <a:stretch>
            <a:fillRect/>
          </a:stretch>
        </p:blipFill>
        <p:spPr>
          <a:xfrm>
            <a:off x="5257800" y="1828800"/>
            <a:ext cx="6385255" cy="3990785"/>
          </a:xfrm>
          <a:prstGeom prst="rect">
            <a:avLst/>
          </a:prstGeom>
        </p:spPr>
      </p:pic>
      <p:sp>
        <p:nvSpPr>
          <p:cNvPr id="18" name="Text 15"/>
          <p:cNvSpPr txBox="1"/>
          <p:nvPr/>
        </p:nvSpPr>
        <p:spPr>
          <a:xfrm>
            <a:off x="5257800" y="5929313"/>
            <a:ext cx="6385255" cy="274320"/>
          </a:xfrm>
          <a:prstGeom prst="rect">
            <a:avLst/>
          </a:prstGeom>
          <a:noFill/>
          <a:ln/>
        </p:spPr>
        <p:txBody>
          <a:bodyPr wrap="square" lIns="0" tIns="0" rIns="0" bIns="0" rtlCol="0" anchor="ctr"/>
          <a:lstStyle/>
          <a:p>
            <a:pPr indent="0" marL="0">
              <a:buNone/>
            </a:pPr>
            <a:r>
              <a:rPr lang="en-US" sz="1100" i="1" dirty="0">
                <a:solidFill>
                  <a:srgbClr val="5B6B7A"/>
                </a:solidFill>
                <a:latin typeface="Calibri" pitchFamily="34" charset="0"/>
                <a:ea typeface="Calibri" pitchFamily="34" charset="-122"/>
                <a:cs typeface="Calibri" pitchFamily="34" charset="-120"/>
              </a:rPr>
              <a:t>Feil og avvik meldt om bord, med alvorlighetsgrad og status.</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lstStyle/>
          <a:p>
            <a:pPr indent="0" marL="0">
              <a:buNone/>
            </a:pPr>
            <a:r>
              <a:rPr lang="en-US" sz="1200" b="1" spc="200" kern="0" dirty="0">
                <a:solidFill>
                  <a:srgbClr val="0E7C86"/>
                </a:solidFill>
                <a:latin typeface="Calibri" pitchFamily="34" charset="0"/>
                <a:ea typeface="Calibri" pitchFamily="34" charset="-122"/>
                <a:cs typeface="Calibri" pitchFamily="34" charset="-120"/>
              </a:rPr>
              <a:t>PRODUKTET</a:t>
            </a:r>
            <a:endParaRPr lang="en-US" sz="1200" dirty="0"/>
          </a:p>
        </p:txBody>
      </p:sp>
      <p:sp>
        <p:nvSpPr>
          <p:cNvPr id="3" name="Text 1"/>
          <p:cNvSpPr/>
          <p:nvPr>
            <p:ph idx="102" type="title" hasCustomPrompt="1"/>
          </p:nvPr>
        </p:nvSpPr>
        <p:spPr>
          <a:xfrm>
            <a:off x="548640" y="658368"/>
            <a:ext cx="11094415" cy="1051560"/>
          </a:xfrm>
          <a:prstGeom prst="rect">
            <a:avLst/>
          </a:prstGeom>
          <a:noFill/>
          <a:ln/>
        </p:spPr>
        <p:txBody>
          <a:bodyPr wrap="square" lIns="0" tIns="0" rIns="0" bIns="0" rtlCol="0" anchor="t"/>
          <a:lstStyle/>
          <a:p>
            <a:pPr algn="l" indent="0" marL="0">
              <a:buNone/>
            </a:pPr>
            <a:r>
              <a:rPr lang="en-US" sz="3000" b="1" dirty="0">
                <a:solidFill>
                  <a:srgbClr val="0B1F33"/>
                </a:solidFill>
                <a:latin typeface="Arial" pitchFamily="34" charset="0"/>
                <a:ea typeface="Arial" pitchFamily="34" charset="-122"/>
                <a:cs typeface="Arial" pitchFamily="34" charset="-120"/>
              </a:rPr>
              <a:t>14 moduler dekker hele driften av et fiskefartøy</a:t>
            </a:r>
            <a:endParaRPr lang="en-US" sz="3000" dirty="0"/>
          </a:p>
        </p:txBody>
      </p:sp>
      <p:sp>
        <p:nvSpPr>
          <p:cNvPr id="4" name="Kort"/>
          <p:cNvSpPr/>
          <p:nvPr/>
        </p:nvSpPr>
        <p:spPr>
          <a:xfrm>
            <a:off x="548640" y="1828800"/>
            <a:ext cx="2567864" cy="3840480"/>
          </a:xfrm>
          <a:prstGeom prst="roundRect">
            <a:avLst>
              <a:gd name="adj" fmla="val 4273"/>
            </a:avLst>
          </a:prstGeom>
          <a:solidFill>
            <a:srgbClr val="EEF3F6"/>
          </a:solidFill>
          <a:ln/>
        </p:spPr>
      </p:sp>
      <p:sp>
        <p:nvSpPr>
          <p:cNvPr id="5" name="Ikon-sirkel"/>
          <p:cNvSpPr/>
          <p:nvPr/>
        </p:nvSpPr>
        <p:spPr>
          <a:xfrm>
            <a:off x="822960" y="2103120"/>
            <a:ext cx="640080" cy="640080"/>
          </a:xfrm>
          <a:prstGeom prst="ellipse">
            <a:avLst/>
          </a:prstGeom>
          <a:solidFill>
            <a:srgbClr val="0E7C86"/>
          </a:solidFill>
          <a:ln/>
        </p:spPr>
      </p:sp>
      <p:pic>
        <p:nvPicPr>
          <p:cNvPr id="6" name="Ikon FaGears" descr="preencoded.png">    </p:cNvPr>
          <p:cNvPicPr>
            <a:picLocks noChangeAspect="1"/>
          </p:cNvPicPr>
          <p:nvPr/>
        </p:nvPicPr>
        <p:blipFill>
          <a:blip r:embed="rId1"/>
          <a:stretch>
            <a:fillRect/>
          </a:stretch>
        </p:blipFill>
        <p:spPr>
          <a:xfrm>
            <a:off x="976579" y="2256739"/>
            <a:ext cx="332842" cy="332842"/>
          </a:xfrm>
          <a:prstGeom prst="rect">
            <a:avLst/>
          </a:prstGeom>
        </p:spPr>
      </p:pic>
      <p:sp>
        <p:nvSpPr>
          <p:cNvPr id="7" name="Text 4"/>
          <p:cNvSpPr txBox="1"/>
          <p:nvPr/>
        </p:nvSpPr>
        <p:spPr>
          <a:xfrm>
            <a:off x="822960" y="2880360"/>
            <a:ext cx="2110664" cy="411480"/>
          </a:xfrm>
          <a:prstGeom prst="rect">
            <a:avLst/>
          </a:prstGeom>
          <a:noFill/>
          <a:ln/>
        </p:spPr>
        <p:txBody>
          <a:bodyPr wrap="square" lIns="0" tIns="0" rIns="0" bIns="0" rtlCol="0" anchor="t"/>
          <a:lstStyle/>
          <a:p>
            <a:pPr indent="0" marL="0">
              <a:buNone/>
            </a:pPr>
            <a:r>
              <a:rPr lang="en-US" sz="1800" b="1" dirty="0">
                <a:solidFill>
                  <a:srgbClr val="0B1F33"/>
                </a:solidFill>
                <a:latin typeface="Calibri" pitchFamily="34" charset="0"/>
                <a:ea typeface="Calibri" pitchFamily="34" charset="-122"/>
                <a:cs typeface="Calibri" pitchFamily="34" charset="-120"/>
              </a:rPr>
              <a:t>Drift</a:t>
            </a:r>
            <a:endParaRPr lang="en-US" sz="1800" dirty="0"/>
          </a:p>
        </p:txBody>
      </p:sp>
      <p:sp>
        <p:nvSpPr>
          <p:cNvPr id="8" name="Text 5"/>
          <p:cNvSpPr txBox="1"/>
          <p:nvPr/>
        </p:nvSpPr>
        <p:spPr>
          <a:xfrm>
            <a:off x="822960" y="3383280"/>
            <a:ext cx="2110664" cy="210312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Vedlikehold</a:t>
            </a:r>
            <a:endParaRPr lang="en-US" sz="1500" dirty="0"/>
          </a:p>
          <a:p>
            <a:pPr marL="177800" indent="-1778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Innkjøp</a:t>
            </a:r>
            <a:endParaRPr lang="en-US" sz="1500" dirty="0"/>
          </a:p>
          <a:p>
            <a:pPr marL="177800" indent="-1778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Seilaser</a:t>
            </a:r>
            <a:endParaRPr lang="en-US" sz="1500" dirty="0"/>
          </a:p>
          <a:p>
            <a:pPr marL="177800" indent="-1778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Flåte</a:t>
            </a:r>
            <a:endParaRPr lang="en-US" sz="1500" dirty="0"/>
          </a:p>
          <a:p>
            <a:pPr marL="177800" indent="-1778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Fiskeri: fangst, kvoter og rapportering</a:t>
            </a:r>
            <a:endParaRPr lang="en-US" sz="1500" dirty="0"/>
          </a:p>
          <a:p>
            <a:pPr marL="177800" indent="-1778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Mannskap</a:t>
            </a:r>
            <a:endParaRPr lang="en-US" sz="1500" dirty="0"/>
          </a:p>
        </p:txBody>
      </p:sp>
      <p:sp>
        <p:nvSpPr>
          <p:cNvPr id="9" name="Kort"/>
          <p:cNvSpPr/>
          <p:nvPr/>
        </p:nvSpPr>
        <p:spPr>
          <a:xfrm>
            <a:off x="3390824" y="1828800"/>
            <a:ext cx="2567864" cy="3840480"/>
          </a:xfrm>
          <a:prstGeom prst="roundRect">
            <a:avLst>
              <a:gd name="adj" fmla="val 4273"/>
            </a:avLst>
          </a:prstGeom>
          <a:solidFill>
            <a:srgbClr val="EEF3F6"/>
          </a:solidFill>
          <a:ln/>
        </p:spPr>
      </p:sp>
      <p:sp>
        <p:nvSpPr>
          <p:cNvPr id="10" name="Ikon-sirkel"/>
          <p:cNvSpPr/>
          <p:nvPr/>
        </p:nvSpPr>
        <p:spPr>
          <a:xfrm>
            <a:off x="3665144" y="2103120"/>
            <a:ext cx="640080" cy="640080"/>
          </a:xfrm>
          <a:prstGeom prst="ellipse">
            <a:avLst/>
          </a:prstGeom>
          <a:solidFill>
            <a:srgbClr val="0E7C86"/>
          </a:solidFill>
          <a:ln/>
        </p:spPr>
      </p:sp>
      <p:pic>
        <p:nvPicPr>
          <p:cNvPr id="11" name="Ikon FaShieldHalved" descr="preencoded.png">    </p:cNvPr>
          <p:cNvPicPr>
            <a:picLocks noChangeAspect="1"/>
          </p:cNvPicPr>
          <p:nvPr/>
        </p:nvPicPr>
        <p:blipFill>
          <a:blip r:embed="rId2"/>
          <a:stretch>
            <a:fillRect/>
          </a:stretch>
        </p:blipFill>
        <p:spPr>
          <a:xfrm>
            <a:off x="3818763" y="2256739"/>
            <a:ext cx="332842" cy="332842"/>
          </a:xfrm>
          <a:prstGeom prst="rect">
            <a:avLst/>
          </a:prstGeom>
        </p:spPr>
      </p:pic>
      <p:sp>
        <p:nvSpPr>
          <p:cNvPr id="12" name="Text 8"/>
          <p:cNvSpPr txBox="1"/>
          <p:nvPr/>
        </p:nvSpPr>
        <p:spPr>
          <a:xfrm>
            <a:off x="3665144" y="2880360"/>
            <a:ext cx="2110664" cy="411480"/>
          </a:xfrm>
          <a:prstGeom prst="rect">
            <a:avLst/>
          </a:prstGeom>
          <a:noFill/>
          <a:ln/>
        </p:spPr>
        <p:txBody>
          <a:bodyPr wrap="square" lIns="0" tIns="0" rIns="0" bIns="0" rtlCol="0" anchor="t"/>
          <a:lstStyle/>
          <a:p>
            <a:pPr indent="0" marL="0">
              <a:buNone/>
            </a:pPr>
            <a:r>
              <a:rPr lang="en-US" sz="1800" b="1" dirty="0">
                <a:solidFill>
                  <a:srgbClr val="0B1F33"/>
                </a:solidFill>
                <a:latin typeface="Calibri" pitchFamily="34" charset="0"/>
                <a:ea typeface="Calibri" pitchFamily="34" charset="-122"/>
                <a:cs typeface="Calibri" pitchFamily="34" charset="-120"/>
              </a:rPr>
              <a:t>Sikkerhet og krav</a:t>
            </a:r>
            <a:endParaRPr lang="en-US" sz="1800" dirty="0"/>
          </a:p>
        </p:txBody>
      </p:sp>
      <p:sp>
        <p:nvSpPr>
          <p:cNvPr id="13" name="Text 9"/>
          <p:cNvSpPr txBox="1"/>
          <p:nvPr/>
        </p:nvSpPr>
        <p:spPr>
          <a:xfrm>
            <a:off x="3665144" y="3383280"/>
            <a:ext cx="2110664" cy="210312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Sikkerhet og kvalitet</a:t>
            </a:r>
            <a:endParaRPr lang="en-US" sz="1500" dirty="0"/>
          </a:p>
          <a:p>
            <a:pPr marL="177800" indent="-1778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Utslipp</a:t>
            </a:r>
            <a:endParaRPr lang="en-US" sz="1500" dirty="0"/>
          </a:p>
          <a:p>
            <a:pPr marL="177800" indent="-1778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Medisin og kjemikalier</a:t>
            </a:r>
            <a:endParaRPr lang="en-US" sz="1500" dirty="0"/>
          </a:p>
          <a:p>
            <a:pPr marL="177800" indent="-1778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Dokumenter</a:t>
            </a:r>
            <a:endParaRPr lang="en-US" sz="1500" dirty="0"/>
          </a:p>
        </p:txBody>
      </p:sp>
      <p:sp>
        <p:nvSpPr>
          <p:cNvPr id="14" name="Kort"/>
          <p:cNvSpPr/>
          <p:nvPr/>
        </p:nvSpPr>
        <p:spPr>
          <a:xfrm>
            <a:off x="6233008" y="1828800"/>
            <a:ext cx="2567864" cy="3840480"/>
          </a:xfrm>
          <a:prstGeom prst="roundRect">
            <a:avLst>
              <a:gd name="adj" fmla="val 4273"/>
            </a:avLst>
          </a:prstGeom>
          <a:solidFill>
            <a:srgbClr val="EEF3F6"/>
          </a:solidFill>
          <a:ln/>
        </p:spPr>
      </p:sp>
      <p:sp>
        <p:nvSpPr>
          <p:cNvPr id="15" name="Ikon-sirkel"/>
          <p:cNvSpPr/>
          <p:nvPr/>
        </p:nvSpPr>
        <p:spPr>
          <a:xfrm>
            <a:off x="6507328" y="2103120"/>
            <a:ext cx="640080" cy="640080"/>
          </a:xfrm>
          <a:prstGeom prst="ellipse">
            <a:avLst/>
          </a:prstGeom>
          <a:solidFill>
            <a:srgbClr val="0E7C86"/>
          </a:solidFill>
          <a:ln/>
        </p:spPr>
      </p:sp>
      <p:pic>
        <p:nvPicPr>
          <p:cNvPr id="16" name="Ikon FaSackDollar" descr="preencoded.png">    </p:cNvPr>
          <p:cNvPicPr>
            <a:picLocks noChangeAspect="1"/>
          </p:cNvPicPr>
          <p:nvPr/>
        </p:nvPicPr>
        <p:blipFill>
          <a:blip r:embed="rId3"/>
          <a:stretch>
            <a:fillRect/>
          </a:stretch>
        </p:blipFill>
        <p:spPr>
          <a:xfrm>
            <a:off x="6660947" y="2256739"/>
            <a:ext cx="332842" cy="332842"/>
          </a:xfrm>
          <a:prstGeom prst="rect">
            <a:avLst/>
          </a:prstGeom>
        </p:spPr>
      </p:pic>
      <p:sp>
        <p:nvSpPr>
          <p:cNvPr id="17" name="Text 12"/>
          <p:cNvSpPr txBox="1"/>
          <p:nvPr/>
        </p:nvSpPr>
        <p:spPr>
          <a:xfrm>
            <a:off x="6507328" y="2880360"/>
            <a:ext cx="2110664" cy="411480"/>
          </a:xfrm>
          <a:prstGeom prst="rect">
            <a:avLst/>
          </a:prstGeom>
          <a:noFill/>
          <a:ln/>
        </p:spPr>
        <p:txBody>
          <a:bodyPr wrap="square" lIns="0" tIns="0" rIns="0" bIns="0" rtlCol="0" anchor="t"/>
          <a:lstStyle/>
          <a:p>
            <a:pPr indent="0" marL="0">
              <a:buNone/>
            </a:pPr>
            <a:r>
              <a:rPr lang="en-US" sz="1800" b="1" dirty="0">
                <a:solidFill>
                  <a:srgbClr val="0B1F33"/>
                </a:solidFill>
                <a:latin typeface="Calibri" pitchFamily="34" charset="0"/>
                <a:ea typeface="Calibri" pitchFamily="34" charset="-122"/>
                <a:cs typeface="Calibri" pitchFamily="34" charset="-120"/>
              </a:rPr>
              <a:t>Forretning</a:t>
            </a:r>
            <a:endParaRPr lang="en-US" sz="1800" dirty="0"/>
          </a:p>
        </p:txBody>
      </p:sp>
      <p:sp>
        <p:nvSpPr>
          <p:cNvPr id="18" name="Text 13"/>
          <p:cNvSpPr txBox="1"/>
          <p:nvPr/>
        </p:nvSpPr>
        <p:spPr>
          <a:xfrm>
            <a:off x="6507328" y="3383280"/>
            <a:ext cx="2110664" cy="210312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Salg</a:t>
            </a:r>
            <a:endParaRPr lang="en-US" sz="1500" dirty="0"/>
          </a:p>
          <a:p>
            <a:pPr marL="177800" indent="-1778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Befraktning</a:t>
            </a:r>
            <a:endParaRPr lang="en-US" sz="1500" dirty="0"/>
          </a:p>
          <a:p>
            <a:pPr marL="177800" indent="-1778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Økonomi</a:t>
            </a:r>
            <a:endParaRPr lang="en-US" sz="1500" dirty="0"/>
          </a:p>
        </p:txBody>
      </p:sp>
      <p:sp>
        <p:nvSpPr>
          <p:cNvPr id="19" name="Kort"/>
          <p:cNvSpPr/>
          <p:nvPr/>
        </p:nvSpPr>
        <p:spPr>
          <a:xfrm>
            <a:off x="9075191" y="1828800"/>
            <a:ext cx="2567864" cy="3840480"/>
          </a:xfrm>
          <a:prstGeom prst="roundRect">
            <a:avLst>
              <a:gd name="adj" fmla="val 4273"/>
            </a:avLst>
          </a:prstGeom>
          <a:solidFill>
            <a:srgbClr val="0B1F33"/>
          </a:solidFill>
          <a:ln/>
        </p:spPr>
      </p:sp>
      <p:sp>
        <p:nvSpPr>
          <p:cNvPr id="20" name="Ikon-sirkel"/>
          <p:cNvSpPr/>
          <p:nvPr/>
        </p:nvSpPr>
        <p:spPr>
          <a:xfrm>
            <a:off x="9349511" y="2103120"/>
            <a:ext cx="640080" cy="640080"/>
          </a:xfrm>
          <a:prstGeom prst="ellipse">
            <a:avLst/>
          </a:prstGeom>
          <a:solidFill>
            <a:srgbClr val="0E7C86"/>
          </a:solidFill>
          <a:ln/>
        </p:spPr>
      </p:sp>
      <p:pic>
        <p:nvPicPr>
          <p:cNvPr id="21" name="Ikon FaBrain" descr="preencoded.png">    </p:cNvPr>
          <p:cNvPicPr>
            <a:picLocks noChangeAspect="1"/>
          </p:cNvPicPr>
          <p:nvPr/>
        </p:nvPicPr>
        <p:blipFill>
          <a:blip r:embed="rId4"/>
          <a:stretch>
            <a:fillRect/>
          </a:stretch>
        </p:blipFill>
        <p:spPr>
          <a:xfrm>
            <a:off x="9503131" y="2256739"/>
            <a:ext cx="332842" cy="332842"/>
          </a:xfrm>
          <a:prstGeom prst="rect">
            <a:avLst/>
          </a:prstGeom>
        </p:spPr>
      </p:pic>
      <p:sp>
        <p:nvSpPr>
          <p:cNvPr id="22" name="Text 16"/>
          <p:cNvSpPr txBox="1"/>
          <p:nvPr/>
        </p:nvSpPr>
        <p:spPr>
          <a:xfrm>
            <a:off x="9349511" y="2880360"/>
            <a:ext cx="2110664" cy="41148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KI-assistent</a:t>
            </a:r>
            <a:endParaRPr lang="en-US" sz="1800" dirty="0"/>
          </a:p>
        </p:txBody>
      </p:sp>
      <p:sp>
        <p:nvSpPr>
          <p:cNvPr id="23" name="Text 17"/>
          <p:cNvSpPr txBox="1"/>
          <p:nvPr/>
        </p:nvSpPr>
        <p:spPr>
          <a:xfrm>
            <a:off x="9349511" y="3383280"/>
            <a:ext cx="2110664" cy="210312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rgbClr val="DCE6EE"/>
                </a:solidFill>
                <a:latin typeface="Calibri" pitchFamily="34" charset="0"/>
                <a:ea typeface="Calibri" pitchFamily="34" charset="-122"/>
                <a:cs typeface="Calibri" pitchFamily="34" charset="-120"/>
              </a:rPr>
              <a:t>Svarer på spørsmål på tvers av alle modulene</a:t>
            </a:r>
            <a:endParaRPr lang="en-US" sz="1500" dirty="0"/>
          </a:p>
          <a:p>
            <a:pPr marL="177800" indent="-177800">
              <a:spcAft>
                <a:spcPts val="500"/>
              </a:spcAft>
              <a:buSzPct val="100000"/>
              <a:buChar char="•"/>
            </a:pPr>
            <a:r>
              <a:rPr lang="en-US" sz="1500" dirty="0">
                <a:solidFill>
                  <a:srgbClr val="DCE6EE"/>
                </a:solidFill>
                <a:latin typeface="Calibri" pitchFamily="34" charset="0"/>
                <a:ea typeface="Calibri" pitchFamily="34" charset="-122"/>
                <a:cs typeface="Calibri" pitchFamily="34" charset="-120"/>
              </a:rPr>
              <a:t>Varsler kommende vedlikeholdsbehov</a:t>
            </a:r>
            <a:endParaRPr lang="en-US" sz="1500" dirty="0"/>
          </a:p>
          <a:p>
            <a:pPr marL="177800" indent="-177800">
              <a:spcAft>
                <a:spcPts val="500"/>
              </a:spcAft>
              <a:buSzPct val="100000"/>
              <a:buChar char="•"/>
            </a:pPr>
            <a:r>
              <a:rPr lang="en-US" sz="1500" dirty="0">
                <a:solidFill>
                  <a:srgbClr val="DCE6EE"/>
                </a:solidFill>
                <a:latin typeface="Calibri" pitchFamily="34" charset="0"/>
                <a:ea typeface="Calibri" pitchFamily="34" charset="-122"/>
                <a:cs typeface="Calibri" pitchFamily="34" charset="-120"/>
              </a:rPr>
              <a:t>Viser alltid kilden</a:t>
            </a:r>
            <a:endParaRPr lang="en-US" sz="1500" dirty="0"/>
          </a:p>
        </p:txBody>
      </p:sp>
      <p:sp>
        <p:nvSpPr>
          <p:cNvPr id="24" name="Text 18"/>
          <p:cNvSpPr txBox="1"/>
          <p:nvPr/>
        </p:nvSpPr>
        <p:spPr>
          <a:xfrm>
            <a:off x="548640" y="5989320"/>
            <a:ext cx="11094415" cy="320040"/>
          </a:xfrm>
          <a:prstGeom prst="rect">
            <a:avLst/>
          </a:prstGeom>
          <a:noFill/>
          <a:ln/>
        </p:spPr>
        <p:txBody>
          <a:bodyPr wrap="square" lIns="0" tIns="0" rIns="0" bIns="0" rtlCol="0" anchor="b"/>
          <a:lstStyle/>
          <a:p>
            <a:pPr indent="0" marL="0">
              <a:buNone/>
            </a:pPr>
            <a:r>
              <a:rPr lang="en-US" sz="1100" dirty="0">
                <a:solidFill>
                  <a:srgbClr val="5B6B7A"/>
                </a:solidFill>
              </a:rPr>
              <a:t>Kunden kan starte med vedlikehold på ett fartøy og legge til moduler og fartøy etter hvert.</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lstStyle/>
          <a:p>
            <a:pPr indent="0" marL="0">
              <a:buNone/>
            </a:pPr>
            <a:r>
              <a:rPr lang="en-US" sz="1200" b="1" spc="200" kern="0" dirty="0">
                <a:solidFill>
                  <a:srgbClr val="0E7C86"/>
                </a:solidFill>
                <a:latin typeface="Calibri" pitchFamily="34" charset="0"/>
                <a:ea typeface="Calibri" pitchFamily="34" charset="-122"/>
                <a:cs typeface="Calibri" pitchFamily="34" charset="-120"/>
              </a:rPr>
              <a:t>PRODUKTET I BRUK</a:t>
            </a:r>
            <a:endParaRPr lang="en-US" sz="1200" dirty="0"/>
          </a:p>
        </p:txBody>
      </p:sp>
      <p:sp>
        <p:nvSpPr>
          <p:cNvPr id="3" name="Text 1"/>
          <p:cNvSpPr/>
          <p:nvPr>
            <p:ph idx="102" type="title" hasCustomPrompt="1"/>
          </p:nvPr>
        </p:nvSpPr>
        <p:spPr>
          <a:xfrm>
            <a:off x="548640" y="658368"/>
            <a:ext cx="11094415" cy="1051560"/>
          </a:xfrm>
          <a:prstGeom prst="rect">
            <a:avLst/>
          </a:prstGeom>
          <a:noFill/>
          <a:ln/>
        </p:spPr>
        <p:txBody>
          <a:bodyPr wrap="square" lIns="0" tIns="0" rIns="0" bIns="0" rtlCol="0" anchor="t"/>
          <a:lstStyle/>
          <a:p>
            <a:pPr algn="l" indent="0" marL="0">
              <a:buNone/>
            </a:pPr>
            <a:r>
              <a:rPr lang="en-US" sz="3000" b="1" dirty="0">
                <a:solidFill>
                  <a:srgbClr val="0B1F33"/>
                </a:solidFill>
                <a:latin typeface="Arial" pitchFamily="34" charset="0"/>
                <a:ea typeface="Arial" pitchFamily="34" charset="-122"/>
                <a:cs typeface="Arial" pitchFamily="34" charset="-120"/>
              </a:rPr>
              <a:t>Slik ser Nautech ut</a:t>
            </a:r>
            <a:endParaRPr lang="en-US" sz="3000" dirty="0"/>
          </a:p>
        </p:txBody>
      </p:sp>
      <p:sp>
        <p:nvSpPr>
          <p:cNvPr id="4" name="Skjermbilde-ramme"/>
          <p:cNvSpPr/>
          <p:nvPr/>
        </p:nvSpPr>
        <p:spPr>
          <a:xfrm>
            <a:off x="512064" y="1975104"/>
            <a:ext cx="3588410" cy="2270189"/>
          </a:xfrm>
          <a:prstGeom prst="rect">
            <a:avLst/>
          </a:prstGeom>
          <a:solidFill>
            <a:srgbClr val="FFFFFF"/>
          </a:solidFill>
          <a:ln w="12700">
            <a:solidFill>
              <a:srgbClr val="C9D5DE"/>
            </a:solidFill>
            <a:prstDash val="solid"/>
          </a:ln>
          <a:effectLst>
            <a:outerShdw sx="100000" sy="100000" kx="0" ky="0" algn="bl" rotWithShape="0" blurRad="101600" dist="38100" dir="5400000">
              <a:srgbClr val="000000">
                <a:alpha val="18000"/>
              </a:srgbClr>
            </a:outerShdw>
          </a:effectLst>
        </p:spPr>
      </p:sp>
      <p:pic>
        <p:nvPicPr>
          <p:cNvPr id="5" name="Skjermbilde fleet__vessels.png" descr="/tmp/claude-0/-home-user-Claude/bbdec16f-2a10-550d-bb32-af07b09e4311/scratchpad/build/img/fleet__vessels.png">    </p:cNvPr>
          <p:cNvPicPr>
            <a:picLocks noChangeAspect="1"/>
          </p:cNvPicPr>
          <p:nvPr/>
        </p:nvPicPr>
        <p:blipFill>
          <a:blip r:embed="rId1"/>
          <a:stretch>
            <a:fillRect/>
          </a:stretch>
        </p:blipFill>
        <p:spPr>
          <a:xfrm>
            <a:off x="548640" y="2011680"/>
            <a:ext cx="3515258" cy="2197037"/>
          </a:xfrm>
          <a:prstGeom prst="rect">
            <a:avLst/>
          </a:prstGeom>
        </p:spPr>
      </p:pic>
      <p:sp>
        <p:nvSpPr>
          <p:cNvPr id="6" name="Text 3"/>
          <p:cNvSpPr txBox="1"/>
          <p:nvPr/>
        </p:nvSpPr>
        <p:spPr>
          <a:xfrm>
            <a:off x="548640" y="4483037"/>
            <a:ext cx="3515258" cy="914400"/>
          </a:xfrm>
          <a:prstGeom prst="rect">
            <a:avLst/>
          </a:prstGeom>
          <a:noFill/>
          <a:ln/>
        </p:spPr>
        <p:txBody>
          <a:bodyPr wrap="square" lIns="0" tIns="0" rIns="0" bIns="0" rtlCol="0" anchor="t"/>
          <a:lstStyle/>
          <a:p>
            <a:pPr indent="0" marL="0">
              <a:buNone/>
            </a:pPr>
            <a:r>
              <a:rPr lang="en-US" sz="1700" b="1" dirty="0">
                <a:solidFill>
                  <a:srgbClr val="0B1F33"/>
                </a:solidFill>
                <a:latin typeface="Calibri" pitchFamily="34" charset="0"/>
                <a:ea typeface="Calibri" pitchFamily="34" charset="-122"/>
                <a:cs typeface="Calibri" pitchFamily="34" charset="-120"/>
              </a:rPr>
              <a:t>Flåten</a:t>
            </a:r>
            <a:endParaRPr lang="en-US" sz="1700" dirty="0"/>
          </a:p>
          <a:p>
            <a:pPr indent="0" marL="0">
              <a:buNone/>
            </a:pPr>
            <a:r>
              <a:rPr lang="en-US" sz="1500" dirty="0">
                <a:solidFill>
                  <a:srgbClr val="1B2A38"/>
                </a:solidFill>
                <a:latin typeface="Calibri" pitchFamily="34" charset="0"/>
                <a:ea typeface="Calibri" pitchFamily="34" charset="-122"/>
                <a:cs typeface="Calibri" pitchFamily="34" charset="-120"/>
              </a:rPr>
              <a:t>Alle fartøy samlet: trålere, linebåter og ringnotfartøy.</a:t>
            </a:r>
            <a:endParaRPr lang="en-US" sz="1700" dirty="0"/>
          </a:p>
        </p:txBody>
      </p:sp>
      <p:sp>
        <p:nvSpPr>
          <p:cNvPr id="7" name="Skjermbilde-ramme"/>
          <p:cNvSpPr/>
          <p:nvPr/>
        </p:nvSpPr>
        <p:spPr>
          <a:xfrm>
            <a:off x="4301642" y="1975104"/>
            <a:ext cx="3588410" cy="2270189"/>
          </a:xfrm>
          <a:prstGeom prst="rect">
            <a:avLst/>
          </a:prstGeom>
          <a:solidFill>
            <a:srgbClr val="FFFFFF"/>
          </a:solidFill>
          <a:ln w="12700">
            <a:solidFill>
              <a:srgbClr val="C9D5DE"/>
            </a:solidFill>
            <a:prstDash val="solid"/>
          </a:ln>
          <a:effectLst>
            <a:outerShdw sx="100000" sy="100000" kx="0" ky="0" algn="bl" rotWithShape="0" blurRad="101600" dist="38100" dir="5400000">
              <a:srgbClr val="000000">
                <a:alpha val="18000"/>
              </a:srgbClr>
            </a:outerShdw>
          </a:effectLst>
        </p:spPr>
      </p:sp>
      <p:pic>
        <p:nvPicPr>
          <p:cNvPr id="8" name="Skjermbilde maintenance__work-orders.png" descr="/tmp/claude-0/-home-user-Claude/bbdec16f-2a10-550d-bb32-af07b09e4311/scratchpad/build/img/maintenance__work-orders.png">    </p:cNvPr>
          <p:cNvPicPr>
            <a:picLocks noChangeAspect="1"/>
          </p:cNvPicPr>
          <p:nvPr/>
        </p:nvPicPr>
        <p:blipFill>
          <a:blip r:embed="rId2"/>
          <a:stretch>
            <a:fillRect/>
          </a:stretch>
        </p:blipFill>
        <p:spPr>
          <a:xfrm>
            <a:off x="4338218" y="2011680"/>
            <a:ext cx="3515258" cy="2197037"/>
          </a:xfrm>
          <a:prstGeom prst="rect">
            <a:avLst/>
          </a:prstGeom>
        </p:spPr>
      </p:pic>
      <p:sp>
        <p:nvSpPr>
          <p:cNvPr id="9" name="Text 5"/>
          <p:cNvSpPr txBox="1"/>
          <p:nvPr/>
        </p:nvSpPr>
        <p:spPr>
          <a:xfrm>
            <a:off x="4338218" y="4483037"/>
            <a:ext cx="3515258" cy="914400"/>
          </a:xfrm>
          <a:prstGeom prst="rect">
            <a:avLst/>
          </a:prstGeom>
          <a:noFill/>
          <a:ln/>
        </p:spPr>
        <p:txBody>
          <a:bodyPr wrap="square" lIns="0" tIns="0" rIns="0" bIns="0" rtlCol="0" anchor="t"/>
          <a:lstStyle/>
          <a:p>
            <a:pPr indent="0" marL="0">
              <a:buNone/>
            </a:pPr>
            <a:r>
              <a:rPr lang="en-US" sz="1700" b="1" dirty="0">
                <a:solidFill>
                  <a:srgbClr val="0B1F33"/>
                </a:solidFill>
                <a:latin typeface="Calibri" pitchFamily="34" charset="0"/>
                <a:ea typeface="Calibri" pitchFamily="34" charset="-122"/>
                <a:cs typeface="Calibri" pitchFamily="34" charset="-120"/>
              </a:rPr>
              <a:t>Arbeidsordrer</a:t>
            </a:r>
            <a:endParaRPr lang="en-US" sz="1700" dirty="0"/>
          </a:p>
          <a:p>
            <a:pPr indent="0" marL="0">
              <a:buNone/>
            </a:pPr>
            <a:r>
              <a:rPr lang="en-US" sz="1500" dirty="0">
                <a:solidFill>
                  <a:srgbClr val="1B2A38"/>
                </a:solidFill>
                <a:latin typeface="Calibri" pitchFamily="34" charset="0"/>
                <a:ea typeface="Calibri" pitchFamily="34" charset="-122"/>
                <a:cs typeface="Calibri" pitchFamily="34" charset="-120"/>
              </a:rPr>
              <a:t>Planlagt vedlikehold med ansvarlig, prioritet og frist.</a:t>
            </a:r>
            <a:endParaRPr lang="en-US" sz="1700" dirty="0"/>
          </a:p>
        </p:txBody>
      </p:sp>
      <p:sp>
        <p:nvSpPr>
          <p:cNvPr id="10" name="Skjermbilde-ramme"/>
          <p:cNvSpPr/>
          <p:nvPr/>
        </p:nvSpPr>
        <p:spPr>
          <a:xfrm>
            <a:off x="8091221" y="1975104"/>
            <a:ext cx="3588410" cy="2270189"/>
          </a:xfrm>
          <a:prstGeom prst="rect">
            <a:avLst/>
          </a:prstGeom>
          <a:solidFill>
            <a:srgbClr val="FFFFFF"/>
          </a:solidFill>
          <a:ln w="12700">
            <a:solidFill>
              <a:srgbClr val="C9D5DE"/>
            </a:solidFill>
            <a:prstDash val="solid"/>
          </a:ln>
          <a:effectLst>
            <a:outerShdw sx="100000" sy="100000" kx="0" ky="0" algn="bl" rotWithShape="0" blurRad="101600" dist="38100" dir="5400000">
              <a:srgbClr val="000000">
                <a:alpha val="18000"/>
              </a:srgbClr>
            </a:outerShdw>
          </a:effectLst>
        </p:spPr>
      </p:sp>
      <p:pic>
        <p:nvPicPr>
          <p:cNvPr id="11" name="Skjermbilde safety__dashboard.png" descr="/tmp/claude-0/-home-user-Claude/bbdec16f-2a10-550d-bb32-af07b09e4311/scratchpad/build/img/safety__dashboard.png">    </p:cNvPr>
          <p:cNvPicPr>
            <a:picLocks noChangeAspect="1"/>
          </p:cNvPicPr>
          <p:nvPr/>
        </p:nvPicPr>
        <p:blipFill>
          <a:blip r:embed="rId3"/>
          <a:stretch>
            <a:fillRect/>
          </a:stretch>
        </p:blipFill>
        <p:spPr>
          <a:xfrm>
            <a:off x="8127797" y="2011680"/>
            <a:ext cx="3515258" cy="2197037"/>
          </a:xfrm>
          <a:prstGeom prst="rect">
            <a:avLst/>
          </a:prstGeom>
        </p:spPr>
      </p:pic>
      <p:sp>
        <p:nvSpPr>
          <p:cNvPr id="12" name="Text 7"/>
          <p:cNvSpPr txBox="1"/>
          <p:nvPr/>
        </p:nvSpPr>
        <p:spPr>
          <a:xfrm>
            <a:off x="8127797" y="4483037"/>
            <a:ext cx="3515258" cy="914400"/>
          </a:xfrm>
          <a:prstGeom prst="rect">
            <a:avLst/>
          </a:prstGeom>
          <a:noFill/>
          <a:ln/>
        </p:spPr>
        <p:txBody>
          <a:bodyPr wrap="square" lIns="0" tIns="0" rIns="0" bIns="0" rtlCol="0" anchor="t"/>
          <a:lstStyle/>
          <a:p>
            <a:pPr indent="0" marL="0">
              <a:buNone/>
            </a:pPr>
            <a:r>
              <a:rPr lang="en-US" sz="1700" b="1" dirty="0">
                <a:solidFill>
                  <a:srgbClr val="0B1F33"/>
                </a:solidFill>
                <a:latin typeface="Calibri" pitchFamily="34" charset="0"/>
                <a:ea typeface="Calibri" pitchFamily="34" charset="-122"/>
                <a:cs typeface="Calibri" pitchFamily="34" charset="-120"/>
              </a:rPr>
              <a:t>Sikkerhet</a:t>
            </a:r>
            <a:endParaRPr lang="en-US" sz="1700" dirty="0"/>
          </a:p>
          <a:p>
            <a:pPr indent="0" marL="0">
              <a:buNone/>
            </a:pPr>
            <a:r>
              <a:rPr lang="en-US" sz="1500" dirty="0">
                <a:solidFill>
                  <a:srgbClr val="1B2A38"/>
                </a:solidFill>
                <a:latin typeface="Calibri" pitchFamily="34" charset="0"/>
                <a:ea typeface="Calibri" pitchFamily="34" charset="-122"/>
                <a:cs typeface="Calibri" pitchFamily="34" charset="-120"/>
              </a:rPr>
              <a:t>Hendelser, øvelser og risikovurderinger med status.</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lstStyle/>
          <a:p>
            <a:pPr indent="0" marL="0">
              <a:buNone/>
            </a:pPr>
            <a:r>
              <a:rPr lang="en-US" sz="1200" b="1" spc="200" kern="0" dirty="0">
                <a:solidFill>
                  <a:srgbClr val="0E7C86"/>
                </a:solidFill>
                <a:latin typeface="Calibri" pitchFamily="34" charset="0"/>
                <a:ea typeface="Calibri" pitchFamily="34" charset="-122"/>
                <a:cs typeface="Calibri" pitchFamily="34" charset="-120"/>
              </a:rPr>
              <a:t>BYGGET FOR FISKEFLÅTEN</a:t>
            </a:r>
            <a:endParaRPr lang="en-US" sz="1200" dirty="0"/>
          </a:p>
        </p:txBody>
      </p:sp>
      <p:sp>
        <p:nvSpPr>
          <p:cNvPr id="3" name="Text 1"/>
          <p:cNvSpPr/>
          <p:nvPr>
            <p:ph idx="102" type="title" hasCustomPrompt="1"/>
          </p:nvPr>
        </p:nvSpPr>
        <p:spPr>
          <a:xfrm>
            <a:off x="548640" y="658368"/>
            <a:ext cx="11094415" cy="1051560"/>
          </a:xfrm>
          <a:prstGeom prst="rect">
            <a:avLst/>
          </a:prstGeom>
          <a:noFill/>
          <a:ln/>
        </p:spPr>
        <p:txBody>
          <a:bodyPr wrap="square" lIns="0" tIns="0" rIns="0" bIns="0" rtlCol="0" anchor="t"/>
          <a:lstStyle/>
          <a:p>
            <a:pPr algn="l" indent="0" marL="0">
              <a:buNone/>
            </a:pPr>
            <a:r>
              <a:rPr lang="en-US" sz="3000" b="1" dirty="0">
                <a:solidFill>
                  <a:srgbClr val="0B1F33"/>
                </a:solidFill>
                <a:latin typeface="Arial" pitchFamily="34" charset="0"/>
                <a:ea typeface="Arial" pitchFamily="34" charset="-122"/>
                <a:cs typeface="Arial" pitchFamily="34" charset="-120"/>
              </a:rPr>
              <a:t>Fiskerimodulen: det generelle systemer ikke er laget for</a:t>
            </a:r>
            <a:endParaRPr lang="en-US" sz="3000" dirty="0"/>
          </a:p>
        </p:txBody>
      </p:sp>
      <p:sp>
        <p:nvSpPr>
          <p:cNvPr id="4" name="Text 2"/>
          <p:cNvSpPr txBox="1"/>
          <p:nvPr/>
        </p:nvSpPr>
        <p:spPr>
          <a:xfrm>
            <a:off x="548640" y="1828800"/>
            <a:ext cx="4434840" cy="822960"/>
          </a:xfrm>
          <a:prstGeom prst="rect">
            <a:avLst/>
          </a:prstGeom>
          <a:noFill/>
          <a:ln/>
        </p:spPr>
        <p:txBody>
          <a:bodyPr wrap="square" lIns="0" tIns="0" rIns="0" bIns="0" rtlCol="0" anchor="t"/>
          <a:lstStyle/>
          <a:p>
            <a:pPr indent="0" marL="0">
              <a:buNone/>
            </a:pPr>
            <a:r>
              <a:rPr lang="en-US" sz="1600" dirty="0">
                <a:solidFill>
                  <a:srgbClr val="1B2A38"/>
                </a:solidFill>
                <a:latin typeface="Calibri" pitchFamily="34" charset="0"/>
                <a:ea typeface="Calibri" pitchFamily="34" charset="-122"/>
                <a:cs typeface="Calibri" pitchFamily="34" charset="-120"/>
              </a:rPr>
              <a:t>Fiskefartøy har krav og arbeidsoppgaver som handelsflåten ikke har. Nautech har dem innebygd.</a:t>
            </a:r>
            <a:endParaRPr lang="en-US" sz="1600" dirty="0"/>
          </a:p>
        </p:txBody>
      </p:sp>
      <p:sp>
        <p:nvSpPr>
          <p:cNvPr id="5" name="Ikon-sirkel"/>
          <p:cNvSpPr/>
          <p:nvPr/>
        </p:nvSpPr>
        <p:spPr>
          <a:xfrm>
            <a:off x="548640" y="2743200"/>
            <a:ext cx="548640" cy="548640"/>
          </a:xfrm>
          <a:prstGeom prst="ellipse">
            <a:avLst/>
          </a:prstGeom>
          <a:solidFill>
            <a:srgbClr val="0E7C86"/>
          </a:solidFill>
          <a:ln/>
        </p:spPr>
      </p:sp>
      <p:pic>
        <p:nvPicPr>
          <p:cNvPr id="6" name="Ikon FaFish" descr="preencoded.png">    </p:cNvPr>
          <p:cNvPicPr>
            <a:picLocks noChangeAspect="1"/>
          </p:cNvPicPr>
          <p:nvPr/>
        </p:nvPicPr>
        <p:blipFill>
          <a:blip r:embed="rId1"/>
          <a:stretch>
            <a:fillRect/>
          </a:stretch>
        </p:blipFill>
        <p:spPr>
          <a:xfrm>
            <a:off x="680314" y="2874874"/>
            <a:ext cx="285293" cy="285293"/>
          </a:xfrm>
          <a:prstGeom prst="rect">
            <a:avLst/>
          </a:prstGeom>
        </p:spPr>
      </p:pic>
      <p:sp>
        <p:nvSpPr>
          <p:cNvPr id="7" name="Text 4"/>
          <p:cNvSpPr txBox="1"/>
          <p:nvPr/>
        </p:nvSpPr>
        <p:spPr>
          <a:xfrm>
            <a:off x="1280160" y="2706624"/>
            <a:ext cx="3703320" cy="731520"/>
          </a:xfrm>
          <a:prstGeom prst="rect">
            <a:avLst/>
          </a:prstGeom>
          <a:noFill/>
          <a:ln/>
        </p:spPr>
        <p:txBody>
          <a:bodyPr wrap="square" lIns="0" tIns="0" rIns="0" bIns="0" rtlCol="0" anchor="t"/>
          <a:lstStyle/>
          <a:p>
            <a:pPr indent="0" marL="0">
              <a:buNone/>
            </a:pPr>
            <a:r>
              <a:rPr lang="en-US" sz="1600" b="1" dirty="0">
                <a:solidFill>
                  <a:srgbClr val="0B1F33"/>
                </a:solidFill>
                <a:latin typeface="Calibri" pitchFamily="34" charset="0"/>
                <a:ea typeface="Calibri" pitchFamily="34" charset="-122"/>
                <a:cs typeface="Calibri" pitchFamily="34" charset="-120"/>
              </a:rPr>
              <a:t>Fangst per hal og tur</a:t>
            </a:r>
            <a:endParaRPr lang="en-US" sz="1600" dirty="0"/>
          </a:p>
          <a:p>
            <a:pPr indent="0" marL="0">
              <a:buNone/>
            </a:pPr>
            <a:r>
              <a:rPr lang="en-US" sz="1400" dirty="0">
                <a:solidFill>
                  <a:srgbClr val="1B2A38"/>
                </a:solidFill>
                <a:latin typeface="Calibri" pitchFamily="34" charset="0"/>
                <a:ea typeface="Calibri" pitchFamily="34" charset="-122"/>
                <a:cs typeface="Calibri" pitchFamily="34" charset="-120"/>
              </a:rPr>
              <a:t>Mengde, art, dyp og tid registreres om bord.</a:t>
            </a:r>
            <a:endParaRPr lang="en-US" sz="1600" dirty="0"/>
          </a:p>
        </p:txBody>
      </p:sp>
      <p:sp>
        <p:nvSpPr>
          <p:cNvPr id="8" name="Ikon-sirkel"/>
          <p:cNvSpPr/>
          <p:nvPr/>
        </p:nvSpPr>
        <p:spPr>
          <a:xfrm>
            <a:off x="548640" y="3520440"/>
            <a:ext cx="548640" cy="548640"/>
          </a:xfrm>
          <a:prstGeom prst="ellipse">
            <a:avLst/>
          </a:prstGeom>
          <a:solidFill>
            <a:srgbClr val="0E7C86"/>
          </a:solidFill>
          <a:ln/>
        </p:spPr>
      </p:sp>
      <p:pic>
        <p:nvPicPr>
          <p:cNvPr id="9" name="Ikon FaListCheck" descr="preencoded.png">    </p:cNvPr>
          <p:cNvPicPr>
            <a:picLocks noChangeAspect="1"/>
          </p:cNvPicPr>
          <p:nvPr/>
        </p:nvPicPr>
        <p:blipFill>
          <a:blip r:embed="rId2"/>
          <a:stretch>
            <a:fillRect/>
          </a:stretch>
        </p:blipFill>
        <p:spPr>
          <a:xfrm>
            <a:off x="680314" y="3652114"/>
            <a:ext cx="285293" cy="285293"/>
          </a:xfrm>
          <a:prstGeom prst="rect">
            <a:avLst/>
          </a:prstGeom>
        </p:spPr>
      </p:pic>
      <p:sp>
        <p:nvSpPr>
          <p:cNvPr id="10" name="Text 6"/>
          <p:cNvSpPr txBox="1"/>
          <p:nvPr/>
        </p:nvSpPr>
        <p:spPr>
          <a:xfrm>
            <a:off x="1280160" y="3483864"/>
            <a:ext cx="3703320" cy="731520"/>
          </a:xfrm>
          <a:prstGeom prst="rect">
            <a:avLst/>
          </a:prstGeom>
          <a:noFill/>
          <a:ln/>
        </p:spPr>
        <p:txBody>
          <a:bodyPr wrap="square" lIns="0" tIns="0" rIns="0" bIns="0" rtlCol="0" anchor="t"/>
          <a:lstStyle/>
          <a:p>
            <a:pPr indent="0" marL="0">
              <a:buNone/>
            </a:pPr>
            <a:r>
              <a:rPr lang="en-US" sz="1600" b="1" dirty="0">
                <a:solidFill>
                  <a:srgbClr val="0B1F33"/>
                </a:solidFill>
                <a:latin typeface="Calibri" pitchFamily="34" charset="0"/>
                <a:ea typeface="Calibri" pitchFamily="34" charset="-122"/>
                <a:cs typeface="Calibri" pitchFamily="34" charset="-120"/>
              </a:rPr>
              <a:t>Kvoter</a:t>
            </a:r>
            <a:endParaRPr lang="en-US" sz="1600" dirty="0"/>
          </a:p>
          <a:p>
            <a:pPr indent="0" marL="0">
              <a:buNone/>
            </a:pPr>
            <a:r>
              <a:rPr lang="en-US" sz="1400" dirty="0">
                <a:solidFill>
                  <a:srgbClr val="1B2A38"/>
                </a:solidFill>
                <a:latin typeface="Calibri" pitchFamily="34" charset="0"/>
                <a:ea typeface="Calibri" pitchFamily="34" charset="-122"/>
                <a:cs typeface="Calibri" pitchFamily="34" charset="-120"/>
              </a:rPr>
              <a:t>Se hvor mye som er fisket og hva som gjenstår.</a:t>
            </a:r>
            <a:endParaRPr lang="en-US" sz="1600" dirty="0"/>
          </a:p>
        </p:txBody>
      </p:sp>
      <p:sp>
        <p:nvSpPr>
          <p:cNvPr id="11" name="Ikon-sirkel"/>
          <p:cNvSpPr/>
          <p:nvPr/>
        </p:nvSpPr>
        <p:spPr>
          <a:xfrm>
            <a:off x="548640" y="4297680"/>
            <a:ext cx="548640" cy="548640"/>
          </a:xfrm>
          <a:prstGeom prst="ellipse">
            <a:avLst/>
          </a:prstGeom>
          <a:solidFill>
            <a:srgbClr val="0E7C86"/>
          </a:solidFill>
          <a:ln/>
        </p:spPr>
      </p:sp>
      <p:pic>
        <p:nvPicPr>
          <p:cNvPr id="12" name="Ikon FaClipboardCheck" descr="preencoded.png">    </p:cNvPr>
          <p:cNvPicPr>
            <a:picLocks noChangeAspect="1"/>
          </p:cNvPicPr>
          <p:nvPr/>
        </p:nvPicPr>
        <p:blipFill>
          <a:blip r:embed="rId3"/>
          <a:stretch>
            <a:fillRect/>
          </a:stretch>
        </p:blipFill>
        <p:spPr>
          <a:xfrm>
            <a:off x="680314" y="4429354"/>
            <a:ext cx="285293" cy="285293"/>
          </a:xfrm>
          <a:prstGeom prst="rect">
            <a:avLst/>
          </a:prstGeom>
        </p:spPr>
      </p:pic>
      <p:sp>
        <p:nvSpPr>
          <p:cNvPr id="13" name="Text 8"/>
          <p:cNvSpPr txBox="1"/>
          <p:nvPr/>
        </p:nvSpPr>
        <p:spPr>
          <a:xfrm>
            <a:off x="1280160" y="4261104"/>
            <a:ext cx="3703320" cy="731520"/>
          </a:xfrm>
          <a:prstGeom prst="rect">
            <a:avLst/>
          </a:prstGeom>
          <a:noFill/>
          <a:ln/>
        </p:spPr>
        <p:txBody>
          <a:bodyPr wrap="square" lIns="0" tIns="0" rIns="0" bIns="0" rtlCol="0" anchor="t"/>
          <a:lstStyle/>
          <a:p>
            <a:pPr indent="0" marL="0">
              <a:buNone/>
            </a:pPr>
            <a:r>
              <a:rPr lang="en-US" sz="1600" b="1" dirty="0">
                <a:solidFill>
                  <a:srgbClr val="0B1F33"/>
                </a:solidFill>
                <a:latin typeface="Calibri" pitchFamily="34" charset="0"/>
                <a:ea typeface="Calibri" pitchFamily="34" charset="-122"/>
                <a:cs typeface="Calibri" pitchFamily="34" charset="-120"/>
              </a:rPr>
              <a:t>Rapportering og krav</a:t>
            </a:r>
            <a:endParaRPr lang="en-US" sz="1600" dirty="0"/>
          </a:p>
          <a:p>
            <a:pPr indent="0" marL="0">
              <a:buNone/>
            </a:pPr>
            <a:r>
              <a:rPr lang="en-US" sz="1400" dirty="0">
                <a:solidFill>
                  <a:srgbClr val="1B2A38"/>
                </a:solidFill>
                <a:latin typeface="Calibri" pitchFamily="34" charset="0"/>
                <a:ea typeface="Calibri" pitchFamily="34" charset="-122"/>
                <a:cs typeface="Calibri" pitchFamily="34" charset="-120"/>
              </a:rPr>
              <a:t>Oversikt over ERS, VMS, HACCP, bifangst og landingsdeklarasjoner.</a:t>
            </a:r>
            <a:endParaRPr lang="en-US" sz="1600" dirty="0"/>
          </a:p>
        </p:txBody>
      </p:sp>
      <p:sp>
        <p:nvSpPr>
          <p:cNvPr id="14" name="Ikon-sirkel"/>
          <p:cNvSpPr/>
          <p:nvPr/>
        </p:nvSpPr>
        <p:spPr>
          <a:xfrm>
            <a:off x="548640" y="5074920"/>
            <a:ext cx="548640" cy="548640"/>
          </a:xfrm>
          <a:prstGeom prst="ellipse">
            <a:avLst/>
          </a:prstGeom>
          <a:solidFill>
            <a:srgbClr val="0E7C86"/>
          </a:solidFill>
          <a:ln/>
        </p:spPr>
      </p:sp>
      <p:pic>
        <p:nvPicPr>
          <p:cNvPr id="15" name="Ikon FaRoute" descr="preencoded.png">    </p:cNvPr>
          <p:cNvPicPr>
            <a:picLocks noChangeAspect="1"/>
          </p:cNvPicPr>
          <p:nvPr/>
        </p:nvPicPr>
        <p:blipFill>
          <a:blip r:embed="rId4"/>
          <a:stretch>
            <a:fillRect/>
          </a:stretch>
        </p:blipFill>
        <p:spPr>
          <a:xfrm>
            <a:off x="680314" y="5206594"/>
            <a:ext cx="285293" cy="285293"/>
          </a:xfrm>
          <a:prstGeom prst="rect">
            <a:avLst/>
          </a:prstGeom>
        </p:spPr>
      </p:pic>
      <p:sp>
        <p:nvSpPr>
          <p:cNvPr id="16" name="Text 10"/>
          <p:cNvSpPr txBox="1"/>
          <p:nvPr/>
        </p:nvSpPr>
        <p:spPr>
          <a:xfrm>
            <a:off x="1280160" y="5038344"/>
            <a:ext cx="3703320" cy="731520"/>
          </a:xfrm>
          <a:prstGeom prst="rect">
            <a:avLst/>
          </a:prstGeom>
          <a:noFill/>
          <a:ln/>
        </p:spPr>
        <p:txBody>
          <a:bodyPr wrap="square" lIns="0" tIns="0" rIns="0" bIns="0" rtlCol="0" anchor="t"/>
          <a:lstStyle/>
          <a:p>
            <a:pPr indent="0" marL="0">
              <a:buNone/>
            </a:pPr>
            <a:r>
              <a:rPr lang="en-US" sz="1600" b="1" dirty="0">
                <a:solidFill>
                  <a:srgbClr val="0B1F33"/>
                </a:solidFill>
                <a:latin typeface="Calibri" pitchFamily="34" charset="0"/>
                <a:ea typeface="Calibri" pitchFamily="34" charset="-122"/>
                <a:cs typeface="Calibri" pitchFamily="34" charset="-120"/>
              </a:rPr>
              <a:t>Sporbarhet</a:t>
            </a:r>
            <a:endParaRPr lang="en-US" sz="1600" dirty="0"/>
          </a:p>
          <a:p>
            <a:pPr indent="0" marL="0">
              <a:buNone/>
            </a:pPr>
            <a:r>
              <a:rPr lang="en-US" sz="1400" dirty="0">
                <a:solidFill>
                  <a:srgbClr val="1B2A38"/>
                </a:solidFill>
                <a:latin typeface="Calibri" pitchFamily="34" charset="0"/>
                <a:ea typeface="Calibri" pitchFamily="34" charset="-122"/>
                <a:cs typeface="Calibri" pitchFamily="34" charset="-120"/>
              </a:rPr>
              <a:t>Følg fisken fra fangst til salg.</a:t>
            </a:r>
            <a:endParaRPr lang="en-US" sz="1600" dirty="0"/>
          </a:p>
        </p:txBody>
      </p:sp>
      <p:sp>
        <p:nvSpPr>
          <p:cNvPr id="17" name="Skjermbilde-ramme"/>
          <p:cNvSpPr/>
          <p:nvPr/>
        </p:nvSpPr>
        <p:spPr>
          <a:xfrm>
            <a:off x="5221224" y="1792224"/>
            <a:ext cx="6458407" cy="4063937"/>
          </a:xfrm>
          <a:prstGeom prst="rect">
            <a:avLst/>
          </a:prstGeom>
          <a:solidFill>
            <a:srgbClr val="FFFFFF"/>
          </a:solidFill>
          <a:ln w="12700">
            <a:solidFill>
              <a:srgbClr val="C9D5DE"/>
            </a:solidFill>
            <a:prstDash val="solid"/>
          </a:ln>
          <a:effectLst>
            <a:outerShdw sx="100000" sy="100000" kx="0" ky="0" algn="bl" rotWithShape="0" blurRad="101600" dist="38100" dir="5400000">
              <a:srgbClr val="000000">
                <a:alpha val="18000"/>
              </a:srgbClr>
            </a:outerShdw>
          </a:effectLst>
        </p:spPr>
      </p:sp>
      <p:pic>
        <p:nvPicPr>
          <p:cNvPr id="18" name="Skjermbilde fishery__hauls.png" descr="/tmp/claude-0/-home-user-Claude/bbdec16f-2a10-550d-bb32-af07b09e4311/scratchpad/build/img/fishery__hauls.png">    </p:cNvPr>
          <p:cNvPicPr>
            <a:picLocks noChangeAspect="1"/>
          </p:cNvPicPr>
          <p:nvPr/>
        </p:nvPicPr>
        <p:blipFill>
          <a:blip r:embed="rId5"/>
          <a:stretch>
            <a:fillRect/>
          </a:stretch>
        </p:blipFill>
        <p:spPr>
          <a:xfrm>
            <a:off x="5257800" y="1828800"/>
            <a:ext cx="6385255" cy="3990785"/>
          </a:xfrm>
          <a:prstGeom prst="rect">
            <a:avLst/>
          </a:prstGeom>
        </p:spPr>
      </p:pic>
      <p:sp>
        <p:nvSpPr>
          <p:cNvPr id="19" name="Text 12"/>
          <p:cNvSpPr txBox="1"/>
          <p:nvPr/>
        </p:nvSpPr>
        <p:spPr>
          <a:xfrm>
            <a:off x="5257800" y="5929313"/>
            <a:ext cx="6385255" cy="274320"/>
          </a:xfrm>
          <a:prstGeom prst="rect">
            <a:avLst/>
          </a:prstGeom>
          <a:noFill/>
          <a:ln/>
        </p:spPr>
        <p:txBody>
          <a:bodyPr wrap="square" lIns="0" tIns="0" rIns="0" bIns="0" rtlCol="0" anchor="ctr"/>
          <a:lstStyle/>
          <a:p>
            <a:pPr indent="0" marL="0">
              <a:buNone/>
            </a:pPr>
            <a:r>
              <a:rPr lang="en-US" sz="1100" i="1" dirty="0">
                <a:solidFill>
                  <a:srgbClr val="5B6B7A"/>
                </a:solidFill>
                <a:latin typeface="Calibri" pitchFamily="34" charset="0"/>
                <a:ea typeface="Calibri" pitchFamily="34" charset="-122"/>
                <a:cs typeface="Calibri" pitchFamily="34" charset="-120"/>
              </a:rPr>
              <a:t>Fangst per hal: tidspunkt, dyp, temperatur og mengde.</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lstStyle/>
          <a:p>
            <a:pPr indent="0" marL="0">
              <a:buNone/>
            </a:pPr>
            <a:r>
              <a:rPr lang="en-US" sz="1200" b="1" spc="200" kern="0" dirty="0">
                <a:solidFill>
                  <a:srgbClr val="0E7C86"/>
                </a:solidFill>
                <a:latin typeface="Calibri" pitchFamily="34" charset="0"/>
                <a:ea typeface="Calibri" pitchFamily="34" charset="-122"/>
                <a:cs typeface="Calibri" pitchFamily="34" charset="-120"/>
              </a:rPr>
              <a:t>KONKURRANSE</a:t>
            </a:r>
            <a:endParaRPr lang="en-US" sz="1200" dirty="0"/>
          </a:p>
        </p:txBody>
      </p:sp>
      <p:sp>
        <p:nvSpPr>
          <p:cNvPr id="3" name="Text 1"/>
          <p:cNvSpPr/>
          <p:nvPr>
            <p:ph idx="102" type="title" hasCustomPrompt="1"/>
          </p:nvPr>
        </p:nvSpPr>
        <p:spPr>
          <a:xfrm>
            <a:off x="548640" y="658368"/>
            <a:ext cx="11094415" cy="1051560"/>
          </a:xfrm>
          <a:prstGeom prst="rect">
            <a:avLst/>
          </a:prstGeom>
          <a:noFill/>
          <a:ln/>
        </p:spPr>
        <p:txBody>
          <a:bodyPr wrap="square" lIns="0" tIns="0" rIns="0" bIns="0" rtlCol="0" anchor="t"/>
          <a:lstStyle/>
          <a:p>
            <a:pPr algn="l" indent="0" marL="0">
              <a:buNone/>
            </a:pPr>
            <a:r>
              <a:rPr lang="en-US" sz="3000" b="1" dirty="0">
                <a:solidFill>
                  <a:srgbClr val="0B1F33"/>
                </a:solidFill>
                <a:latin typeface="Arial" pitchFamily="34" charset="0"/>
                <a:ea typeface="Arial" pitchFamily="34" charset="-122"/>
                <a:cs typeface="Arial" pitchFamily="34" charset="-120"/>
              </a:rPr>
              <a:t>Hvorfor Nautech vinner: bygget for fiskeflåten, med KI fra start</a:t>
            </a:r>
            <a:endParaRPr lang="en-US" sz="3000" dirty="0"/>
          </a:p>
        </p:txBody>
      </p:sp>
      <p:sp>
        <p:nvSpPr>
          <p:cNvPr id="4" name="Ikon-sirkel"/>
          <p:cNvSpPr/>
          <p:nvPr/>
        </p:nvSpPr>
        <p:spPr>
          <a:xfrm>
            <a:off x="548640" y="1874520"/>
            <a:ext cx="640080" cy="640080"/>
          </a:xfrm>
          <a:prstGeom prst="ellipse">
            <a:avLst/>
          </a:prstGeom>
          <a:solidFill>
            <a:srgbClr val="0E7C86"/>
          </a:solidFill>
          <a:ln/>
        </p:spPr>
      </p:sp>
      <p:pic>
        <p:nvPicPr>
          <p:cNvPr id="5" name="Ikon FaFish" descr="preencoded.png">    </p:cNvPr>
          <p:cNvPicPr>
            <a:picLocks noChangeAspect="1"/>
          </p:cNvPicPr>
          <p:nvPr/>
        </p:nvPicPr>
        <p:blipFill>
          <a:blip r:embed="rId1"/>
          <a:stretch>
            <a:fillRect/>
          </a:stretch>
        </p:blipFill>
        <p:spPr>
          <a:xfrm>
            <a:off x="702259" y="2028139"/>
            <a:ext cx="332842" cy="332842"/>
          </a:xfrm>
          <a:prstGeom prst="rect">
            <a:avLst/>
          </a:prstGeom>
        </p:spPr>
      </p:pic>
      <p:sp>
        <p:nvSpPr>
          <p:cNvPr id="6" name="Text 3"/>
          <p:cNvSpPr txBox="1"/>
          <p:nvPr/>
        </p:nvSpPr>
        <p:spPr>
          <a:xfrm>
            <a:off x="1417320" y="1828800"/>
            <a:ext cx="4160520" cy="1234440"/>
          </a:xfrm>
          <a:prstGeom prst="rect">
            <a:avLst/>
          </a:prstGeom>
          <a:noFill/>
          <a:ln/>
        </p:spPr>
        <p:txBody>
          <a:bodyPr wrap="square" lIns="0" tIns="0" rIns="0" bIns="0" rtlCol="0" anchor="t"/>
          <a:lstStyle/>
          <a:p>
            <a:pPr indent="0" marL="0">
              <a:buNone/>
            </a:pPr>
            <a:r>
              <a:rPr lang="en-US" sz="1700" b="1" dirty="0">
                <a:solidFill>
                  <a:srgbClr val="0B1F33"/>
                </a:solidFill>
                <a:latin typeface="Calibri" pitchFamily="34" charset="0"/>
                <a:ea typeface="Calibri" pitchFamily="34" charset="-122"/>
                <a:cs typeface="Calibri" pitchFamily="34" charset="-120"/>
              </a:rPr>
              <a:t>Bygget for fiskeflåten</a:t>
            </a:r>
            <a:endParaRPr lang="en-US" sz="1700" dirty="0"/>
          </a:p>
          <a:p>
            <a:pPr indent="0" marL="0">
              <a:buNone/>
            </a:pPr>
            <a:r>
              <a:rPr lang="en-US" sz="1400" dirty="0">
                <a:solidFill>
                  <a:srgbClr val="1B2A38"/>
                </a:solidFill>
                <a:latin typeface="Calibri" pitchFamily="34" charset="0"/>
                <a:ea typeface="Calibri" pitchFamily="34" charset="-122"/>
                <a:cs typeface="Calibri" pitchFamily="34" charset="-120"/>
              </a:rPr>
              <a:t>Egen fiskerimodul med fangst per hal, kvoter, sporbarhet og oversikt over ERS, VMS og HACCP. Konkurrentene er brede systemer for mange typer fartøy.</a:t>
            </a:r>
            <a:endParaRPr lang="en-US" sz="1700" dirty="0"/>
          </a:p>
        </p:txBody>
      </p:sp>
      <p:sp>
        <p:nvSpPr>
          <p:cNvPr id="7" name="Ikon-sirkel"/>
          <p:cNvSpPr/>
          <p:nvPr/>
        </p:nvSpPr>
        <p:spPr>
          <a:xfrm>
            <a:off x="548640" y="3200400"/>
            <a:ext cx="640080" cy="640080"/>
          </a:xfrm>
          <a:prstGeom prst="ellipse">
            <a:avLst/>
          </a:prstGeom>
          <a:solidFill>
            <a:srgbClr val="0E7C86"/>
          </a:solidFill>
          <a:ln/>
        </p:spPr>
      </p:sp>
      <p:pic>
        <p:nvPicPr>
          <p:cNvPr id="8" name="Ikon FaBrain" descr="preencoded.png">    </p:cNvPr>
          <p:cNvPicPr>
            <a:picLocks noChangeAspect="1"/>
          </p:cNvPicPr>
          <p:nvPr/>
        </p:nvPicPr>
        <p:blipFill>
          <a:blip r:embed="rId2"/>
          <a:stretch>
            <a:fillRect/>
          </a:stretch>
        </p:blipFill>
        <p:spPr>
          <a:xfrm>
            <a:off x="702259" y="3354019"/>
            <a:ext cx="332842" cy="332842"/>
          </a:xfrm>
          <a:prstGeom prst="rect">
            <a:avLst/>
          </a:prstGeom>
        </p:spPr>
      </p:pic>
      <p:sp>
        <p:nvSpPr>
          <p:cNvPr id="9" name="Text 5"/>
          <p:cNvSpPr txBox="1"/>
          <p:nvPr/>
        </p:nvSpPr>
        <p:spPr>
          <a:xfrm>
            <a:off x="1417320" y="3154680"/>
            <a:ext cx="4160520" cy="1234440"/>
          </a:xfrm>
          <a:prstGeom prst="rect">
            <a:avLst/>
          </a:prstGeom>
          <a:noFill/>
          <a:ln/>
        </p:spPr>
        <p:txBody>
          <a:bodyPr wrap="square" lIns="0" tIns="0" rIns="0" bIns="0" rtlCol="0" anchor="t"/>
          <a:lstStyle/>
          <a:p>
            <a:pPr indent="0" marL="0">
              <a:buNone/>
            </a:pPr>
            <a:r>
              <a:rPr lang="en-US" sz="1700" b="1" dirty="0">
                <a:solidFill>
                  <a:srgbClr val="0B1F33"/>
                </a:solidFill>
                <a:latin typeface="Calibri" pitchFamily="34" charset="0"/>
                <a:ea typeface="Calibri" pitchFamily="34" charset="-122"/>
                <a:cs typeface="Calibri" pitchFamily="34" charset="-120"/>
              </a:rPr>
              <a:t>KI fra start – ikke lagt på i etterkant</a:t>
            </a:r>
            <a:endParaRPr lang="en-US" sz="1700" dirty="0"/>
          </a:p>
          <a:p>
            <a:pPr indent="0" marL="0">
              <a:buNone/>
            </a:pPr>
            <a:r>
              <a:rPr lang="en-US" sz="1400" dirty="0">
                <a:solidFill>
                  <a:srgbClr val="1B2A38"/>
                </a:solidFill>
                <a:latin typeface="Calibri" pitchFamily="34" charset="0"/>
                <a:ea typeface="Calibri" pitchFamily="34" charset="-122"/>
                <a:cs typeface="Calibri" pitchFamily="34" charset="-120"/>
              </a:rPr>
              <a:t>KI-en bruker kundens egne data og viser kilden. Flere konkurrenter er først nå i gang med KI.</a:t>
            </a:r>
            <a:endParaRPr lang="en-US" sz="1700" dirty="0"/>
          </a:p>
        </p:txBody>
      </p:sp>
      <p:sp>
        <p:nvSpPr>
          <p:cNvPr id="10" name="Ikon-sirkel"/>
          <p:cNvSpPr/>
          <p:nvPr/>
        </p:nvSpPr>
        <p:spPr>
          <a:xfrm>
            <a:off x="548640" y="4526280"/>
            <a:ext cx="640080" cy="640080"/>
          </a:xfrm>
          <a:prstGeom prst="ellipse">
            <a:avLst/>
          </a:prstGeom>
          <a:solidFill>
            <a:srgbClr val="0E7C86"/>
          </a:solidFill>
          <a:ln/>
        </p:spPr>
      </p:sp>
      <p:pic>
        <p:nvPicPr>
          <p:cNvPr id="11" name="Ikon FaLock" descr="preencoded.png">    </p:cNvPr>
          <p:cNvPicPr>
            <a:picLocks noChangeAspect="1"/>
          </p:cNvPicPr>
          <p:nvPr/>
        </p:nvPicPr>
        <p:blipFill>
          <a:blip r:embed="rId3"/>
          <a:stretch>
            <a:fillRect/>
          </a:stretch>
        </p:blipFill>
        <p:spPr>
          <a:xfrm>
            <a:off x="702259" y="4679899"/>
            <a:ext cx="332842" cy="332842"/>
          </a:xfrm>
          <a:prstGeom prst="rect">
            <a:avLst/>
          </a:prstGeom>
        </p:spPr>
      </p:pic>
      <p:sp>
        <p:nvSpPr>
          <p:cNvPr id="12" name="Text 7"/>
          <p:cNvSpPr txBox="1"/>
          <p:nvPr/>
        </p:nvSpPr>
        <p:spPr>
          <a:xfrm>
            <a:off x="1417320" y="4480560"/>
            <a:ext cx="4160520" cy="1234440"/>
          </a:xfrm>
          <a:prstGeom prst="rect">
            <a:avLst/>
          </a:prstGeom>
          <a:noFill/>
          <a:ln/>
        </p:spPr>
        <p:txBody>
          <a:bodyPr wrap="square" lIns="0" tIns="0" rIns="0" bIns="0" rtlCol="0" anchor="t"/>
          <a:lstStyle/>
          <a:p>
            <a:pPr indent="0" marL="0">
              <a:buNone/>
            </a:pPr>
            <a:r>
              <a:rPr lang="en-US" sz="1700" b="1" dirty="0">
                <a:solidFill>
                  <a:srgbClr val="0B1F33"/>
                </a:solidFill>
                <a:latin typeface="Calibri" pitchFamily="34" charset="0"/>
                <a:ea typeface="Calibri" pitchFamily="34" charset="-122"/>
                <a:cs typeface="Calibri" pitchFamily="34" charset="-120"/>
              </a:rPr>
              <a:t>Data lagres i Norge</a:t>
            </a:r>
            <a:endParaRPr lang="en-US" sz="1700" dirty="0"/>
          </a:p>
          <a:p>
            <a:pPr indent="0" marL="0">
              <a:buNone/>
            </a:pPr>
            <a:r>
              <a:rPr lang="en-US" sz="1400" dirty="0">
                <a:solidFill>
                  <a:srgbClr val="1B2A38"/>
                </a:solidFill>
                <a:latin typeface="Calibri" pitchFamily="34" charset="0"/>
                <a:ea typeface="Calibri" pitchFamily="34" charset="-122"/>
                <a:cs typeface="Calibri" pitchFamily="34" charset="-120"/>
              </a:rPr>
              <a:t>På egen server i Norge. Kundens data brukes ikke til å trene KI-modeller.</a:t>
            </a:r>
            <a:endParaRPr lang="en-US" sz="17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0" y="1828800"/>
          <a:ext cx="5973775" cy="914400"/>
        </p:xfrm>
        <a:graphic>
          <a:graphicData uri="http://schemas.openxmlformats.org/drawingml/2006/table">
            <a:tbl>
              <a:tblPr/>
              <a:tblGrid>
                <a:gridCol w="1234440"/>
                <a:gridCol w="2377440"/>
                <a:gridCol w="2361895"/>
              </a:tblGrid>
              <a:tr h="47548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Leverandør</a:t>
                      </a:r>
                      <a:endParaRPr lang="en-US" sz="1300" dirty="0">
                        <a:latin typeface="Calibri" charset="0"/>
                        <a:ea typeface="Calibri" charset="0"/>
                        <a:cs typeface="Calibri" charset="0"/>
                      </a:endParaRPr>
                    </a:p>
                  </a:txBody>
                  <a:tcPr marL="76200" marR="76200" marT="38100" marB="38100"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0B1F3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Målgruppe</a:t>
                      </a:r>
                      <a:endParaRPr lang="en-US" sz="1300" dirty="0">
                        <a:latin typeface="Calibri" charset="0"/>
                        <a:ea typeface="Calibri" charset="0"/>
                        <a:cs typeface="Calibri" charset="0"/>
                      </a:endParaRPr>
                    </a:p>
                  </a:txBody>
                  <a:tcPr marL="76200" marR="76200" marT="38100" marB="38100"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0B1F3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KI i dag</a:t>
                      </a:r>
                      <a:endParaRPr lang="en-US" sz="1300" dirty="0">
                        <a:latin typeface="Calibri" charset="0"/>
                        <a:ea typeface="Calibri" charset="0"/>
                        <a:cs typeface="Calibri" charset="0"/>
                      </a:endParaRPr>
                    </a:p>
                  </a:txBody>
                  <a:tcPr marL="76200" marR="76200" marT="38100" marB="38100"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0B1F33"/>
                    </a:solidFill>
                  </a:tcPr>
                </a:tc>
              </a:tr>
              <a:tr h="475488">
                <a:tc>
                  <a:txBody>
                    <a:bodyPr/>
                    <a:lstStyle/>
                    <a:p>
                      <a:pPr indent="0" marL="0">
                        <a:buNone/>
                      </a:pPr>
                      <a:r>
                        <a:rPr lang="en-US" sz="1300" b="1" dirty="0">
                          <a:solidFill>
                            <a:srgbClr val="0E7C86"/>
                          </a:solidFill>
                          <a:latin typeface="Calibri" pitchFamily="34" charset="0"/>
                          <a:ea typeface="Calibri" pitchFamily="34" charset="-122"/>
                          <a:cs typeface="Calibri" pitchFamily="34" charset="-120"/>
                        </a:rPr>
                        <a:t>Nautech</a:t>
                      </a:r>
                      <a:endParaRPr lang="en-US" sz="1300" dirty="0">
                        <a:latin typeface="Calibri" charset="0"/>
                        <a:ea typeface="Calibri" charset="0"/>
                        <a:cs typeface="Calibri" charset="0"/>
                      </a:endParaRPr>
                    </a:p>
                  </a:txBody>
                  <a:tcPr marL="76200" marR="76200" marT="38100" marB="38100"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indent="0" marL="0">
                        <a:buNone/>
                      </a:pPr>
                      <a:r>
                        <a:rPr lang="en-US" sz="1300" b="1" dirty="0">
                          <a:solidFill>
                            <a:srgbClr val="0E7C86"/>
                          </a:solidFill>
                          <a:latin typeface="Calibri" pitchFamily="34" charset="0"/>
                          <a:ea typeface="Calibri" pitchFamily="34" charset="-122"/>
                          <a:cs typeface="Calibri" pitchFamily="34" charset="-120"/>
                        </a:rPr>
                        <a:t>Fiskefartøy</a:t>
                      </a:r>
                      <a:endParaRPr lang="en-US" sz="1300" dirty="0">
                        <a:latin typeface="Calibri" charset="0"/>
                        <a:ea typeface="Calibri" charset="0"/>
                        <a:cs typeface="Calibri" charset="0"/>
                      </a:endParaRPr>
                    </a:p>
                  </a:txBody>
                  <a:tcPr marL="76200" marR="76200" marT="38100" marB="38100"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indent="0" marL="0">
                        <a:buNone/>
                      </a:pPr>
                      <a:r>
                        <a:rPr lang="en-US" sz="1300" b="1" dirty="0">
                          <a:solidFill>
                            <a:srgbClr val="0E7C86"/>
                          </a:solidFill>
                          <a:latin typeface="Calibri" pitchFamily="34" charset="0"/>
                          <a:ea typeface="Calibri" pitchFamily="34" charset="-122"/>
                          <a:cs typeface="Calibri" pitchFamily="34" charset="-120"/>
                        </a:rPr>
                        <a:t>KI-assistent på egne data, med kilde</a:t>
                      </a:r>
                      <a:endParaRPr lang="en-US" sz="1300" dirty="0">
                        <a:latin typeface="Calibri" charset="0"/>
                        <a:ea typeface="Calibri" charset="0"/>
                        <a:cs typeface="Calibri" charset="0"/>
                      </a:endParaRPr>
                    </a:p>
                  </a:txBody>
                  <a:tcPr marL="76200" marR="76200" marT="38100" marB="38100"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1B2A38"/>
                          </a:solidFill>
                          <a:latin typeface="Calibri" pitchFamily="34" charset="0"/>
                          <a:ea typeface="Calibri" pitchFamily="34" charset="-122"/>
                          <a:cs typeface="Calibri" pitchFamily="34" charset="-120"/>
                        </a:rPr>
                        <a:t>CCOM X</a:t>
                      </a:r>
                      <a:endParaRPr lang="en-US" sz="1300" dirty="0">
                        <a:latin typeface="Calibri" charset="0"/>
                        <a:ea typeface="Calibri" charset="0"/>
                        <a:cs typeface="Calibri" charset="0"/>
                      </a:endParaRPr>
                    </a:p>
                  </a:txBody>
                  <a:tcPr marL="76200" marR="76200" marT="38100" marB="38100"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Mange fartøystyper, også fiske. DNV-godkjent vedlikehold.</a:t>
                      </a:r>
                      <a:endParaRPr lang="en-US" sz="1300" dirty="0">
                        <a:latin typeface="Calibri" charset="0"/>
                        <a:ea typeface="Calibri" charset="0"/>
                        <a:cs typeface="Calibri" charset="0"/>
                      </a:endParaRPr>
                    </a:p>
                  </a:txBody>
                  <a:tcPr marL="76200" marR="76200" marT="38100" marB="38100"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Ikke kjent</a:t>
                      </a:r>
                      <a:endParaRPr lang="en-US" sz="1300" dirty="0">
                        <a:latin typeface="Calibri" charset="0"/>
                        <a:ea typeface="Calibri" charset="0"/>
                        <a:cs typeface="Calibri" charset="0"/>
                      </a:endParaRPr>
                    </a:p>
                  </a:txBody>
                  <a:tcPr marL="76200" marR="76200" marT="38100" marB="38100"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1B2A38"/>
                          </a:solidFill>
                          <a:latin typeface="Calibri" pitchFamily="34" charset="0"/>
                          <a:ea typeface="Calibri" pitchFamily="34" charset="-122"/>
                          <a:cs typeface="Calibri" pitchFamily="34" charset="-120"/>
                        </a:rPr>
                        <a:t>PreMaster</a:t>
                      </a:r>
                      <a:endParaRPr lang="en-US" sz="1300" dirty="0">
                        <a:latin typeface="Calibri" charset="0"/>
                        <a:ea typeface="Calibri" charset="0"/>
                        <a:cs typeface="Calibri" charset="0"/>
                      </a:endParaRPr>
                    </a:p>
                  </a:txBody>
                  <a:tcPr marL="76200" marR="76200" marT="38100" marB="38100"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Bred maritim: havbruk, fiske, offshore</a:t>
                      </a:r>
                      <a:endParaRPr lang="en-US" sz="1300" dirty="0">
                        <a:latin typeface="Calibri" charset="0"/>
                        <a:ea typeface="Calibri" charset="0"/>
                        <a:cs typeface="Calibri" charset="0"/>
                      </a:endParaRPr>
                    </a:p>
                  </a:txBody>
                  <a:tcPr marL="76200" marR="76200" marT="38100" marB="38100"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Annonsert i versjon 3.0, høsten 2026</a:t>
                      </a:r>
                      <a:endParaRPr lang="en-US" sz="1300" dirty="0">
                        <a:latin typeface="Calibri" charset="0"/>
                        <a:ea typeface="Calibri" charset="0"/>
                        <a:cs typeface="Calibri" charset="0"/>
                      </a:endParaRPr>
                    </a:p>
                  </a:txBody>
                  <a:tcPr marL="76200" marR="76200" marT="38100" marB="38100"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1B2A38"/>
                          </a:solidFill>
                          <a:latin typeface="Calibri" pitchFamily="34" charset="0"/>
                          <a:ea typeface="Calibri" pitchFamily="34" charset="-122"/>
                          <a:cs typeface="Calibri" pitchFamily="34" charset="-120"/>
                        </a:rPr>
                        <a:t>SERTICA</a:t>
                      </a:r>
                      <a:endParaRPr lang="en-US" sz="1300" dirty="0">
                        <a:latin typeface="Calibri" charset="0"/>
                        <a:ea typeface="Calibri" charset="0"/>
                        <a:cs typeface="Calibri" charset="0"/>
                      </a:endParaRPr>
                    </a:p>
                  </a:txBody>
                  <a:tcPr marL="76200" marR="76200" marT="38100" marB="38100"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Handelsflåte og marine</a:t>
                      </a:r>
                      <a:endParaRPr lang="en-US" sz="1300" dirty="0">
                        <a:latin typeface="Calibri" charset="0"/>
                        <a:ea typeface="Calibri" charset="0"/>
                        <a:cs typeface="Calibri" charset="0"/>
                      </a:endParaRPr>
                    </a:p>
                  </a:txBody>
                  <a:tcPr marL="76200" marR="76200" marT="38100" marB="38100"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KI-assistent</a:t>
                      </a:r>
                      <a:endParaRPr lang="en-US" sz="1300" dirty="0">
                        <a:latin typeface="Calibri" charset="0"/>
                        <a:ea typeface="Calibri" charset="0"/>
                        <a:cs typeface="Calibri" charset="0"/>
                      </a:endParaRPr>
                    </a:p>
                  </a:txBody>
                  <a:tcPr marL="76200" marR="76200" marT="38100" marB="38100"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1B2A38"/>
                          </a:solidFill>
                          <a:latin typeface="Calibri" pitchFamily="34" charset="0"/>
                          <a:ea typeface="Calibri" pitchFamily="34" charset="-122"/>
                          <a:cs typeface="Calibri" pitchFamily="34" charset="-120"/>
                        </a:rPr>
                        <a:t>AMOS</a:t>
                      </a:r>
                      <a:endParaRPr lang="en-US" sz="1300" dirty="0">
                        <a:latin typeface="Calibri" charset="0"/>
                        <a:ea typeface="Calibri" charset="0"/>
                        <a:cs typeface="Calibri" charset="0"/>
                      </a:endParaRPr>
                    </a:p>
                  </a:txBody>
                  <a:tcPr marL="76200" marR="76200" marT="38100" marB="38100"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Handelsflåte og offshore</a:t>
                      </a:r>
                      <a:endParaRPr lang="en-US" sz="1300" dirty="0">
                        <a:latin typeface="Calibri" charset="0"/>
                        <a:ea typeface="Calibri" charset="0"/>
                        <a:cs typeface="Calibri" charset="0"/>
                      </a:endParaRPr>
                    </a:p>
                  </a:txBody>
                  <a:tcPr marL="76200" marR="76200" marT="38100" marB="38100"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KI i innkjøp</a:t>
                      </a:r>
                      <a:endParaRPr lang="en-US" sz="1300" dirty="0">
                        <a:latin typeface="Calibri" charset="0"/>
                        <a:ea typeface="Calibri" charset="0"/>
                        <a:cs typeface="Calibri" charset="0"/>
                      </a:endParaRPr>
                    </a:p>
                  </a:txBody>
                  <a:tcPr marL="76200" marR="76200" marT="38100" marB="38100"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1B2A38"/>
                          </a:solidFill>
                          <a:latin typeface="Calibri" pitchFamily="34" charset="0"/>
                          <a:ea typeface="Calibri" pitchFamily="34" charset="-122"/>
                          <a:cs typeface="Calibri" pitchFamily="34" charset="-120"/>
                        </a:rPr>
                        <a:t>TM Master</a:t>
                      </a:r>
                      <a:endParaRPr lang="en-US" sz="1300" dirty="0">
                        <a:latin typeface="Calibri" charset="0"/>
                        <a:ea typeface="Calibri" charset="0"/>
                        <a:cs typeface="Calibri" charset="0"/>
                      </a:endParaRPr>
                    </a:p>
                  </a:txBody>
                  <a:tcPr marL="76200" marR="76200" marT="38100" marB="38100"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Offshore og handelsflåte</a:t>
                      </a:r>
                      <a:endParaRPr lang="en-US" sz="1300" dirty="0">
                        <a:latin typeface="Calibri" charset="0"/>
                        <a:ea typeface="Calibri" charset="0"/>
                        <a:cs typeface="Calibri" charset="0"/>
                      </a:endParaRPr>
                    </a:p>
                  </a:txBody>
                  <a:tcPr marL="76200" marR="76200" marT="38100" marB="38100"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Ikke kjent</a:t>
                      </a:r>
                      <a:endParaRPr lang="en-US" sz="1300" dirty="0">
                        <a:latin typeface="Calibri" charset="0"/>
                        <a:ea typeface="Calibri" charset="0"/>
                        <a:cs typeface="Calibri" charset="0"/>
                      </a:endParaRPr>
                    </a:p>
                  </a:txBody>
                  <a:tcPr marL="76200" marR="76200" marT="38100" marB="38100" anchor="ctr">
                    <a:lnL w="9525" cap="flat" cmpd="sng" algn="ctr">
                      <a:solidFill>
                        <a:srgbClr val="C9D5DE"/>
                      </a:solidFill>
                      <a:prstDash val="solid"/>
                      <a:round/>
                      <a:headEnd type="none" w="med" len="med"/>
                      <a:tailEnd type="none" w="med" len="med"/>
                    </a:lnL>
                    <a:lnR w="9525" cap="flat" cmpd="sng" algn="ctr">
                      <a:solidFill>
                        <a:srgbClr val="C9D5DE"/>
                      </a:solidFill>
                      <a:prstDash val="solid"/>
                      <a:round/>
                      <a:headEnd type="none" w="med" len="med"/>
                      <a:tailEnd type="none" w="med" len="med"/>
                    </a:lnR>
                    <a:lnT w="9525" cap="flat" cmpd="sng" algn="ctr">
                      <a:solidFill>
                        <a:srgbClr val="C9D5DE"/>
                      </a:solidFill>
                      <a:prstDash val="solid"/>
                      <a:round/>
                      <a:headEnd type="none" w="med" len="med"/>
                      <a:tailEnd type="none" w="med" len="med"/>
                    </a:lnT>
                    <a:lnB w="9525" cap="flat" cmpd="sng" algn="ctr">
                      <a:solidFill>
                        <a:srgbClr val="C9D5DE"/>
                      </a:solidFill>
                      <a:prstDash val="solid"/>
                      <a:round/>
                      <a:headEnd type="none" w="med" len="med"/>
                      <a:tailEnd type="none" w="med" len="med"/>
                    </a:lnB>
                    <a:solidFill>
                      <a:srgbClr val="FFFFFF"/>
                    </a:solidFill>
                  </a:tcPr>
                </a:tc>
              </a:tr>
            </a:tbl>
          </a:graphicData>
        </a:graphic>
      </p:graphicFrame>
      <p:sp>
        <p:nvSpPr>
          <p:cNvPr id="14" name="Text 8"/>
          <p:cNvSpPr txBox="1"/>
          <p:nvPr/>
        </p:nvSpPr>
        <p:spPr>
          <a:xfrm>
            <a:off x="548640" y="5989320"/>
            <a:ext cx="11094415" cy="320040"/>
          </a:xfrm>
          <a:prstGeom prst="rect">
            <a:avLst/>
          </a:prstGeom>
          <a:noFill/>
          <a:ln/>
        </p:spPr>
        <p:txBody>
          <a:bodyPr wrap="square" lIns="0" tIns="0" rIns="0" bIns="0" rtlCol="0" anchor="b"/>
          <a:lstStyle/>
          <a:p>
            <a:pPr indent="0" marL="0">
              <a:buNone/>
            </a:pPr>
            <a:r>
              <a:rPr lang="en-US" sz="1100" dirty="0">
                <a:solidFill>
                  <a:srgbClr val="5B6B7A"/>
                </a:solidFill>
              </a:rPr>
              <a:t>Konkurrentene: basert på leverandørenes egne nettsider, oktober 2026. Ikke en funksjonstest.</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lstStyle/>
          <a:p>
            <a:pPr indent="0" marL="0">
              <a:buNone/>
            </a:pPr>
            <a:r>
              <a:rPr lang="en-US" sz="1200" b="1" spc="200" kern="0" dirty="0">
                <a:solidFill>
                  <a:srgbClr val="0E7C86"/>
                </a:solidFill>
                <a:latin typeface="Calibri" pitchFamily="34" charset="0"/>
                <a:ea typeface="Calibri" pitchFamily="34" charset="-122"/>
                <a:cs typeface="Calibri" pitchFamily="34" charset="-120"/>
              </a:rPr>
              <a:t>MARKED</a:t>
            </a:r>
            <a:endParaRPr lang="en-US" sz="1200" dirty="0"/>
          </a:p>
        </p:txBody>
      </p:sp>
      <p:sp>
        <p:nvSpPr>
          <p:cNvPr id="3" name="Text 1"/>
          <p:cNvSpPr/>
          <p:nvPr>
            <p:ph idx="102" type="title" hasCustomPrompt="1"/>
          </p:nvPr>
        </p:nvSpPr>
        <p:spPr>
          <a:xfrm>
            <a:off x="548640" y="658368"/>
            <a:ext cx="11094415" cy="1051560"/>
          </a:xfrm>
          <a:prstGeom prst="rect">
            <a:avLst/>
          </a:prstGeom>
          <a:noFill/>
          <a:ln/>
        </p:spPr>
        <p:txBody>
          <a:bodyPr wrap="square" lIns="0" tIns="0" rIns="0" bIns="0" rtlCol="0" anchor="t"/>
          <a:lstStyle/>
          <a:p>
            <a:pPr algn="l" indent="0" marL="0">
              <a:buNone/>
            </a:pPr>
            <a:r>
              <a:rPr lang="en-US" sz="3000" b="1" dirty="0">
                <a:solidFill>
                  <a:srgbClr val="0B1F33"/>
                </a:solidFill>
                <a:latin typeface="Arial" pitchFamily="34" charset="0"/>
                <a:ea typeface="Arial" pitchFamily="34" charset="-122"/>
                <a:cs typeface="Arial" pitchFamily="34" charset="-120"/>
              </a:rPr>
              <a:t>Vi starter i Norge – og samme type fartøy finnes i hele Europa</a:t>
            </a:r>
            <a:endParaRPr lang="en-US" sz="3000" dirty="0"/>
          </a:p>
        </p:txBody>
      </p:sp>
      <p:sp>
        <p:nvSpPr>
          <p:cNvPr id="4" name="Kort"/>
          <p:cNvSpPr/>
          <p:nvPr/>
        </p:nvSpPr>
        <p:spPr>
          <a:xfrm>
            <a:off x="548640" y="1874520"/>
            <a:ext cx="3246120" cy="3108960"/>
          </a:xfrm>
          <a:prstGeom prst="roundRect">
            <a:avLst>
              <a:gd name="adj" fmla="val 3529"/>
            </a:avLst>
          </a:prstGeom>
          <a:solidFill>
            <a:srgbClr val="EEF3F6"/>
          </a:solidFill>
          <a:ln/>
        </p:spPr>
      </p:sp>
      <p:sp>
        <p:nvSpPr>
          <p:cNvPr id="5" name="Text 3"/>
          <p:cNvSpPr txBox="1"/>
          <p:nvPr/>
        </p:nvSpPr>
        <p:spPr>
          <a:xfrm>
            <a:off x="868680" y="2103120"/>
            <a:ext cx="2606040" cy="2743200"/>
          </a:xfrm>
          <a:prstGeom prst="rect">
            <a:avLst/>
          </a:prstGeom>
          <a:noFill/>
          <a:ln/>
        </p:spPr>
        <p:txBody>
          <a:bodyPr wrap="square" lIns="0" tIns="0" rIns="0" bIns="0" rtlCol="0" anchor="t"/>
          <a:lstStyle/>
          <a:p>
            <a:pPr indent="0" marL="0">
              <a:buNone/>
            </a:pPr>
            <a:r>
              <a:rPr lang="en-US" sz="1300" b="1" spc="200" kern="0" dirty="0">
                <a:solidFill>
                  <a:srgbClr val="0E7C86"/>
                </a:solidFill>
                <a:latin typeface="Calibri" pitchFamily="34" charset="0"/>
                <a:ea typeface="Calibri" pitchFamily="34" charset="-122"/>
                <a:cs typeface="Calibri" pitchFamily="34" charset="-120"/>
              </a:rPr>
              <a:t>NORGE</a:t>
            </a:r>
            <a:endParaRPr lang="en-US" sz="1300" dirty="0"/>
          </a:p>
          <a:p>
            <a:pPr indent="0" marL="0">
              <a:buNone/>
            </a:pPr>
            <a:r>
              <a:rPr lang="en-US" sz="4800" b="1" dirty="0">
                <a:solidFill>
                  <a:srgbClr val="0B1F33"/>
                </a:solidFill>
                <a:latin typeface="Arial" pitchFamily="34" charset="0"/>
                <a:ea typeface="Arial" pitchFamily="34" charset="-122"/>
                <a:cs typeface="Arial" pitchFamily="34" charset="-120"/>
              </a:rPr>
              <a:t>260</a:t>
            </a:r>
            <a:endParaRPr lang="en-US" sz="1300" dirty="0"/>
          </a:p>
          <a:p>
            <a:pPr indent="0" marL="0">
              <a:buNone/>
            </a:pPr>
            <a:r>
              <a:rPr lang="en-US" sz="1500" dirty="0">
                <a:solidFill>
                  <a:srgbClr val="1B2A38"/>
                </a:solidFill>
                <a:latin typeface="Calibri" pitchFamily="34" charset="0"/>
                <a:ea typeface="Calibri" pitchFamily="34" charset="-122"/>
                <a:cs typeface="Calibri" pitchFamily="34" charset="-120"/>
              </a:rPr>
              <a:t>fiskefartøy på 28 meter eller mer</a:t>
            </a:r>
            <a:endParaRPr lang="en-US" sz="1300" dirty="0"/>
          </a:p>
          <a:p>
            <a:pPr indent="0" marL="0">
              <a:buNone/>
            </a:pPr>
            <a:r>
              <a:rPr lang="en-US" sz="1000" dirty="0">
                <a:solidFill>
                  <a:srgbClr val="1B2A38"/>
                </a:solidFill>
                <a:latin typeface="Calibri" pitchFamily="34" charset="0"/>
                <a:ea typeface="Calibri" pitchFamily="34" charset="-122"/>
                <a:cs typeface="Calibri" pitchFamily="34" charset="-120"/>
              </a:rPr>
              <a:t> </a:t>
            </a:r>
            <a:endParaRPr lang="en-US" sz="1300" dirty="0"/>
          </a:p>
          <a:p>
            <a:pPr indent="0" marL="0">
              <a:buNone/>
            </a:pPr>
            <a:r>
              <a:rPr lang="en-US" sz="2000" b="1" dirty="0">
                <a:solidFill>
                  <a:srgbClr val="0E7C86"/>
                </a:solidFill>
                <a:latin typeface="Calibri" pitchFamily="34" charset="0"/>
                <a:ea typeface="Calibri" pitchFamily="34" charset="-122"/>
                <a:cs typeface="Calibri" pitchFamily="34" charset="-120"/>
              </a:rPr>
              <a:t>≈ 44 MNOK per år</a:t>
            </a:r>
            <a:endParaRPr lang="en-US" sz="1300" dirty="0"/>
          </a:p>
        </p:txBody>
      </p:sp>
      <p:pic>
        <p:nvPicPr>
          <p:cNvPr id="6" name="Image 0" descr="preencoded.png">    </p:cNvPr>
          <p:cNvPicPr>
            <a:picLocks noChangeAspect="1"/>
          </p:cNvPicPr>
          <p:nvPr/>
        </p:nvPicPr>
        <p:blipFill>
          <a:blip r:embed="rId1"/>
          <a:stretch>
            <a:fillRect/>
          </a:stretch>
        </p:blipFill>
        <p:spPr>
          <a:xfrm>
            <a:off x="3950894" y="3246120"/>
            <a:ext cx="365760" cy="365760"/>
          </a:xfrm>
          <a:prstGeom prst="rect">
            <a:avLst/>
          </a:prstGeom>
        </p:spPr>
      </p:pic>
      <p:sp>
        <p:nvSpPr>
          <p:cNvPr id="7" name="Kort"/>
          <p:cNvSpPr/>
          <p:nvPr/>
        </p:nvSpPr>
        <p:spPr>
          <a:xfrm>
            <a:off x="4472788" y="1874520"/>
            <a:ext cx="3246120" cy="3108960"/>
          </a:xfrm>
          <a:prstGeom prst="roundRect">
            <a:avLst>
              <a:gd name="adj" fmla="val 3529"/>
            </a:avLst>
          </a:prstGeom>
          <a:solidFill>
            <a:srgbClr val="EEF3F6"/>
          </a:solidFill>
          <a:ln/>
        </p:spPr>
      </p:sp>
      <p:sp>
        <p:nvSpPr>
          <p:cNvPr id="8" name="Text 5"/>
          <p:cNvSpPr txBox="1"/>
          <p:nvPr/>
        </p:nvSpPr>
        <p:spPr>
          <a:xfrm>
            <a:off x="4792828" y="2103120"/>
            <a:ext cx="2606040" cy="2743200"/>
          </a:xfrm>
          <a:prstGeom prst="rect">
            <a:avLst/>
          </a:prstGeom>
          <a:noFill/>
          <a:ln/>
        </p:spPr>
        <p:txBody>
          <a:bodyPr wrap="square" lIns="0" tIns="0" rIns="0" bIns="0" rtlCol="0" anchor="t"/>
          <a:lstStyle/>
          <a:p>
            <a:pPr indent="0" marL="0">
              <a:buNone/>
            </a:pPr>
            <a:r>
              <a:rPr lang="en-US" sz="1300" b="1" spc="200" kern="0" dirty="0">
                <a:solidFill>
                  <a:srgbClr val="0E7C86"/>
                </a:solidFill>
                <a:latin typeface="Calibri" pitchFamily="34" charset="0"/>
                <a:ea typeface="Calibri" pitchFamily="34" charset="-122"/>
                <a:cs typeface="Calibri" pitchFamily="34" charset="-120"/>
              </a:rPr>
              <a:t>EU</a:t>
            </a:r>
            <a:endParaRPr lang="en-US" sz="1300" dirty="0"/>
          </a:p>
          <a:p>
            <a:pPr indent="0" marL="0">
              <a:buNone/>
            </a:pPr>
            <a:r>
              <a:rPr lang="en-US" sz="4800" b="1" dirty="0">
                <a:solidFill>
                  <a:srgbClr val="0B1F33"/>
                </a:solidFill>
                <a:latin typeface="Arial" pitchFamily="34" charset="0"/>
                <a:ea typeface="Arial" pitchFamily="34" charset="-122"/>
                <a:cs typeface="Arial" pitchFamily="34" charset="-120"/>
              </a:rPr>
              <a:t>2 270</a:t>
            </a:r>
            <a:endParaRPr lang="en-US" sz="1300" dirty="0"/>
          </a:p>
          <a:p>
            <a:pPr indent="0" marL="0">
              <a:buNone/>
            </a:pPr>
            <a:r>
              <a:rPr lang="en-US" sz="1500" dirty="0">
                <a:solidFill>
                  <a:srgbClr val="1B2A38"/>
                </a:solidFill>
                <a:latin typeface="Calibri" pitchFamily="34" charset="0"/>
                <a:ea typeface="Calibri" pitchFamily="34" charset="-122"/>
                <a:cs typeface="Calibri" pitchFamily="34" charset="-120"/>
              </a:rPr>
              <a:t>fiskefartøy over 24 meter</a:t>
            </a:r>
            <a:endParaRPr lang="en-US" sz="1300" dirty="0"/>
          </a:p>
          <a:p>
            <a:pPr indent="0" marL="0">
              <a:buNone/>
            </a:pPr>
            <a:r>
              <a:rPr lang="en-US" sz="1000" dirty="0">
                <a:solidFill>
                  <a:srgbClr val="1B2A38"/>
                </a:solidFill>
                <a:latin typeface="Calibri" pitchFamily="34" charset="0"/>
                <a:ea typeface="Calibri" pitchFamily="34" charset="-122"/>
                <a:cs typeface="Calibri" pitchFamily="34" charset="-120"/>
              </a:rPr>
              <a:t> </a:t>
            </a:r>
            <a:endParaRPr lang="en-US" sz="1300" dirty="0"/>
          </a:p>
          <a:p>
            <a:pPr indent="0" marL="0">
              <a:buNone/>
            </a:pPr>
            <a:r>
              <a:rPr lang="en-US" sz="2000" b="1" dirty="0">
                <a:solidFill>
                  <a:srgbClr val="0E7C86"/>
                </a:solidFill>
                <a:latin typeface="Calibri" pitchFamily="34" charset="0"/>
                <a:ea typeface="Calibri" pitchFamily="34" charset="-122"/>
                <a:cs typeface="Calibri" pitchFamily="34" charset="-120"/>
              </a:rPr>
              <a:t>≈ 381 MNOK per år</a:t>
            </a:r>
            <a:endParaRPr lang="en-US" sz="1300" dirty="0"/>
          </a:p>
        </p:txBody>
      </p:sp>
      <p:pic>
        <p:nvPicPr>
          <p:cNvPr id="9" name="Image 1" descr="preencoded.png">    </p:cNvPr>
          <p:cNvPicPr>
            <a:picLocks noChangeAspect="1"/>
          </p:cNvPicPr>
          <p:nvPr/>
        </p:nvPicPr>
        <p:blipFill>
          <a:blip r:embed="rId2"/>
          <a:stretch>
            <a:fillRect/>
          </a:stretch>
        </p:blipFill>
        <p:spPr>
          <a:xfrm>
            <a:off x="7875041" y="3246120"/>
            <a:ext cx="365760" cy="365760"/>
          </a:xfrm>
          <a:prstGeom prst="rect">
            <a:avLst/>
          </a:prstGeom>
        </p:spPr>
      </p:pic>
      <p:sp>
        <p:nvSpPr>
          <p:cNvPr id="10" name="Kort"/>
          <p:cNvSpPr/>
          <p:nvPr/>
        </p:nvSpPr>
        <p:spPr>
          <a:xfrm>
            <a:off x="8396935" y="1874520"/>
            <a:ext cx="3246120" cy="3108960"/>
          </a:xfrm>
          <a:prstGeom prst="roundRect">
            <a:avLst>
              <a:gd name="adj" fmla="val 3529"/>
            </a:avLst>
          </a:prstGeom>
          <a:solidFill>
            <a:srgbClr val="0B1F33"/>
          </a:solidFill>
          <a:ln/>
        </p:spPr>
      </p:sp>
      <p:sp>
        <p:nvSpPr>
          <p:cNvPr id="11" name="Text 7"/>
          <p:cNvSpPr txBox="1"/>
          <p:nvPr/>
        </p:nvSpPr>
        <p:spPr>
          <a:xfrm>
            <a:off x="8716975" y="2103120"/>
            <a:ext cx="2606040" cy="2743200"/>
          </a:xfrm>
          <a:prstGeom prst="rect">
            <a:avLst/>
          </a:prstGeom>
          <a:noFill/>
          <a:ln/>
        </p:spPr>
        <p:txBody>
          <a:bodyPr wrap="square" lIns="0" tIns="0" rIns="0" bIns="0" rtlCol="0" anchor="t"/>
          <a:lstStyle/>
          <a:p>
            <a:pPr indent="0" marL="0">
              <a:buNone/>
            </a:pPr>
            <a:r>
              <a:rPr lang="en-US" sz="1300" b="1" spc="200" kern="0" dirty="0">
                <a:solidFill>
                  <a:srgbClr val="7FD1D6"/>
                </a:solidFill>
                <a:latin typeface="Calibri" pitchFamily="34" charset="0"/>
                <a:ea typeface="Calibri" pitchFamily="34" charset="-122"/>
                <a:cs typeface="Calibri" pitchFamily="34" charset="-120"/>
              </a:rPr>
              <a:t>TIL SAMMEN</a:t>
            </a:r>
            <a:endParaRPr lang="en-US" sz="1300" dirty="0"/>
          </a:p>
          <a:p>
            <a:pPr indent="0" marL="0">
              <a:buNone/>
            </a:pPr>
            <a:r>
              <a:rPr lang="en-US" sz="4800" b="1" dirty="0">
                <a:solidFill>
                  <a:srgbClr val="FFFFFF"/>
                </a:solidFill>
                <a:latin typeface="Arial" pitchFamily="34" charset="0"/>
                <a:ea typeface="Arial" pitchFamily="34" charset="-122"/>
                <a:cs typeface="Arial" pitchFamily="34" charset="-120"/>
              </a:rPr>
              <a:t>≈ 2 500</a:t>
            </a:r>
            <a:endParaRPr lang="en-US" sz="1300" dirty="0"/>
          </a:p>
          <a:p>
            <a:pPr indent="0" marL="0">
              <a:buNone/>
            </a:pPr>
            <a:r>
              <a:rPr lang="en-US" sz="1500" dirty="0">
                <a:solidFill>
                  <a:srgbClr val="C9D6E0"/>
                </a:solidFill>
                <a:latin typeface="Calibri" pitchFamily="34" charset="0"/>
                <a:ea typeface="Calibri" pitchFamily="34" charset="-122"/>
                <a:cs typeface="Calibri" pitchFamily="34" charset="-120"/>
              </a:rPr>
              <a:t>fartøy i første målgruppe</a:t>
            </a:r>
            <a:endParaRPr lang="en-US" sz="1300" dirty="0"/>
          </a:p>
          <a:p>
            <a:pPr indent="0" marL="0">
              <a:buNone/>
            </a:pPr>
            <a:r>
              <a:rPr lang="en-US" sz="1000" dirty="0">
                <a:solidFill>
                  <a:srgbClr val="1B2A38"/>
                </a:solidFill>
                <a:latin typeface="Calibri" pitchFamily="34" charset="0"/>
                <a:ea typeface="Calibri" pitchFamily="34" charset="-122"/>
                <a:cs typeface="Calibri" pitchFamily="34" charset="-120"/>
              </a:rPr>
              <a:t> </a:t>
            </a:r>
            <a:endParaRPr lang="en-US" sz="1300" dirty="0"/>
          </a:p>
          <a:p>
            <a:pPr indent="0" marL="0">
              <a:buNone/>
            </a:pPr>
            <a:r>
              <a:rPr lang="en-US" sz="2000" b="1" dirty="0">
                <a:solidFill>
                  <a:srgbClr val="FFFFFF"/>
                </a:solidFill>
                <a:latin typeface="Calibri" pitchFamily="34" charset="0"/>
                <a:ea typeface="Calibri" pitchFamily="34" charset="-122"/>
                <a:cs typeface="Calibri" pitchFamily="34" charset="-120"/>
              </a:rPr>
              <a:t>≈ 425 MNOK per år</a:t>
            </a:r>
            <a:endParaRPr lang="en-US" sz="1300" dirty="0"/>
          </a:p>
        </p:txBody>
      </p:sp>
      <p:sp>
        <p:nvSpPr>
          <p:cNvPr id="12" name="Text 8"/>
          <p:cNvSpPr txBox="1"/>
          <p:nvPr/>
        </p:nvSpPr>
        <p:spPr>
          <a:xfrm>
            <a:off x="548640" y="5212080"/>
            <a:ext cx="11094415" cy="365760"/>
          </a:xfrm>
          <a:prstGeom prst="rect">
            <a:avLst/>
          </a:prstGeom>
          <a:noFill/>
          <a:ln/>
        </p:spPr>
        <p:txBody>
          <a:bodyPr wrap="square" lIns="0" tIns="0" rIns="0" bIns="0" rtlCol="0" anchor="t"/>
          <a:lstStyle/>
          <a:p>
            <a:pPr indent="0" marL="0">
              <a:buNone/>
            </a:pPr>
            <a:r>
              <a:rPr lang="en-US" sz="1500" b="1" dirty="0">
                <a:solidFill>
                  <a:srgbClr val="1B2A38"/>
                </a:solidFill>
                <a:latin typeface="Calibri" pitchFamily="34" charset="0"/>
                <a:ea typeface="Calibri" pitchFamily="34" charset="-122"/>
                <a:cs typeface="Calibri" pitchFamily="34" charset="-120"/>
              </a:rPr>
              <a:t>Ikke tallfestet ennå: </a:t>
            </a:r>
            <a:pPr indent="0" marL="0">
              <a:buNone/>
            </a:pPr>
            <a:r>
              <a:rPr lang="en-US" sz="1500" dirty="0">
                <a:solidFill>
                  <a:srgbClr val="1B2A38"/>
                </a:solidFill>
                <a:latin typeface="Calibri" pitchFamily="34" charset="0"/>
                <a:ea typeface="Calibri" pitchFamily="34" charset="-122"/>
                <a:cs typeface="Calibri" pitchFamily="34" charset="-120"/>
              </a:rPr>
              <a:t>havbruks- og servicefartøy, Island, Færøyane og Storbritannia.</a:t>
            </a:r>
            <a:endParaRPr lang="en-US" sz="1500" dirty="0"/>
          </a:p>
        </p:txBody>
      </p:sp>
      <p:sp>
        <p:nvSpPr>
          <p:cNvPr id="13" name="Text 9"/>
          <p:cNvSpPr txBox="1"/>
          <p:nvPr/>
        </p:nvSpPr>
        <p:spPr>
          <a:xfrm>
            <a:off x="548640" y="5989320"/>
            <a:ext cx="11094415" cy="320040"/>
          </a:xfrm>
          <a:prstGeom prst="rect">
            <a:avLst/>
          </a:prstGeom>
          <a:noFill/>
          <a:ln/>
        </p:spPr>
        <p:txBody>
          <a:bodyPr wrap="square" lIns="0" tIns="0" rIns="0" bIns="0" rtlCol="0" anchor="b"/>
          <a:lstStyle/>
          <a:p>
            <a:pPr indent="0" marL="0">
              <a:buNone/>
            </a:pPr>
            <a:r>
              <a:rPr lang="en-US" sz="1100" dirty="0">
                <a:solidFill>
                  <a:srgbClr val="5B6B7A"/>
                </a:solidFill>
              </a:rPr>
              <a:t>Årlig abonnementsverdi ved 168 000 kr per fartøy (alle moduler) og full dekning. Kilder: Fiskeridirektoratet, Nøkkeltal 2025 (foreløpige tall); EUs fartøyregister, 2021-tall.</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lstStyle/>
          <a:p>
            <a:pPr indent="0" marL="0">
              <a:buNone/>
            </a:pPr>
            <a:r>
              <a:rPr lang="en-US" sz="1200" b="1" spc="200" kern="0" dirty="0">
                <a:solidFill>
                  <a:srgbClr val="0E7C86"/>
                </a:solidFill>
                <a:latin typeface="Calibri" pitchFamily="34" charset="0"/>
                <a:ea typeface="Calibri" pitchFamily="34" charset="-122"/>
                <a:cs typeface="Calibri" pitchFamily="34" charset="-120"/>
              </a:rPr>
              <a:t>FORRETNINGSMODELL</a:t>
            </a:r>
            <a:endParaRPr lang="en-US" sz="1200" dirty="0"/>
          </a:p>
        </p:txBody>
      </p:sp>
      <p:sp>
        <p:nvSpPr>
          <p:cNvPr id="3" name="Text 1"/>
          <p:cNvSpPr/>
          <p:nvPr>
            <p:ph idx="102" type="title" hasCustomPrompt="1"/>
          </p:nvPr>
        </p:nvSpPr>
        <p:spPr>
          <a:xfrm>
            <a:off x="548640" y="658368"/>
            <a:ext cx="11094415" cy="1051560"/>
          </a:xfrm>
          <a:prstGeom prst="rect">
            <a:avLst/>
          </a:prstGeom>
          <a:noFill/>
          <a:ln/>
        </p:spPr>
        <p:txBody>
          <a:bodyPr wrap="square" lIns="0" tIns="0" rIns="0" bIns="0" rtlCol="0" anchor="t"/>
          <a:lstStyle/>
          <a:p>
            <a:pPr algn="l" indent="0" marL="0">
              <a:buNone/>
            </a:pPr>
            <a:r>
              <a:rPr lang="en-US" sz="3000" b="1" dirty="0">
                <a:solidFill>
                  <a:srgbClr val="0B1F33"/>
                </a:solidFill>
                <a:latin typeface="Arial" pitchFamily="34" charset="0"/>
                <a:ea typeface="Arial" pitchFamily="34" charset="-122"/>
                <a:cs typeface="Arial" pitchFamily="34" charset="-120"/>
              </a:rPr>
              <a:t>Abonnement per fartøy og modul – inntekten vokser med flåten</a:t>
            </a:r>
            <a:endParaRPr lang="en-US" sz="3000" dirty="0"/>
          </a:p>
        </p:txBody>
      </p:sp>
      <p:sp>
        <p:nvSpPr>
          <p:cNvPr id="4" name="Text 2"/>
          <p:cNvSpPr txBox="1"/>
          <p:nvPr/>
        </p:nvSpPr>
        <p:spPr>
          <a:xfrm>
            <a:off x="548640" y="1828800"/>
            <a:ext cx="5120640" cy="1737360"/>
          </a:xfrm>
          <a:prstGeom prst="rect">
            <a:avLst/>
          </a:prstGeom>
          <a:noFill/>
          <a:ln/>
        </p:spPr>
        <p:txBody>
          <a:bodyPr wrap="square" lIns="0" tIns="0" rIns="0" bIns="0" rtlCol="0" anchor="t"/>
          <a:lstStyle/>
          <a:p>
            <a:pPr indent="0" marL="0">
              <a:buNone/>
            </a:pPr>
            <a:r>
              <a:rPr lang="en-US" sz="5400" b="1" dirty="0">
                <a:solidFill>
                  <a:srgbClr val="0E7C86"/>
                </a:solidFill>
                <a:latin typeface="Arial" pitchFamily="34" charset="0"/>
                <a:ea typeface="Arial" pitchFamily="34" charset="-122"/>
                <a:cs typeface="Arial" pitchFamily="34" charset="-120"/>
              </a:rPr>
              <a:t>14 000 kr</a:t>
            </a:r>
            <a:endParaRPr lang="en-US" sz="5400" dirty="0"/>
          </a:p>
          <a:p>
            <a:pPr indent="0" marL="0">
              <a:buNone/>
            </a:pPr>
            <a:r>
              <a:rPr lang="en-US" sz="2000" dirty="0">
                <a:solidFill>
                  <a:srgbClr val="0B1F33"/>
                </a:solidFill>
                <a:latin typeface="Calibri" pitchFamily="34" charset="0"/>
                <a:ea typeface="Calibri" pitchFamily="34" charset="-122"/>
                <a:cs typeface="Calibri" pitchFamily="34" charset="-120"/>
              </a:rPr>
              <a:t>per fartøy per måned for alle 14 moduler</a:t>
            </a:r>
            <a:endParaRPr lang="en-US" sz="5400" dirty="0"/>
          </a:p>
          <a:p>
            <a:pPr indent="0" marL="0">
              <a:buNone/>
            </a:pPr>
            <a:r>
              <a:rPr lang="en-US" sz="1500" dirty="0">
                <a:solidFill>
                  <a:srgbClr val="5B6B7A"/>
                </a:solidFill>
                <a:latin typeface="Calibri" pitchFamily="34" charset="0"/>
                <a:ea typeface="Calibri" pitchFamily="34" charset="-122"/>
                <a:cs typeface="Calibri" pitchFamily="34" charset="-120"/>
              </a:rPr>
              <a:t>= 168 000 kr per fartøy per år, ekskl. mva.</a:t>
            </a:r>
            <a:endParaRPr lang="en-US" sz="5400" dirty="0"/>
          </a:p>
        </p:txBody>
      </p:sp>
      <p:sp>
        <p:nvSpPr>
          <p:cNvPr id="5" name="Ikon-sirkel"/>
          <p:cNvSpPr/>
          <p:nvPr/>
        </p:nvSpPr>
        <p:spPr>
          <a:xfrm>
            <a:off x="548640" y="3794760"/>
            <a:ext cx="411480" cy="411480"/>
          </a:xfrm>
          <a:prstGeom prst="ellipse">
            <a:avLst/>
          </a:prstGeom>
          <a:solidFill>
            <a:srgbClr val="DDE7EE"/>
          </a:solidFill>
          <a:ln/>
        </p:spPr>
      </p:sp>
      <p:pic>
        <p:nvPicPr>
          <p:cNvPr id="6" name="Ikon FaCheck" descr="preencoded.png">    </p:cNvPr>
          <p:cNvPicPr>
            <a:picLocks noChangeAspect="1"/>
          </p:cNvPicPr>
          <p:nvPr/>
        </p:nvPicPr>
        <p:blipFill>
          <a:blip r:embed="rId1"/>
          <a:stretch>
            <a:fillRect/>
          </a:stretch>
        </p:blipFill>
        <p:spPr>
          <a:xfrm>
            <a:off x="647395" y="3893515"/>
            <a:ext cx="213970" cy="213970"/>
          </a:xfrm>
          <a:prstGeom prst="rect">
            <a:avLst/>
          </a:prstGeom>
        </p:spPr>
      </p:pic>
      <p:sp>
        <p:nvSpPr>
          <p:cNvPr id="7" name="Text 4"/>
          <p:cNvSpPr txBox="1"/>
          <p:nvPr/>
        </p:nvSpPr>
        <p:spPr>
          <a:xfrm>
            <a:off x="1143000" y="3776472"/>
            <a:ext cx="4572000" cy="548640"/>
          </a:xfrm>
          <a:prstGeom prst="rect">
            <a:avLst/>
          </a:prstGeom>
          <a:noFill/>
          <a:ln/>
        </p:spPr>
        <p:txBody>
          <a:bodyPr wrap="square" lIns="0" tIns="0" rIns="0" bIns="0" rtlCol="0" anchor="ctr"/>
          <a:lstStyle/>
          <a:p>
            <a:pPr indent="0" marL="0">
              <a:buNone/>
            </a:pPr>
            <a:r>
              <a:rPr lang="en-US" sz="1500" dirty="0">
                <a:solidFill>
                  <a:srgbClr val="1B2A38"/>
                </a:solidFill>
                <a:latin typeface="Calibri" pitchFamily="34" charset="0"/>
                <a:ea typeface="Calibri" pitchFamily="34" charset="-122"/>
                <a:cs typeface="Calibri" pitchFamily="34" charset="-120"/>
              </a:rPr>
              <a:t>Moduler fra 1 000 kr per måned – kunden kan starte smått</a:t>
            </a:r>
            <a:endParaRPr lang="en-US" sz="1500" dirty="0"/>
          </a:p>
        </p:txBody>
      </p:sp>
      <p:sp>
        <p:nvSpPr>
          <p:cNvPr id="8" name="Ikon-sirkel"/>
          <p:cNvSpPr/>
          <p:nvPr/>
        </p:nvSpPr>
        <p:spPr>
          <a:xfrm>
            <a:off x="548640" y="4416552"/>
            <a:ext cx="411480" cy="411480"/>
          </a:xfrm>
          <a:prstGeom prst="ellipse">
            <a:avLst/>
          </a:prstGeom>
          <a:solidFill>
            <a:srgbClr val="DDE7EE"/>
          </a:solidFill>
          <a:ln/>
        </p:spPr>
      </p:sp>
      <p:pic>
        <p:nvPicPr>
          <p:cNvPr id="9" name="Ikon FaCheck" descr="preencoded.png">    </p:cNvPr>
          <p:cNvPicPr>
            <a:picLocks noChangeAspect="1"/>
          </p:cNvPicPr>
          <p:nvPr/>
        </p:nvPicPr>
        <p:blipFill>
          <a:blip r:embed="rId2"/>
          <a:stretch>
            <a:fillRect/>
          </a:stretch>
        </p:blipFill>
        <p:spPr>
          <a:xfrm>
            <a:off x="647395" y="4515307"/>
            <a:ext cx="213970" cy="213970"/>
          </a:xfrm>
          <a:prstGeom prst="rect">
            <a:avLst/>
          </a:prstGeom>
        </p:spPr>
      </p:pic>
      <p:sp>
        <p:nvSpPr>
          <p:cNvPr id="10" name="Text 6"/>
          <p:cNvSpPr txBox="1"/>
          <p:nvPr/>
        </p:nvSpPr>
        <p:spPr>
          <a:xfrm>
            <a:off x="1143000" y="4398264"/>
            <a:ext cx="4572000" cy="548640"/>
          </a:xfrm>
          <a:prstGeom prst="rect">
            <a:avLst/>
          </a:prstGeom>
          <a:noFill/>
          <a:ln/>
        </p:spPr>
        <p:txBody>
          <a:bodyPr wrap="square" lIns="0" tIns="0" rIns="0" bIns="0" rtlCol="0" anchor="ctr"/>
          <a:lstStyle/>
          <a:p>
            <a:pPr indent="0" marL="0">
              <a:buNone/>
            </a:pPr>
            <a:r>
              <a:rPr lang="en-US" sz="1500" dirty="0">
                <a:solidFill>
                  <a:srgbClr val="1B2A38"/>
                </a:solidFill>
                <a:latin typeface="Calibri" pitchFamily="34" charset="0"/>
                <a:ea typeface="Calibri" pitchFamily="34" charset="-122"/>
                <a:cs typeface="Calibri" pitchFamily="34" charset="-120"/>
              </a:rPr>
              <a:t>Vokser med flere fartøy og flere moduler hos samme rederi</a:t>
            </a:r>
            <a:endParaRPr lang="en-US" sz="1500" dirty="0"/>
          </a:p>
        </p:txBody>
      </p:sp>
      <p:sp>
        <p:nvSpPr>
          <p:cNvPr id="11" name="Ikon-sirkel"/>
          <p:cNvSpPr/>
          <p:nvPr/>
        </p:nvSpPr>
        <p:spPr>
          <a:xfrm>
            <a:off x="548640" y="5038344"/>
            <a:ext cx="411480" cy="411480"/>
          </a:xfrm>
          <a:prstGeom prst="ellipse">
            <a:avLst/>
          </a:prstGeom>
          <a:solidFill>
            <a:srgbClr val="DDE7EE"/>
          </a:solidFill>
          <a:ln/>
        </p:spPr>
      </p:sp>
      <p:pic>
        <p:nvPicPr>
          <p:cNvPr id="12" name="Ikon FaCheck" descr="preencoded.png">    </p:cNvPr>
          <p:cNvPicPr>
            <a:picLocks noChangeAspect="1"/>
          </p:cNvPicPr>
          <p:nvPr/>
        </p:nvPicPr>
        <p:blipFill>
          <a:blip r:embed="rId3"/>
          <a:stretch>
            <a:fillRect/>
          </a:stretch>
        </p:blipFill>
        <p:spPr>
          <a:xfrm>
            <a:off x="647395" y="5137099"/>
            <a:ext cx="213970" cy="213970"/>
          </a:xfrm>
          <a:prstGeom prst="rect">
            <a:avLst/>
          </a:prstGeom>
        </p:spPr>
      </p:pic>
      <p:sp>
        <p:nvSpPr>
          <p:cNvPr id="13" name="Text 8"/>
          <p:cNvSpPr txBox="1"/>
          <p:nvPr/>
        </p:nvSpPr>
        <p:spPr>
          <a:xfrm>
            <a:off x="1143000" y="5020056"/>
            <a:ext cx="4572000" cy="548640"/>
          </a:xfrm>
          <a:prstGeom prst="rect">
            <a:avLst/>
          </a:prstGeom>
          <a:noFill/>
          <a:ln/>
        </p:spPr>
        <p:txBody>
          <a:bodyPr wrap="square" lIns="0" tIns="0" rIns="0" bIns="0" rtlCol="0" anchor="ctr"/>
          <a:lstStyle/>
          <a:p>
            <a:pPr indent="0" marL="0">
              <a:buNone/>
            </a:pPr>
            <a:r>
              <a:rPr lang="en-US" sz="1500" dirty="0">
                <a:solidFill>
                  <a:srgbClr val="1B2A38"/>
                </a:solidFill>
                <a:latin typeface="Calibri" pitchFamily="34" charset="0"/>
                <a:ea typeface="Calibri" pitchFamily="34" charset="-122"/>
                <a:cs typeface="Calibri" pitchFamily="34" charset="-120"/>
              </a:rPr>
              <a:t>Vedlikeholdssystemer byttes sjelden når de først er tatt i bruk</a:t>
            </a:r>
            <a:endParaRPr lang="en-US" sz="1500" dirty="0"/>
          </a:p>
        </p:txBody>
      </p:sp>
      <p:graphicFrame>
        <p:nvGraphicFramePr>
          <p:cNvPr id="14" name="Chart 0" descr=""/>
          <p:cNvGraphicFramePr/>
          <p:nvPr/>
        </p:nvGraphicFramePr>
        <p:xfrm>
          <a:off x="6035040" y="1783080"/>
          <a:ext cx="5608015" cy="4023360"/>
        </p:xfrm>
        <a:graphic xmlns:a="http://schemas.openxmlformats.org/drawingml/2006/main">
          <a:graphicData uri="http://schemas.openxmlformats.org/drawingml/2006/chart">
            <c:chart xmlns:c="http://schemas.openxmlformats.org/drawingml/2006/chart" r:id="rId4"/>
          </a:graphicData>
        </a:graphic>
      </p:graphicFrame>
      <p:sp>
        <p:nvSpPr>
          <p:cNvPr id="15" name="Text 9"/>
          <p:cNvSpPr txBox="1"/>
          <p:nvPr/>
        </p:nvSpPr>
        <p:spPr>
          <a:xfrm>
            <a:off x="548640" y="5989320"/>
            <a:ext cx="11094415" cy="320040"/>
          </a:xfrm>
          <a:prstGeom prst="rect">
            <a:avLst/>
          </a:prstGeom>
          <a:noFill/>
          <a:ln/>
        </p:spPr>
        <p:txBody>
          <a:bodyPr wrap="square" lIns="0" tIns="0" rIns="0" bIns="0" rtlCol="0" anchor="b"/>
          <a:lstStyle/>
          <a:p>
            <a:pPr indent="0" marL="0">
              <a:buNone/>
            </a:pPr>
            <a:r>
              <a:rPr lang="en-US" sz="1100" dirty="0">
                <a:solidFill>
                  <a:srgbClr val="5B6B7A"/>
                </a:solidFill>
              </a:rPr>
              <a:t>Regneeksempler, ikke prognose. 260 fartøy tilsvarer hele det norske markedet over 28 meter.</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lstStyle/>
          <a:p>
            <a:pPr indent="0" marL="0">
              <a:buNone/>
            </a:pPr>
            <a:r>
              <a:rPr lang="en-US" sz="1200" b="1" spc="200" kern="0" dirty="0">
                <a:solidFill>
                  <a:srgbClr val="0E7C86"/>
                </a:solidFill>
                <a:latin typeface="Calibri" pitchFamily="34" charset="0"/>
                <a:ea typeface="Calibri" pitchFamily="34" charset="-122"/>
                <a:cs typeface="Calibri" pitchFamily="34" charset="-120"/>
              </a:rPr>
              <a:t>STATUS OG PLAN</a:t>
            </a:r>
            <a:endParaRPr lang="en-US" sz="1200" dirty="0"/>
          </a:p>
        </p:txBody>
      </p:sp>
      <p:sp>
        <p:nvSpPr>
          <p:cNvPr id="3" name="Text 1"/>
          <p:cNvSpPr/>
          <p:nvPr>
            <p:ph idx="102" type="title" hasCustomPrompt="1"/>
          </p:nvPr>
        </p:nvSpPr>
        <p:spPr>
          <a:xfrm>
            <a:off x="548640" y="658368"/>
            <a:ext cx="11094415" cy="1051560"/>
          </a:xfrm>
          <a:prstGeom prst="rect">
            <a:avLst/>
          </a:prstGeom>
          <a:noFill/>
          <a:ln/>
        </p:spPr>
        <p:txBody>
          <a:bodyPr wrap="square" lIns="0" tIns="0" rIns="0" bIns="0" rtlCol="0" anchor="t"/>
          <a:lstStyle/>
          <a:p>
            <a:pPr algn="l" indent="0" marL="0">
              <a:buNone/>
            </a:pPr>
            <a:r>
              <a:rPr lang="en-US" sz="3000" b="1" dirty="0">
                <a:solidFill>
                  <a:srgbClr val="0B1F33"/>
                </a:solidFill>
                <a:latin typeface="Arial" pitchFamily="34" charset="0"/>
                <a:ea typeface="Arial" pitchFamily="34" charset="-122"/>
                <a:cs typeface="Arial" pitchFamily="34" charset="-120"/>
              </a:rPr>
              <a:t>MVP-en er klar. Nå skal den i drift hos de første rederiene</a:t>
            </a:r>
            <a:endParaRPr lang="en-US" sz="3000" dirty="0"/>
          </a:p>
        </p:txBody>
      </p:sp>
      <p:sp>
        <p:nvSpPr>
          <p:cNvPr id="4" name="Shape 2"/>
          <p:cNvSpPr/>
          <p:nvPr/>
        </p:nvSpPr>
        <p:spPr>
          <a:xfrm>
            <a:off x="1645920" y="3063240"/>
            <a:ext cx="8899855" cy="0"/>
          </a:xfrm>
          <a:prstGeom prst="line">
            <a:avLst/>
          </a:prstGeom>
          <a:noFill/>
          <a:ln w="38100">
            <a:solidFill>
              <a:srgbClr val="C9D5DE"/>
            </a:solidFill>
            <a:prstDash val="solid"/>
          </a:ln>
        </p:spPr>
      </p:sp>
      <p:sp>
        <p:nvSpPr>
          <p:cNvPr id="5" name="Shape 3"/>
          <p:cNvSpPr/>
          <p:nvPr/>
        </p:nvSpPr>
        <p:spPr>
          <a:xfrm>
            <a:off x="1444752" y="2862072"/>
            <a:ext cx="402336" cy="402336"/>
          </a:xfrm>
          <a:prstGeom prst="ellipse">
            <a:avLst/>
          </a:prstGeom>
          <a:solidFill>
            <a:srgbClr val="0E7C86"/>
          </a:solidFill>
          <a:ln w="31750">
            <a:solidFill>
              <a:srgbClr val="0E7C86"/>
            </a:solidFill>
            <a:prstDash val="solid"/>
          </a:ln>
        </p:spPr>
      </p:sp>
      <p:sp>
        <p:nvSpPr>
          <p:cNvPr id="6" name="Text 4"/>
          <p:cNvSpPr txBox="1"/>
          <p:nvPr/>
        </p:nvSpPr>
        <p:spPr>
          <a:xfrm>
            <a:off x="548640" y="2148840"/>
            <a:ext cx="2194560" cy="548640"/>
          </a:xfrm>
          <a:prstGeom prst="rect">
            <a:avLst/>
          </a:prstGeom>
          <a:noFill/>
          <a:ln/>
        </p:spPr>
        <p:txBody>
          <a:bodyPr wrap="square" lIns="0" tIns="0" rIns="0" bIns="0" rtlCol="0" anchor="b"/>
          <a:lstStyle/>
          <a:p>
            <a:pPr algn="ctr" indent="0" marL="0">
              <a:buNone/>
            </a:pPr>
            <a:r>
              <a:rPr lang="en-US" sz="1400" b="1" spc="100" kern="0" dirty="0">
                <a:solidFill>
                  <a:srgbClr val="0E7C86"/>
                </a:solidFill>
                <a:latin typeface="Calibri" pitchFamily="34" charset="0"/>
                <a:ea typeface="Calibri" pitchFamily="34" charset="-122"/>
                <a:cs typeface="Calibri" pitchFamily="34" charset="-120"/>
              </a:rPr>
              <a:t>FERDIG</a:t>
            </a:r>
            <a:endParaRPr lang="en-US" sz="1400" dirty="0"/>
          </a:p>
        </p:txBody>
      </p:sp>
      <p:sp>
        <p:nvSpPr>
          <p:cNvPr id="7" name="Text 5"/>
          <p:cNvSpPr txBox="1"/>
          <p:nvPr/>
        </p:nvSpPr>
        <p:spPr>
          <a:xfrm>
            <a:off x="548640" y="3474720"/>
            <a:ext cx="2194560" cy="1188720"/>
          </a:xfrm>
          <a:prstGeom prst="rect">
            <a:avLst/>
          </a:prstGeom>
          <a:noFill/>
          <a:ln/>
        </p:spPr>
        <p:txBody>
          <a:bodyPr wrap="square" lIns="0" tIns="0" rIns="0" bIns="0" rtlCol="0" anchor="t"/>
          <a:lstStyle/>
          <a:p>
            <a:pPr algn="ctr" indent="0" marL="0">
              <a:buNone/>
            </a:pPr>
            <a:r>
              <a:rPr lang="en-US" sz="1500" dirty="0">
                <a:solidFill>
                  <a:srgbClr val="1B2A38"/>
                </a:solidFill>
                <a:latin typeface="Calibri" pitchFamily="34" charset="0"/>
                <a:ea typeface="Calibri" pitchFamily="34" charset="-122"/>
                <a:cs typeface="Calibri" pitchFamily="34" charset="-120"/>
              </a:rPr>
              <a:t>MVP med 14 moduler og KI-assistent</a:t>
            </a:r>
            <a:endParaRPr lang="en-US" sz="1500" dirty="0"/>
          </a:p>
        </p:txBody>
      </p:sp>
      <p:sp>
        <p:nvSpPr>
          <p:cNvPr id="8" name="Shape 6"/>
          <p:cNvSpPr/>
          <p:nvPr/>
        </p:nvSpPr>
        <p:spPr>
          <a:xfrm>
            <a:off x="3669716" y="2862072"/>
            <a:ext cx="402336" cy="402336"/>
          </a:xfrm>
          <a:prstGeom prst="ellipse">
            <a:avLst/>
          </a:prstGeom>
          <a:solidFill>
            <a:srgbClr val="0E7C86"/>
          </a:solidFill>
          <a:ln w="31750">
            <a:solidFill>
              <a:srgbClr val="0E7C86"/>
            </a:solidFill>
            <a:prstDash val="solid"/>
          </a:ln>
        </p:spPr>
      </p:sp>
      <p:sp>
        <p:nvSpPr>
          <p:cNvPr id="9" name="Text 7"/>
          <p:cNvSpPr txBox="1"/>
          <p:nvPr/>
        </p:nvSpPr>
        <p:spPr>
          <a:xfrm>
            <a:off x="2773604" y="2148840"/>
            <a:ext cx="2194560" cy="548640"/>
          </a:xfrm>
          <a:prstGeom prst="rect">
            <a:avLst/>
          </a:prstGeom>
          <a:noFill/>
          <a:ln/>
        </p:spPr>
        <p:txBody>
          <a:bodyPr wrap="square" lIns="0" tIns="0" rIns="0" bIns="0" rtlCol="0" anchor="b"/>
          <a:lstStyle/>
          <a:p>
            <a:pPr algn="ctr" indent="0" marL="0">
              <a:buNone/>
            </a:pPr>
            <a:r>
              <a:rPr lang="en-US" sz="1400" b="1" spc="100" kern="0" dirty="0">
                <a:solidFill>
                  <a:srgbClr val="0E7C86"/>
                </a:solidFill>
                <a:latin typeface="Calibri" pitchFamily="34" charset="0"/>
                <a:ea typeface="Calibri" pitchFamily="34" charset="-122"/>
                <a:cs typeface="Calibri" pitchFamily="34" charset="-120"/>
              </a:rPr>
              <a:t>NÅ</a:t>
            </a:r>
            <a:endParaRPr lang="en-US" sz="1400" dirty="0"/>
          </a:p>
        </p:txBody>
      </p:sp>
      <p:sp>
        <p:nvSpPr>
          <p:cNvPr id="10" name="Text 8"/>
          <p:cNvSpPr txBox="1"/>
          <p:nvPr/>
        </p:nvSpPr>
        <p:spPr>
          <a:xfrm>
            <a:off x="2773604" y="3474720"/>
            <a:ext cx="2194560" cy="1188720"/>
          </a:xfrm>
          <a:prstGeom prst="rect">
            <a:avLst/>
          </a:prstGeom>
          <a:noFill/>
          <a:ln/>
        </p:spPr>
        <p:txBody>
          <a:bodyPr wrap="square" lIns="0" tIns="0" rIns="0" bIns="0" rtlCol="0" anchor="t"/>
          <a:lstStyle/>
          <a:p>
            <a:pPr algn="ctr" indent="0" marL="0">
              <a:buNone/>
            </a:pPr>
            <a:r>
              <a:rPr lang="en-US" sz="1500" dirty="0">
                <a:solidFill>
                  <a:srgbClr val="1B2A38"/>
                </a:solidFill>
                <a:latin typeface="Calibri" pitchFamily="34" charset="0"/>
                <a:ea typeface="Calibri" pitchFamily="34" charset="-122"/>
                <a:cs typeface="Calibri" pitchFamily="34" charset="-120"/>
              </a:rPr>
              <a:t>Rederier i hele Norge kontaktet. Flere har vist interesse.</a:t>
            </a:r>
            <a:endParaRPr lang="en-US" sz="1500" dirty="0"/>
          </a:p>
        </p:txBody>
      </p:sp>
      <p:sp>
        <p:nvSpPr>
          <p:cNvPr id="11" name="Shape 9"/>
          <p:cNvSpPr/>
          <p:nvPr/>
        </p:nvSpPr>
        <p:spPr>
          <a:xfrm>
            <a:off x="5894680" y="2862072"/>
            <a:ext cx="402336" cy="402336"/>
          </a:xfrm>
          <a:prstGeom prst="ellipse">
            <a:avLst/>
          </a:prstGeom>
          <a:solidFill>
            <a:srgbClr val="FFFFFF"/>
          </a:solidFill>
          <a:ln w="31750">
            <a:solidFill>
              <a:srgbClr val="0E7C86"/>
            </a:solidFill>
            <a:prstDash val="solid"/>
          </a:ln>
        </p:spPr>
      </p:sp>
      <p:sp>
        <p:nvSpPr>
          <p:cNvPr id="12" name="Text 10"/>
          <p:cNvSpPr txBox="1"/>
          <p:nvPr/>
        </p:nvSpPr>
        <p:spPr>
          <a:xfrm>
            <a:off x="4998568" y="2148840"/>
            <a:ext cx="2194560" cy="548640"/>
          </a:xfrm>
          <a:prstGeom prst="rect">
            <a:avLst/>
          </a:prstGeom>
          <a:noFill/>
          <a:ln/>
        </p:spPr>
        <p:txBody>
          <a:bodyPr wrap="square" lIns="0" tIns="0" rIns="0" bIns="0" rtlCol="0" anchor="b"/>
          <a:lstStyle/>
          <a:p>
            <a:pPr algn="ctr" indent="0" marL="0">
              <a:buNone/>
            </a:pPr>
            <a:r>
              <a:rPr lang="en-US" sz="1400" b="1" spc="100" kern="0" dirty="0">
                <a:solidFill>
                  <a:srgbClr val="0E7C86"/>
                </a:solidFill>
                <a:latin typeface="Calibri" pitchFamily="34" charset="0"/>
                <a:ea typeface="Calibri" pitchFamily="34" charset="-122"/>
                <a:cs typeface="Calibri" pitchFamily="34" charset="-120"/>
              </a:rPr>
              <a:t>NESTE</a:t>
            </a:r>
            <a:endParaRPr lang="en-US" sz="1400" dirty="0"/>
          </a:p>
        </p:txBody>
      </p:sp>
      <p:sp>
        <p:nvSpPr>
          <p:cNvPr id="13" name="Text 11"/>
          <p:cNvSpPr txBox="1"/>
          <p:nvPr/>
        </p:nvSpPr>
        <p:spPr>
          <a:xfrm>
            <a:off x="4998568" y="3474720"/>
            <a:ext cx="2194560" cy="1188720"/>
          </a:xfrm>
          <a:prstGeom prst="rect">
            <a:avLst/>
          </a:prstGeom>
          <a:noFill/>
          <a:ln/>
        </p:spPr>
        <p:txBody>
          <a:bodyPr wrap="square" lIns="0" tIns="0" rIns="0" bIns="0" rtlCol="0" anchor="t"/>
          <a:lstStyle/>
          <a:p>
            <a:pPr algn="ctr" indent="0" marL="0">
              <a:buNone/>
            </a:pPr>
            <a:r>
              <a:rPr lang="en-US" sz="1500" dirty="0">
                <a:solidFill>
                  <a:srgbClr val="1B2A38"/>
                </a:solidFill>
                <a:latin typeface="Calibri" pitchFamily="34" charset="0"/>
                <a:ea typeface="Calibri" pitchFamily="34" charset="-122"/>
                <a:cs typeface="Calibri" pitchFamily="34" charset="-120"/>
              </a:rPr>
              <a:t>Signerte intensjonsavtaler og neste støtterunde fra Innovasjon Norge</a:t>
            </a:r>
            <a:endParaRPr lang="en-US" sz="1500" dirty="0"/>
          </a:p>
        </p:txBody>
      </p:sp>
      <p:sp>
        <p:nvSpPr>
          <p:cNvPr id="14" name="Shape 12"/>
          <p:cNvSpPr/>
          <p:nvPr/>
        </p:nvSpPr>
        <p:spPr>
          <a:xfrm>
            <a:off x="8119643" y="2862072"/>
            <a:ext cx="402336" cy="402336"/>
          </a:xfrm>
          <a:prstGeom prst="ellipse">
            <a:avLst/>
          </a:prstGeom>
          <a:solidFill>
            <a:srgbClr val="FFFFFF"/>
          </a:solidFill>
          <a:ln w="31750">
            <a:solidFill>
              <a:srgbClr val="0E7C86"/>
            </a:solidFill>
            <a:prstDash val="solid"/>
          </a:ln>
        </p:spPr>
      </p:sp>
      <p:sp>
        <p:nvSpPr>
          <p:cNvPr id="15" name="Text 13"/>
          <p:cNvSpPr txBox="1"/>
          <p:nvPr/>
        </p:nvSpPr>
        <p:spPr>
          <a:xfrm>
            <a:off x="7223531" y="2148840"/>
            <a:ext cx="2194560" cy="548640"/>
          </a:xfrm>
          <a:prstGeom prst="rect">
            <a:avLst/>
          </a:prstGeom>
          <a:noFill/>
          <a:ln/>
        </p:spPr>
        <p:txBody>
          <a:bodyPr wrap="square" lIns="0" tIns="0" rIns="0" bIns="0" rtlCol="0" anchor="b"/>
          <a:lstStyle/>
          <a:p>
            <a:pPr algn="ctr" indent="0" marL="0">
              <a:buNone/>
            </a:pPr>
            <a:r>
              <a:rPr lang="en-US" sz="1400" b="1" spc="100" kern="0" dirty="0">
                <a:solidFill>
                  <a:srgbClr val="0E7C86"/>
                </a:solidFill>
                <a:latin typeface="Calibri" pitchFamily="34" charset="0"/>
                <a:ea typeface="Calibri" pitchFamily="34" charset="-122"/>
                <a:cs typeface="Calibri" pitchFamily="34" charset="-120"/>
              </a:rPr>
              <a:t>DERETTER</a:t>
            </a:r>
            <a:endParaRPr lang="en-US" sz="1400" dirty="0"/>
          </a:p>
        </p:txBody>
      </p:sp>
      <p:sp>
        <p:nvSpPr>
          <p:cNvPr id="16" name="Text 14"/>
          <p:cNvSpPr txBox="1"/>
          <p:nvPr/>
        </p:nvSpPr>
        <p:spPr>
          <a:xfrm>
            <a:off x="7223531" y="3474720"/>
            <a:ext cx="2194560" cy="1188720"/>
          </a:xfrm>
          <a:prstGeom prst="rect">
            <a:avLst/>
          </a:prstGeom>
          <a:noFill/>
          <a:ln/>
        </p:spPr>
        <p:txBody>
          <a:bodyPr wrap="square" lIns="0" tIns="0" rIns="0" bIns="0" rtlCol="0" anchor="t"/>
          <a:lstStyle/>
          <a:p>
            <a:pPr algn="ctr" indent="0" marL="0">
              <a:buNone/>
            </a:pPr>
            <a:r>
              <a:rPr lang="en-US" sz="1500" dirty="0">
                <a:solidFill>
                  <a:srgbClr val="1B2A38"/>
                </a:solidFill>
                <a:latin typeface="Calibri" pitchFamily="34" charset="0"/>
                <a:ea typeface="Calibri" pitchFamily="34" charset="-122"/>
                <a:cs typeface="Calibri" pitchFamily="34" charset="-120"/>
              </a:rPr>
              <a:t>Pilot på første fartøy og første betalende rederi</a:t>
            </a:r>
            <a:endParaRPr lang="en-US" sz="1500" dirty="0"/>
          </a:p>
        </p:txBody>
      </p:sp>
      <p:sp>
        <p:nvSpPr>
          <p:cNvPr id="17" name="Shape 15"/>
          <p:cNvSpPr/>
          <p:nvPr/>
        </p:nvSpPr>
        <p:spPr>
          <a:xfrm>
            <a:off x="10344607" y="2862072"/>
            <a:ext cx="402336" cy="402336"/>
          </a:xfrm>
          <a:prstGeom prst="ellipse">
            <a:avLst/>
          </a:prstGeom>
          <a:solidFill>
            <a:srgbClr val="FFFFFF"/>
          </a:solidFill>
          <a:ln w="31750">
            <a:solidFill>
              <a:srgbClr val="0E7C86"/>
            </a:solidFill>
            <a:prstDash val="solid"/>
          </a:ln>
        </p:spPr>
      </p:sp>
      <p:sp>
        <p:nvSpPr>
          <p:cNvPr id="18" name="Text 16"/>
          <p:cNvSpPr txBox="1"/>
          <p:nvPr/>
        </p:nvSpPr>
        <p:spPr>
          <a:xfrm>
            <a:off x="9448495" y="2148840"/>
            <a:ext cx="2194560" cy="548640"/>
          </a:xfrm>
          <a:prstGeom prst="rect">
            <a:avLst/>
          </a:prstGeom>
          <a:noFill/>
          <a:ln/>
        </p:spPr>
        <p:txBody>
          <a:bodyPr wrap="square" lIns="0" tIns="0" rIns="0" bIns="0" rtlCol="0" anchor="b"/>
          <a:lstStyle/>
          <a:p>
            <a:pPr algn="ctr" indent="0" marL="0">
              <a:buNone/>
            </a:pPr>
            <a:r>
              <a:rPr lang="en-US" sz="1400" b="1" spc="100" kern="0" dirty="0">
                <a:solidFill>
                  <a:srgbClr val="0E7C86"/>
                </a:solidFill>
                <a:latin typeface="Calibri" pitchFamily="34" charset="0"/>
                <a:ea typeface="Calibri" pitchFamily="34" charset="-122"/>
                <a:cs typeface="Calibri" pitchFamily="34" charset="-120"/>
              </a:rPr>
              <a:t>MÅL</a:t>
            </a:r>
            <a:endParaRPr lang="en-US" sz="1400" dirty="0"/>
          </a:p>
        </p:txBody>
      </p:sp>
      <p:sp>
        <p:nvSpPr>
          <p:cNvPr id="19" name="Text 17"/>
          <p:cNvSpPr txBox="1"/>
          <p:nvPr/>
        </p:nvSpPr>
        <p:spPr>
          <a:xfrm>
            <a:off x="9448495" y="3474720"/>
            <a:ext cx="2194560" cy="1188720"/>
          </a:xfrm>
          <a:prstGeom prst="rect">
            <a:avLst/>
          </a:prstGeom>
          <a:noFill/>
          <a:ln/>
        </p:spPr>
        <p:txBody>
          <a:bodyPr wrap="square" lIns="0" tIns="0" rIns="0" bIns="0" rtlCol="0" anchor="t"/>
          <a:lstStyle/>
          <a:p>
            <a:pPr algn="ctr" indent="0" marL="0">
              <a:buNone/>
            </a:pPr>
            <a:r>
              <a:rPr lang="en-US" sz="1500" dirty="0">
                <a:solidFill>
                  <a:srgbClr val="1B2A38"/>
                </a:solidFill>
                <a:latin typeface="Calibri" pitchFamily="34" charset="0"/>
                <a:ea typeface="Calibri" pitchFamily="34" charset="-122"/>
                <a:cs typeface="Calibri" pitchFamily="34" charset="-120"/>
              </a:rPr>
              <a:t>Ferdig produkt med DNV-godkjenning</a:t>
            </a:r>
            <a:endParaRPr lang="en-US" sz="1500" dirty="0"/>
          </a:p>
        </p:txBody>
      </p:sp>
      <p:sp>
        <p:nvSpPr>
          <p:cNvPr id="20" name="Kort"/>
          <p:cNvSpPr/>
          <p:nvPr/>
        </p:nvSpPr>
        <p:spPr>
          <a:xfrm>
            <a:off x="548640" y="4846320"/>
            <a:ext cx="11094415" cy="868680"/>
          </a:xfrm>
          <a:prstGeom prst="roundRect">
            <a:avLst>
              <a:gd name="adj" fmla="val 12632"/>
            </a:avLst>
          </a:prstGeom>
          <a:solidFill>
            <a:srgbClr val="EEF3F6"/>
          </a:solidFill>
          <a:ln/>
        </p:spPr>
      </p:sp>
      <p:sp>
        <p:nvSpPr>
          <p:cNvPr id="21" name="Text 19"/>
          <p:cNvSpPr txBox="1"/>
          <p:nvPr/>
        </p:nvSpPr>
        <p:spPr>
          <a:xfrm>
            <a:off x="868680" y="4846320"/>
            <a:ext cx="10454335" cy="868680"/>
          </a:xfrm>
          <a:prstGeom prst="rect">
            <a:avLst/>
          </a:prstGeom>
          <a:noFill/>
          <a:ln/>
        </p:spPr>
        <p:txBody>
          <a:bodyPr wrap="square" lIns="0" tIns="0" rIns="0" bIns="0" rtlCol="0" anchor="ctr"/>
          <a:lstStyle/>
          <a:p>
            <a:pPr indent="0" marL="0">
              <a:buNone/>
            </a:pPr>
            <a:r>
              <a:rPr lang="en-US" sz="1600" b="1" dirty="0">
                <a:solidFill>
                  <a:srgbClr val="0B1F33"/>
                </a:solidFill>
                <a:latin typeface="Calibri" pitchFamily="34" charset="0"/>
                <a:ea typeface="Calibri" pitchFamily="34" charset="-122"/>
                <a:cs typeface="Calibri" pitchFamily="34" charset="-120"/>
              </a:rPr>
              <a:t>Målet for de neste 18 månedene: </a:t>
            </a:r>
            <a:pPr indent="0" marL="0">
              <a:buNone/>
            </a:pPr>
            <a:r>
              <a:rPr lang="en-US" sz="1600" dirty="0">
                <a:solidFill>
                  <a:srgbClr val="1B2A38"/>
                </a:solidFill>
                <a:latin typeface="Calibri" pitchFamily="34" charset="0"/>
                <a:ea typeface="Calibri" pitchFamily="34" charset="-122"/>
                <a:cs typeface="Calibri" pitchFamily="34" charset="-120"/>
              </a:rPr>
              <a:t>signerte intensjonsavtaler, de første betalende rederiene og et ferdig produkt godkjent av DNV.</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lstStyle/>
          <a:p>
            <a:pPr indent="0" marL="0">
              <a:buNone/>
            </a:pPr>
            <a:r>
              <a:rPr lang="en-US" sz="1200" b="1" spc="200" kern="0" dirty="0">
                <a:solidFill>
                  <a:srgbClr val="0E7C86"/>
                </a:solidFill>
                <a:latin typeface="Calibri" pitchFamily="34" charset="0"/>
                <a:ea typeface="Calibri" pitchFamily="34" charset="-122"/>
                <a:cs typeface="Calibri" pitchFamily="34" charset="-120"/>
              </a:rPr>
              <a:t>TEAMET</a:t>
            </a:r>
            <a:endParaRPr lang="en-US" sz="1200" dirty="0"/>
          </a:p>
        </p:txBody>
      </p:sp>
      <p:sp>
        <p:nvSpPr>
          <p:cNvPr id="3" name="Text 1"/>
          <p:cNvSpPr/>
          <p:nvPr>
            <p:ph idx="102" type="title" hasCustomPrompt="1"/>
          </p:nvPr>
        </p:nvSpPr>
        <p:spPr>
          <a:xfrm>
            <a:off x="548640" y="658368"/>
            <a:ext cx="11094415" cy="1051560"/>
          </a:xfrm>
          <a:prstGeom prst="rect">
            <a:avLst/>
          </a:prstGeom>
          <a:noFill/>
          <a:ln/>
        </p:spPr>
        <p:txBody>
          <a:bodyPr wrap="square" lIns="0" tIns="0" rIns="0" bIns="0" rtlCol="0" anchor="t"/>
          <a:lstStyle/>
          <a:p>
            <a:pPr algn="l" indent="0" marL="0">
              <a:buNone/>
            </a:pPr>
            <a:r>
              <a:rPr lang="en-US" sz="3000" b="1" dirty="0">
                <a:solidFill>
                  <a:srgbClr val="0B1F33"/>
                </a:solidFill>
                <a:latin typeface="Arial" pitchFamily="34" charset="0"/>
                <a:ea typeface="Arial" pitchFamily="34" charset="-122"/>
                <a:cs typeface="Arial" pitchFamily="34" charset="-120"/>
              </a:rPr>
              <a:t>Vi har stått i maskinrommet selv</a:t>
            </a:r>
            <a:endParaRPr lang="en-US" sz="3000" dirty="0"/>
          </a:p>
        </p:txBody>
      </p:sp>
      <p:sp>
        <p:nvSpPr>
          <p:cNvPr id="4" name="Kort"/>
          <p:cNvSpPr/>
          <p:nvPr/>
        </p:nvSpPr>
        <p:spPr>
          <a:xfrm>
            <a:off x="548640" y="1828800"/>
            <a:ext cx="6400800" cy="1143000"/>
          </a:xfrm>
          <a:prstGeom prst="roundRect">
            <a:avLst>
              <a:gd name="adj" fmla="val 9600"/>
            </a:avLst>
          </a:prstGeom>
          <a:solidFill>
            <a:srgbClr val="EEF3F6"/>
          </a:solidFill>
          <a:ln/>
        </p:spPr>
      </p:sp>
      <p:sp>
        <p:nvSpPr>
          <p:cNvPr id="5" name="Text 3"/>
          <p:cNvSpPr txBox="1"/>
          <p:nvPr/>
        </p:nvSpPr>
        <p:spPr>
          <a:xfrm>
            <a:off x="868680" y="1965960"/>
            <a:ext cx="5852160" cy="914400"/>
          </a:xfrm>
          <a:prstGeom prst="rect">
            <a:avLst/>
          </a:prstGeom>
          <a:noFill/>
          <a:ln/>
        </p:spPr>
        <p:txBody>
          <a:bodyPr wrap="square" lIns="0" tIns="0" rIns="0" bIns="0" rtlCol="0" anchor="t"/>
          <a:lstStyle/>
          <a:p>
            <a:pPr indent="0" marL="0">
              <a:buNone/>
            </a:pPr>
            <a:r>
              <a:rPr lang="en-US" sz="1800" b="1" dirty="0">
                <a:solidFill>
                  <a:srgbClr val="0B1F33"/>
                </a:solidFill>
                <a:latin typeface="Calibri" pitchFamily="34" charset="0"/>
                <a:ea typeface="Calibri" pitchFamily="34" charset="-122"/>
                <a:cs typeface="Calibri" pitchFamily="34" charset="-120"/>
              </a:rPr>
              <a:t>Arne Kopperstad</a:t>
            </a:r>
            <a:pPr indent="0" marL="0">
              <a:buNone/>
            </a:pPr>
            <a:r>
              <a:rPr lang="en-US" sz="1500" b="1" dirty="0">
                <a:solidFill>
                  <a:srgbClr val="0E7C86"/>
                </a:solidFill>
                <a:latin typeface="Calibri" pitchFamily="34" charset="0"/>
                <a:ea typeface="Calibri" pitchFamily="34" charset="-122"/>
                <a:cs typeface="Calibri" pitchFamily="34" charset="-120"/>
              </a:rPr>
              <a:t>   Daglig leder (CEO)</a:t>
            </a:r>
            <a:endParaRPr lang="en-US" sz="1800" dirty="0"/>
          </a:p>
          <a:p>
            <a:pPr indent="0" marL="0">
              <a:buNone/>
            </a:pPr>
            <a:r>
              <a:rPr lang="en-US" sz="1500" dirty="0">
                <a:solidFill>
                  <a:srgbClr val="1B2A38"/>
                </a:solidFill>
                <a:latin typeface="Calibri" pitchFamily="34" charset="0"/>
                <a:ea typeface="Calibri" pitchFamily="34" charset="-122"/>
                <a:cs typeface="Calibri" pitchFamily="34" charset="-120"/>
              </a:rPr>
              <a:t>Maskinsjef med erfaring fra fiskeflåten. Kjenner problemet Nautech løser fra egen hverdag.</a:t>
            </a:r>
            <a:endParaRPr lang="en-US" sz="1800" dirty="0"/>
          </a:p>
        </p:txBody>
      </p:sp>
      <p:sp>
        <p:nvSpPr>
          <p:cNvPr id="6" name="Kort"/>
          <p:cNvSpPr/>
          <p:nvPr/>
        </p:nvSpPr>
        <p:spPr>
          <a:xfrm>
            <a:off x="548640" y="3154680"/>
            <a:ext cx="6400800" cy="1143000"/>
          </a:xfrm>
          <a:prstGeom prst="roundRect">
            <a:avLst>
              <a:gd name="adj" fmla="val 9600"/>
            </a:avLst>
          </a:prstGeom>
          <a:solidFill>
            <a:srgbClr val="EEF3F6"/>
          </a:solidFill>
          <a:ln/>
        </p:spPr>
      </p:sp>
      <p:sp>
        <p:nvSpPr>
          <p:cNvPr id="7" name="Text 5"/>
          <p:cNvSpPr txBox="1"/>
          <p:nvPr/>
        </p:nvSpPr>
        <p:spPr>
          <a:xfrm>
            <a:off x="868680" y="3291840"/>
            <a:ext cx="5852160" cy="914400"/>
          </a:xfrm>
          <a:prstGeom prst="rect">
            <a:avLst/>
          </a:prstGeom>
          <a:noFill/>
          <a:ln/>
        </p:spPr>
        <p:txBody>
          <a:bodyPr wrap="square" lIns="0" tIns="0" rIns="0" bIns="0" rtlCol="0" anchor="t"/>
          <a:lstStyle/>
          <a:p>
            <a:pPr indent="0" marL="0">
              <a:buNone/>
            </a:pPr>
            <a:r>
              <a:rPr lang="en-US" sz="1800" b="1" dirty="0">
                <a:solidFill>
                  <a:srgbClr val="0B1F33"/>
                </a:solidFill>
                <a:latin typeface="Calibri" pitchFamily="34" charset="0"/>
                <a:ea typeface="Calibri" pitchFamily="34" charset="-122"/>
                <a:cs typeface="Calibri" pitchFamily="34" charset="-120"/>
              </a:rPr>
              <a:t>Kristian Kopperstad</a:t>
            </a:r>
            <a:pPr indent="0" marL="0">
              <a:buNone/>
            </a:pPr>
            <a:r>
              <a:rPr lang="en-US" sz="1500" b="1" dirty="0">
                <a:solidFill>
                  <a:srgbClr val="0E7C86"/>
                </a:solidFill>
                <a:latin typeface="Calibri" pitchFamily="34" charset="0"/>
                <a:ea typeface="Calibri" pitchFamily="34" charset="-122"/>
                <a:cs typeface="Calibri" pitchFamily="34" charset="-120"/>
              </a:rPr>
              <a:t>   Driftsleder (COO)</a:t>
            </a:r>
            <a:endParaRPr lang="en-US" sz="1800" dirty="0"/>
          </a:p>
          <a:p>
            <a:pPr indent="0" marL="0">
              <a:buNone/>
            </a:pPr>
            <a:r>
              <a:rPr lang="en-US" sz="1500" dirty="0">
                <a:solidFill>
                  <a:srgbClr val="1B2A38"/>
                </a:solidFill>
                <a:latin typeface="Calibri" pitchFamily="34" charset="0"/>
                <a:ea typeface="Calibri" pitchFamily="34" charset="-122"/>
                <a:cs typeface="Calibri" pitchFamily="34" charset="-120"/>
              </a:rPr>
              <a:t>Prosjekt- og ingeniørerfaring fra offshore. Ansvar for leveranse og drift.</a:t>
            </a:r>
            <a:endParaRPr lang="en-US" sz="1800" dirty="0"/>
          </a:p>
        </p:txBody>
      </p:sp>
      <p:sp>
        <p:nvSpPr>
          <p:cNvPr id="8" name="Kort"/>
          <p:cNvSpPr/>
          <p:nvPr/>
        </p:nvSpPr>
        <p:spPr>
          <a:xfrm>
            <a:off x="548640" y="4480560"/>
            <a:ext cx="6400800" cy="1143000"/>
          </a:xfrm>
          <a:prstGeom prst="roundRect">
            <a:avLst>
              <a:gd name="adj" fmla="val 9600"/>
            </a:avLst>
          </a:prstGeom>
          <a:solidFill>
            <a:srgbClr val="0B1F33"/>
          </a:solidFill>
          <a:ln/>
        </p:spPr>
      </p:sp>
      <p:sp>
        <p:nvSpPr>
          <p:cNvPr id="9" name="Text 7"/>
          <p:cNvSpPr txBox="1"/>
          <p:nvPr/>
        </p:nvSpPr>
        <p:spPr>
          <a:xfrm>
            <a:off x="868680" y="4480560"/>
            <a:ext cx="5852160" cy="1143000"/>
          </a:xfrm>
          <a:prstGeom prst="rect">
            <a:avLst/>
          </a:prstGeom>
          <a:noFill/>
          <a:ln/>
        </p:spPr>
        <p:txBody>
          <a:bodyPr wrap="square" lIns="0" tIns="0" rIns="0" bIns="0" rtlCol="0" anchor="ctr"/>
          <a:lstStyle/>
          <a:p>
            <a:pPr indent="0" marL="0">
              <a:buNone/>
            </a:pPr>
            <a:r>
              <a:rPr lang="en-US" sz="1500" b="1" dirty="0">
                <a:solidFill>
                  <a:srgbClr val="7FD1D6"/>
                </a:solidFill>
                <a:latin typeface="Calibri" pitchFamily="34" charset="0"/>
                <a:ea typeface="Calibri" pitchFamily="34" charset="-122"/>
                <a:cs typeface="Calibri" pitchFamily="34" charset="-120"/>
              </a:rPr>
              <a:t>Hvorfor oss: </a:t>
            </a:r>
            <a:pPr indent="0" marL="0">
              <a:buNone/>
            </a:pPr>
            <a:r>
              <a:rPr lang="en-US" sz="1500" dirty="0">
                <a:solidFill>
                  <a:srgbClr val="FFFFFF"/>
                </a:solidFill>
                <a:latin typeface="Calibri" pitchFamily="34" charset="0"/>
                <a:ea typeface="Calibri" pitchFamily="34" charset="-122"/>
                <a:cs typeface="Calibri" pitchFamily="34" charset="-120"/>
              </a:rPr>
              <a:t>Vi har brukt systemene som finnes i dag, og vet hvor de svikter om bord. Nautech er bygget for å løse nettopp det.</a:t>
            </a:r>
            <a:endParaRPr lang="en-US" sz="1500" dirty="0"/>
          </a:p>
        </p:txBody>
      </p:sp>
      <p:pic>
        <p:nvPicPr>
          <p:cNvPr id="10" name="Teambilde" descr="/tmp/claude-0/-home-user-Claude/bbdec16f-2a10-550d-bb32-af07b09e4311/scratchpad/build/team.jpg">    </p:cNvPr>
          <p:cNvPicPr>
            <a:picLocks noChangeAspect="1"/>
          </p:cNvPicPr>
          <p:nvPr/>
        </p:nvPicPr>
        <p:blipFill>
          <a:blip r:embed="rId1"/>
          <a:stretch>
            <a:fillRect/>
          </a:stretch>
        </p:blipFill>
        <p:spPr>
          <a:xfrm>
            <a:off x="7406640" y="1828800"/>
            <a:ext cx="4236415" cy="3879127"/>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lstStyle/>
          <a:p>
            <a:pPr indent="0" marL="0">
              <a:buNone/>
            </a:pPr>
            <a:r>
              <a:rPr lang="en-US" sz="1200" b="1" spc="200" kern="0" dirty="0">
                <a:solidFill>
                  <a:srgbClr val="7FD1D6"/>
                </a:solidFill>
                <a:latin typeface="Calibri" pitchFamily="34" charset="0"/>
                <a:ea typeface="Calibri" pitchFamily="34" charset="-122"/>
                <a:cs typeface="Calibri" pitchFamily="34" charset="-120"/>
              </a:rPr>
              <a:t>VEIEN VIDERE</a:t>
            </a:r>
            <a:endParaRPr lang="en-US" sz="1200" dirty="0"/>
          </a:p>
        </p:txBody>
      </p:sp>
      <p:sp>
        <p:nvSpPr>
          <p:cNvPr id="3" name="Text 1"/>
          <p:cNvSpPr/>
          <p:nvPr>
            <p:ph idx="102" type="title" hasCustomPrompt="1"/>
          </p:nvPr>
        </p:nvSpPr>
        <p:spPr>
          <a:xfrm>
            <a:off x="548640" y="658368"/>
            <a:ext cx="11094415" cy="1051560"/>
          </a:xfrm>
          <a:prstGeom prst="rect">
            <a:avLst/>
          </a:prstGeom>
          <a:noFill/>
          <a:ln/>
        </p:spPr>
        <p:txBody>
          <a:bodyPr wrap="square" lIns="0" tIns="0" rIns="0" bIns="0" rtlCol="0" anchor="t"/>
          <a:lstStyle/>
          <a:p>
            <a:pPr algn="l" indent="0" marL="0">
              <a:buNone/>
            </a:pPr>
            <a:r>
              <a:rPr lang="en-US" sz="3000" b="1" dirty="0">
                <a:solidFill>
                  <a:srgbClr val="FFFFFF"/>
                </a:solidFill>
                <a:latin typeface="Arial" pitchFamily="34" charset="0"/>
                <a:ea typeface="Arial" pitchFamily="34" charset="-122"/>
                <a:cs typeface="Arial" pitchFamily="34" charset="-120"/>
              </a:rPr>
              <a:t>Vi ser etter partnere som vil være med fra MVP til ferdig produkt</a:t>
            </a:r>
            <a:endParaRPr lang="en-US" sz="3000" dirty="0"/>
          </a:p>
        </p:txBody>
      </p:sp>
      <p:sp>
        <p:nvSpPr>
          <p:cNvPr id="4" name="Kort"/>
          <p:cNvSpPr/>
          <p:nvPr/>
        </p:nvSpPr>
        <p:spPr>
          <a:xfrm>
            <a:off x="548640" y="1828800"/>
            <a:ext cx="5394960" cy="3886200"/>
          </a:xfrm>
          <a:prstGeom prst="roundRect">
            <a:avLst>
              <a:gd name="adj" fmla="val 2824"/>
            </a:avLst>
          </a:prstGeom>
          <a:solidFill>
            <a:srgbClr val="16324D"/>
          </a:solidFill>
          <a:ln/>
        </p:spPr>
      </p:sp>
      <p:sp>
        <p:nvSpPr>
          <p:cNvPr id="5" name="Ikon-sirkel"/>
          <p:cNvSpPr/>
          <p:nvPr/>
        </p:nvSpPr>
        <p:spPr>
          <a:xfrm>
            <a:off x="868680" y="2103120"/>
            <a:ext cx="640080" cy="640080"/>
          </a:xfrm>
          <a:prstGeom prst="ellipse">
            <a:avLst/>
          </a:prstGeom>
          <a:solidFill>
            <a:srgbClr val="0E7C86"/>
          </a:solidFill>
          <a:ln/>
        </p:spPr>
      </p:sp>
      <p:pic>
        <p:nvPicPr>
          <p:cNvPr id="6" name="Ikon FaSackDollar" descr="preencoded.png">    </p:cNvPr>
          <p:cNvPicPr>
            <a:picLocks noChangeAspect="1"/>
          </p:cNvPicPr>
          <p:nvPr/>
        </p:nvPicPr>
        <p:blipFill>
          <a:blip r:embed="rId1"/>
          <a:stretch>
            <a:fillRect/>
          </a:stretch>
        </p:blipFill>
        <p:spPr>
          <a:xfrm>
            <a:off x="1022299" y="2256739"/>
            <a:ext cx="332842" cy="332842"/>
          </a:xfrm>
          <a:prstGeom prst="rect">
            <a:avLst/>
          </a:prstGeom>
        </p:spPr>
      </p:pic>
      <p:sp>
        <p:nvSpPr>
          <p:cNvPr id="7" name="Text 4"/>
          <p:cNvSpPr txBox="1"/>
          <p:nvPr/>
        </p:nvSpPr>
        <p:spPr>
          <a:xfrm>
            <a:off x="1691640" y="2103120"/>
            <a:ext cx="4023360" cy="6400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Investorer</a:t>
            </a:r>
            <a:endParaRPr lang="en-US" sz="2200" dirty="0"/>
          </a:p>
        </p:txBody>
      </p:sp>
      <p:sp>
        <p:nvSpPr>
          <p:cNvPr id="8" name="Text 5"/>
          <p:cNvSpPr txBox="1"/>
          <p:nvPr/>
        </p:nvSpPr>
        <p:spPr>
          <a:xfrm>
            <a:off x="868680" y="3017520"/>
            <a:ext cx="4754880" cy="2560320"/>
          </a:xfrm>
          <a:prstGeom prst="rect">
            <a:avLst/>
          </a:prstGeom>
          <a:noFill/>
          <a:ln/>
        </p:spPr>
        <p:txBody>
          <a:bodyPr wrap="square" lIns="0" tIns="0" rIns="0" bIns="0" rtlCol="0" anchor="t"/>
          <a:lstStyle/>
          <a:p>
            <a:pPr indent="0" marL="0">
              <a:spcAft>
                <a:spcPts val="400"/>
              </a:spcAft>
              <a:buNone/>
            </a:pPr>
            <a:r>
              <a:rPr lang="en-US" sz="1500" dirty="0">
                <a:solidFill>
                  <a:srgbClr val="DCE6EE"/>
                </a:solidFill>
                <a:latin typeface="Calibri" pitchFamily="34" charset="0"/>
                <a:ea typeface="Calibri" pitchFamily="34" charset="-122"/>
                <a:cs typeface="Calibri" pitchFamily="34" charset="-120"/>
              </a:rPr>
              <a:t>Vi vil bli kjent med investorer som forstår maritim næring og vil følge Nautech videre.</a:t>
            </a:r>
            <a:endParaRPr lang="en-US" sz="1500" dirty="0"/>
          </a:p>
          <a:p>
            <a:pPr indent="0" marL="0">
              <a:spcAft>
                <a:spcPts val="400"/>
              </a:spcAft>
              <a:buNone/>
            </a:pPr>
            <a:r>
              <a:rPr lang="en-US" sz="600" dirty="0">
                <a:solidFill>
                  <a:srgbClr val="1B2A38"/>
                </a:solidFill>
                <a:latin typeface="Calibri" pitchFamily="34" charset="0"/>
                <a:ea typeface="Calibri" pitchFamily="34" charset="-122"/>
                <a:cs typeface="Calibri" pitchFamily="34" charset="-120"/>
              </a:rPr>
              <a:t> </a:t>
            </a:r>
            <a:endParaRPr lang="en-US" sz="1500" dirty="0"/>
          </a:p>
          <a:p>
            <a:pPr indent="0" marL="0">
              <a:spcAft>
                <a:spcPts val="400"/>
              </a:spcAft>
              <a:buNone/>
            </a:pPr>
            <a:r>
              <a:rPr lang="en-US" sz="1500" b="1" dirty="0">
                <a:solidFill>
                  <a:srgbClr val="FFFFFF"/>
                </a:solidFill>
                <a:latin typeface="Calibri" pitchFamily="34" charset="0"/>
                <a:ea typeface="Calibri" pitchFamily="34" charset="-122"/>
                <a:cs typeface="Calibri" pitchFamily="34" charset="-120"/>
              </a:rPr>
              <a:t>Hvorfor nå:</a:t>
            </a:r>
            <a:endParaRPr lang="en-US" sz="1500" dirty="0"/>
          </a:p>
          <a:p>
            <a:pPr marL="342900" indent="-342900">
              <a:spcAft>
                <a:spcPts val="400"/>
              </a:spcAft>
              <a:buSzPct val="100000"/>
              <a:buChar char="•"/>
            </a:pPr>
            <a:r>
              <a:rPr lang="en-US" sz="1500" dirty="0">
                <a:solidFill>
                  <a:srgbClr val="DCE6EE"/>
                </a:solidFill>
                <a:latin typeface="Calibri" pitchFamily="34" charset="0"/>
                <a:ea typeface="Calibri" pitchFamily="34" charset="-122"/>
                <a:cs typeface="Calibri" pitchFamily="34" charset="-120"/>
              </a:rPr>
              <a:t>MVP-en er klar og kan vises i demo</a:t>
            </a:r>
            <a:endParaRPr lang="en-US" sz="1500" dirty="0"/>
          </a:p>
          <a:p>
            <a:pPr marL="342900" indent="-342900">
              <a:spcAft>
                <a:spcPts val="400"/>
              </a:spcAft>
              <a:buSzPct val="100000"/>
              <a:buChar char="•"/>
            </a:pPr>
            <a:r>
              <a:rPr lang="en-US" sz="1500" dirty="0">
                <a:solidFill>
                  <a:srgbClr val="DCE6EE"/>
                </a:solidFill>
                <a:latin typeface="Calibri" pitchFamily="34" charset="0"/>
                <a:ea typeface="Calibri" pitchFamily="34" charset="-122"/>
                <a:cs typeface="Calibri" pitchFamily="34" charset="-120"/>
              </a:rPr>
              <a:t>Rederier i hele Norge er kontaktet, og flere har vist interesse</a:t>
            </a:r>
            <a:endParaRPr lang="en-US" sz="1500" dirty="0"/>
          </a:p>
          <a:p>
            <a:pPr marL="342900" indent="-342900">
              <a:spcAft>
                <a:spcPts val="400"/>
              </a:spcAft>
              <a:buSzPct val="100000"/>
              <a:buChar char="•"/>
            </a:pPr>
            <a:r>
              <a:rPr lang="en-US" sz="1500" dirty="0">
                <a:solidFill>
                  <a:srgbClr val="DCE6EE"/>
                </a:solidFill>
                <a:latin typeface="Calibri" pitchFamily="34" charset="0"/>
                <a:ea typeface="Calibri" pitchFamily="34" charset="-122"/>
                <a:cs typeface="Calibri" pitchFamily="34" charset="-120"/>
              </a:rPr>
              <a:t>Neste steg er intensjonsavtaler og støtte fra Innovasjon Norge</a:t>
            </a:r>
            <a:endParaRPr lang="en-US" sz="1500" dirty="0"/>
          </a:p>
        </p:txBody>
      </p:sp>
      <p:sp>
        <p:nvSpPr>
          <p:cNvPr id="9" name="Kort"/>
          <p:cNvSpPr/>
          <p:nvPr/>
        </p:nvSpPr>
        <p:spPr>
          <a:xfrm>
            <a:off x="6217920" y="1828800"/>
            <a:ext cx="5425135" cy="3886200"/>
          </a:xfrm>
          <a:prstGeom prst="roundRect">
            <a:avLst>
              <a:gd name="adj" fmla="val 2824"/>
            </a:avLst>
          </a:prstGeom>
          <a:solidFill>
            <a:srgbClr val="16324D"/>
          </a:solidFill>
          <a:ln/>
        </p:spPr>
      </p:sp>
      <p:sp>
        <p:nvSpPr>
          <p:cNvPr id="10" name="Ikon-sirkel"/>
          <p:cNvSpPr/>
          <p:nvPr/>
        </p:nvSpPr>
        <p:spPr>
          <a:xfrm>
            <a:off x="6537960" y="2103120"/>
            <a:ext cx="640080" cy="640080"/>
          </a:xfrm>
          <a:prstGeom prst="ellipse">
            <a:avLst/>
          </a:prstGeom>
          <a:solidFill>
            <a:srgbClr val="0E7C86"/>
          </a:solidFill>
          <a:ln/>
        </p:spPr>
      </p:sp>
      <p:pic>
        <p:nvPicPr>
          <p:cNvPr id="11" name="Ikon FaHandshake" descr="preencoded.png">    </p:cNvPr>
          <p:cNvPicPr>
            <a:picLocks noChangeAspect="1"/>
          </p:cNvPicPr>
          <p:nvPr/>
        </p:nvPicPr>
        <p:blipFill>
          <a:blip r:embed="rId2"/>
          <a:stretch>
            <a:fillRect/>
          </a:stretch>
        </p:blipFill>
        <p:spPr>
          <a:xfrm>
            <a:off x="6691579" y="2256739"/>
            <a:ext cx="332842" cy="332842"/>
          </a:xfrm>
          <a:prstGeom prst="rect">
            <a:avLst/>
          </a:prstGeom>
        </p:spPr>
      </p:pic>
      <p:sp>
        <p:nvSpPr>
          <p:cNvPr id="12" name="Text 8"/>
          <p:cNvSpPr txBox="1"/>
          <p:nvPr/>
        </p:nvSpPr>
        <p:spPr>
          <a:xfrm>
            <a:off x="7360920" y="2103120"/>
            <a:ext cx="4053535" cy="6400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Industripartner</a:t>
            </a:r>
            <a:endParaRPr lang="en-US" sz="2200" dirty="0"/>
          </a:p>
        </p:txBody>
      </p:sp>
      <p:sp>
        <p:nvSpPr>
          <p:cNvPr id="13" name="Text 9"/>
          <p:cNvSpPr txBox="1"/>
          <p:nvPr/>
        </p:nvSpPr>
        <p:spPr>
          <a:xfrm>
            <a:off x="6537960" y="3154680"/>
            <a:ext cx="4785055" cy="1371600"/>
          </a:xfrm>
          <a:prstGeom prst="rect">
            <a:avLst/>
          </a:prstGeom>
          <a:noFill/>
          <a:ln/>
        </p:spPr>
        <p:txBody>
          <a:bodyPr wrap="square" lIns="0" tIns="0" rIns="0" bIns="0" rtlCol="0" anchor="t"/>
          <a:lstStyle/>
          <a:p>
            <a:pPr indent="0" marL="0">
              <a:buNone/>
            </a:pPr>
            <a:r>
              <a:rPr lang="en-US" sz="1600" dirty="0">
                <a:solidFill>
                  <a:srgbClr val="DCE6EE"/>
                </a:solidFill>
                <a:latin typeface="Calibri" pitchFamily="34" charset="0"/>
                <a:ea typeface="Calibri" pitchFamily="34" charset="-122"/>
                <a:cs typeface="Calibri" pitchFamily="34" charset="-120"/>
              </a:rPr>
              <a:t>Et fiskerederi som signerer en intensjonsavtale, tester Nautech på ett fartøy og blir vår første referansekunde. Signerte avtaler utløser også neste støtterunde fra Innovasjon Norge.</a:t>
            </a:r>
            <a:endParaRPr lang="en-US" sz="1600" dirty="0"/>
          </a:p>
        </p:txBody>
      </p:sp>
      <p:sp>
        <p:nvSpPr>
          <p:cNvPr id="14" name="Text 10"/>
          <p:cNvSpPr txBox="1"/>
          <p:nvPr/>
        </p:nvSpPr>
        <p:spPr>
          <a:xfrm>
            <a:off x="548640" y="5806440"/>
            <a:ext cx="11094415" cy="5486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Arne Kopperstad  </a:t>
            </a:r>
            <a:pPr indent="0" marL="0">
              <a:buNone/>
            </a:pPr>
            <a:r>
              <a:rPr lang="en-US" sz="1400" dirty="0">
                <a:solidFill>
                  <a:srgbClr val="7FD1D6"/>
                </a:solidFill>
                <a:latin typeface="Calibri" pitchFamily="34" charset="0"/>
                <a:ea typeface="Calibri" pitchFamily="34" charset="-122"/>
                <a:cs typeface="Calibri" pitchFamily="34" charset="-120"/>
              </a:rPr>
              <a:t>akopperstad@seawise.no  ·  +47 480 35 351</a:t>
            </a:r>
            <a:endParaRPr lang="en-US" sz="1400" dirty="0"/>
          </a:p>
          <a:p>
            <a:pPr indent="0" marL="0">
              <a:buNone/>
            </a:pPr>
            <a:r>
              <a:rPr lang="en-US" sz="1400" b="1" dirty="0">
                <a:solidFill>
                  <a:srgbClr val="FFFFFF"/>
                </a:solidFill>
                <a:latin typeface="Calibri" pitchFamily="34" charset="0"/>
                <a:ea typeface="Calibri" pitchFamily="34" charset="-122"/>
                <a:cs typeface="Calibri" pitchFamily="34" charset="-120"/>
              </a:rPr>
              <a:t>Kristian Kopperstad  </a:t>
            </a:r>
            <a:pPr indent="0" marL="0">
              <a:buNone/>
            </a:pPr>
            <a:r>
              <a:rPr lang="en-US" sz="1400" dirty="0">
                <a:solidFill>
                  <a:srgbClr val="7FD1D6"/>
                </a:solidFill>
                <a:latin typeface="Calibri" pitchFamily="34" charset="0"/>
                <a:ea typeface="Calibri" pitchFamily="34" charset="-122"/>
                <a:cs typeface="Calibri" pitchFamily="34" charset="-120"/>
              </a:rPr>
              <a:t>kkopperstad@seawise.no</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3C4"/>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lstStyle/>
          <a:p>
            <a:pPr indent="0" marL="0">
              <a:buNone/>
            </a:pPr>
            <a:r>
              <a:rPr lang="en-US" sz="1200" b="1" spc="200" kern="0" dirty="0">
                <a:solidFill>
                  <a:srgbClr val="0E7C86"/>
                </a:solidFill>
                <a:latin typeface="Calibri" pitchFamily="34" charset="0"/>
                <a:ea typeface="Calibri" pitchFamily="34" charset="-122"/>
                <a:cs typeface="Calibri" pitchFamily="34" charset="-120"/>
              </a:rPr>
              <a:t>VEDLEGG</a:t>
            </a:r>
            <a:endParaRPr lang="en-US" sz="1200" dirty="0"/>
          </a:p>
        </p:txBody>
      </p:sp>
      <p:sp>
        <p:nvSpPr>
          <p:cNvPr id="3" name="Text 1"/>
          <p:cNvSpPr/>
          <p:nvPr>
            <p:ph idx="102" type="title" hasCustomPrompt="1"/>
          </p:nvPr>
        </p:nvSpPr>
        <p:spPr>
          <a:xfrm>
            <a:off x="548640" y="658368"/>
            <a:ext cx="11094415" cy="1051560"/>
          </a:xfrm>
          <a:prstGeom prst="rect">
            <a:avLst/>
          </a:prstGeom>
          <a:noFill/>
          <a:ln/>
        </p:spPr>
        <p:txBody>
          <a:bodyPr wrap="square" lIns="0" tIns="0" rIns="0" bIns="0" rtlCol="0" anchor="t"/>
          <a:lstStyle/>
          <a:p>
            <a:pPr algn="l" indent="0" marL="0">
              <a:buNone/>
            </a:pPr>
            <a:r>
              <a:rPr lang="en-US" sz="3000" b="1" dirty="0">
                <a:solidFill>
                  <a:srgbClr val="0B1F33"/>
                </a:solidFill>
                <a:latin typeface="Arial" pitchFamily="34" charset="0"/>
                <a:ea typeface="Arial" pitchFamily="34" charset="-122"/>
                <a:cs typeface="Arial" pitchFamily="34" charset="-120"/>
              </a:rPr>
              <a:t>Kilder og forutsetninger</a:t>
            </a:r>
            <a:endParaRPr lang="en-US" sz="3000" dirty="0"/>
          </a:p>
        </p:txBody>
      </p:sp>
      <p:sp>
        <p:nvSpPr>
          <p:cNvPr id="4" name="Text 2"/>
          <p:cNvSpPr txBox="1"/>
          <p:nvPr/>
        </p:nvSpPr>
        <p:spPr>
          <a:xfrm>
            <a:off x="548640" y="1828800"/>
            <a:ext cx="5303520" cy="3840480"/>
          </a:xfrm>
          <a:prstGeom prst="rect">
            <a:avLst/>
          </a:prstGeom>
          <a:noFill/>
          <a:ln/>
        </p:spPr>
        <p:txBody>
          <a:bodyPr wrap="square" lIns="0" tIns="0" rIns="0" bIns="0" rtlCol="0" anchor="t"/>
          <a:lstStyle/>
          <a:p>
            <a:pPr indent="0" marL="0">
              <a:spcAft>
                <a:spcPts val="800"/>
              </a:spcAft>
              <a:buNone/>
            </a:pPr>
            <a:r>
              <a:rPr lang="en-US" sz="1700" b="1" dirty="0">
                <a:solidFill>
                  <a:srgbClr val="0B1F33"/>
                </a:solidFill>
                <a:latin typeface="Calibri" pitchFamily="34" charset="0"/>
                <a:ea typeface="Calibri" pitchFamily="34" charset="-122"/>
                <a:cs typeface="Calibri" pitchFamily="34" charset="-120"/>
              </a:rPr>
              <a:t>Kilder</a:t>
            </a:r>
            <a:endParaRPr lang="en-US" sz="1500" dirty="0"/>
          </a:p>
          <a:p>
            <a:pPr marL="342900" indent="-342900">
              <a:spcAft>
                <a:spcPts val="800"/>
              </a:spcAft>
              <a:buSzPct val="100000"/>
              <a:buChar char="•"/>
            </a:pPr>
            <a:r>
              <a:rPr lang="en-US" sz="1500" dirty="0">
                <a:solidFill>
                  <a:srgbClr val="1B2A38"/>
                </a:solidFill>
                <a:latin typeface="Calibri" pitchFamily="34" charset="0"/>
                <a:ea typeface="Calibri" pitchFamily="34" charset="-122"/>
                <a:cs typeface="Calibri" pitchFamily="34" charset="-120"/>
              </a:rPr>
              <a:t>Fiskeridirektoratet: Nøkkeltal 2025, figur 23 – registrerte fiskefartøy etter lengde (foreløpige tall)</a:t>
            </a:r>
            <a:endParaRPr lang="en-US" sz="1500" dirty="0"/>
          </a:p>
          <a:p>
            <a:pPr marL="342900" indent="-342900">
              <a:spcAft>
                <a:spcPts val="800"/>
              </a:spcAft>
              <a:buSzPct val="100000"/>
              <a:buChar char="•"/>
            </a:pPr>
            <a:r>
              <a:rPr lang="en-US" sz="1500" dirty="0">
                <a:solidFill>
                  <a:srgbClr val="1B2A38"/>
                </a:solidFill>
                <a:latin typeface="Calibri" pitchFamily="34" charset="0"/>
                <a:ea typeface="Calibri" pitchFamily="34" charset="-122"/>
                <a:cs typeface="Calibri" pitchFamily="34" charset="-120"/>
              </a:rPr>
              <a:t>EUs fartøyregister: fiskefartøy over 24 meter, 2021-tall</a:t>
            </a:r>
            <a:endParaRPr lang="en-US" sz="1500" dirty="0"/>
          </a:p>
          <a:p>
            <a:pPr marL="342900" indent="-342900">
              <a:spcAft>
                <a:spcPts val="800"/>
              </a:spcAft>
              <a:buSzPct val="100000"/>
              <a:buChar char="•"/>
            </a:pPr>
            <a:r>
              <a:rPr lang="en-US" sz="1500" dirty="0">
                <a:solidFill>
                  <a:srgbClr val="1B2A38"/>
                </a:solidFill>
                <a:latin typeface="Calibri" pitchFamily="34" charset="0"/>
                <a:ea typeface="Calibri" pitchFamily="34" charset="-122"/>
                <a:cs typeface="Calibri" pitchFamily="34" charset="-120"/>
              </a:rPr>
              <a:t>CCOM X, PreMaster 3.0, SERTICA AI Assistant, AMOS Procure Smart, TM Master: leverandørenes egne nettsider, oktober 2026</a:t>
            </a:r>
            <a:endParaRPr lang="en-US" sz="1500" dirty="0"/>
          </a:p>
        </p:txBody>
      </p:sp>
      <p:sp>
        <p:nvSpPr>
          <p:cNvPr id="5" name="Text 3"/>
          <p:cNvSpPr txBox="1"/>
          <p:nvPr/>
        </p:nvSpPr>
        <p:spPr>
          <a:xfrm>
            <a:off x="6309360" y="1828800"/>
            <a:ext cx="5333695" cy="3840480"/>
          </a:xfrm>
          <a:prstGeom prst="rect">
            <a:avLst/>
          </a:prstGeom>
          <a:noFill/>
          <a:ln/>
        </p:spPr>
        <p:txBody>
          <a:bodyPr wrap="square" lIns="0" tIns="0" rIns="0" bIns="0" rtlCol="0" anchor="t"/>
          <a:lstStyle/>
          <a:p>
            <a:pPr indent="0" marL="0">
              <a:spcAft>
                <a:spcPts val="800"/>
              </a:spcAft>
              <a:buNone/>
            </a:pPr>
            <a:r>
              <a:rPr lang="en-US" sz="1700" b="1" dirty="0">
                <a:solidFill>
                  <a:srgbClr val="0B1F33"/>
                </a:solidFill>
                <a:latin typeface="Calibri" pitchFamily="34" charset="0"/>
                <a:ea typeface="Calibri" pitchFamily="34" charset="-122"/>
                <a:cs typeface="Calibri" pitchFamily="34" charset="-120"/>
              </a:rPr>
              <a:t>Forutsetninger</a:t>
            </a:r>
            <a:endParaRPr lang="en-US" sz="1500" dirty="0"/>
          </a:p>
          <a:p>
            <a:pPr marL="342900" indent="-342900">
              <a:spcAft>
                <a:spcPts val="800"/>
              </a:spcAft>
              <a:buSzPct val="100000"/>
              <a:buChar char="•"/>
            </a:pPr>
            <a:r>
              <a:rPr lang="en-US" sz="1500" dirty="0">
                <a:solidFill>
                  <a:srgbClr val="1B2A38"/>
                </a:solidFill>
                <a:latin typeface="Calibri" pitchFamily="34" charset="0"/>
                <a:ea typeface="Calibri" pitchFamily="34" charset="-122"/>
                <a:cs typeface="Calibri" pitchFamily="34" charset="-120"/>
              </a:rPr>
              <a:t>Pris: 1 000 kr per modul per fartøy per måned, 14 000 kr for alle 14 moduler, ekskl. mva.</a:t>
            </a:r>
            <a:endParaRPr lang="en-US" sz="1500" dirty="0"/>
          </a:p>
          <a:p>
            <a:pPr marL="342900" indent="-342900">
              <a:spcAft>
                <a:spcPts val="800"/>
              </a:spcAft>
              <a:buSzPct val="100000"/>
              <a:buChar char="•"/>
            </a:pPr>
            <a:r>
              <a:rPr lang="en-US" sz="1500" dirty="0">
                <a:solidFill>
                  <a:srgbClr val="1B2A38"/>
                </a:solidFill>
                <a:latin typeface="Calibri" pitchFamily="34" charset="0"/>
                <a:ea typeface="Calibri" pitchFamily="34" charset="-122"/>
                <a:cs typeface="Calibri" pitchFamily="34" charset="-120"/>
              </a:rPr>
              <a:t>Markedsverdi forutsetter full dekning og samme pris i alle markeder. Det er en størrelsesorden, ikke en prognose.</a:t>
            </a:r>
            <a:endParaRPr lang="en-US" sz="1500" dirty="0"/>
          </a:p>
          <a:p>
            <a:pPr marL="342900" indent="-342900">
              <a:spcAft>
                <a:spcPts val="800"/>
              </a:spcAft>
              <a:buSzPct val="100000"/>
              <a:buChar char="•"/>
            </a:pPr>
            <a:r>
              <a:rPr lang="en-US" sz="1500" dirty="0">
                <a:solidFill>
                  <a:srgbClr val="1B2A38"/>
                </a:solidFill>
                <a:latin typeface="Calibri" pitchFamily="34" charset="0"/>
                <a:ea typeface="Calibri" pitchFamily="34" charset="-122"/>
                <a:cs typeface="Calibri" pitchFamily="34" charset="-120"/>
              </a:rPr>
              <a:t>Inntektseksemplene er regneeksempler før kostnader.</a:t>
            </a:r>
            <a:endParaRPr lang="en-US" sz="1500" dirty="0"/>
          </a:p>
          <a:p>
            <a:pPr marL="342900" indent="-342900">
              <a:spcAft>
                <a:spcPts val="800"/>
              </a:spcAft>
              <a:buSzPct val="100000"/>
              <a:buChar char="•"/>
            </a:pPr>
            <a:r>
              <a:rPr lang="en-US" sz="1500" dirty="0">
                <a:solidFill>
                  <a:srgbClr val="1B2A38"/>
                </a:solidFill>
                <a:latin typeface="Calibri" pitchFamily="34" charset="0"/>
                <a:ea typeface="Calibri" pitchFamily="34" charset="-122"/>
                <a:cs typeface="Calibri" pitchFamily="34" charset="-120"/>
              </a:rPr>
              <a:t>Sammenligningen med konkurrenter bygger på offentlig informasjon, ikke på egen testing.</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Nautech">
  <a:themeElements>
    <a:clrScheme name="Nautech">
      <a:dk1>
        <a:srgbClr val="0B1F33"/>
      </a:dk1>
      <a:lt1>
        <a:srgbClr val="FFFFFF"/>
      </a:lt1>
      <a:dk2>
        <a:srgbClr val="16324D"/>
      </a:dk2>
      <a:lt2>
        <a:srgbClr val="EEF3F6"/>
      </a:lt2>
      <a:accent1>
        <a:srgbClr val="0E7C86"/>
      </a:accent1>
      <a:accent2>
        <a:srgbClr val="E8751A"/>
      </a:accent2>
      <a:accent3>
        <a:srgbClr val="7FD1D6"/>
      </a:accent3>
      <a:accent4>
        <a:srgbClr val="5B6B7A"/>
      </a:accent4>
      <a:accent5>
        <a:srgbClr val="2E9E5B"/>
      </a:accent5>
      <a:accent6>
        <a:srgbClr val="C0392B"/>
      </a:accent6>
      <a:hlink>
        <a:srgbClr val="0E7C86"/>
      </a:hlink>
      <a:folHlink>
        <a:srgbClr val="5B6B7A"/>
      </a:folHlink>
    </a:clrScheme>
    <a:fontScheme name="Nautech">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Seawise 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Nautech – investorpresentasjon</dc:title>
  <dc:subject>PptxGenJS Presentation</dc:subject>
  <dc:creator>Seawise AS</dc:creator>
  <cp:lastModifiedBy>Seawise AS</cp:lastModifiedBy>
  <cp:revision>1</cp:revision>
  <dcterms:created xsi:type="dcterms:W3CDTF">2026-10-06T10:05:46Z</dcterms:created>
  <dcterms:modified xsi:type="dcterms:W3CDTF">2026-10-06T10:05:46Z</dcterms:modified>
</cp:coreProperties>
</file>