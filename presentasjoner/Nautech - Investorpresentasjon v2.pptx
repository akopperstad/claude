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og løsning" id="{a060b11a-3eae-a531-ad3e-437ee1c608dc}">
          <p14:sldIdLst>
            <p14:sldId id="256"/>
            <p14:sldId id="257"/>
            <p14:sldId id="258"/>
            <p14:sldId id="259"/>
            <p14:sldId id="260"/>
            <p14:sldId id="261"/>
          </p14:sldIdLst>
        </p14:section>
        <p14:section name="Marked og konkurranse" id="{eb10bd58-3f99-e55c-014e-048973ebbc93}">
          <p14:sldIdLst>
            <p14:sldId id="262"/>
            <p14:sldId id="263"/>
            <p14:sldId id="264"/>
          </p14:sldIdLst>
        </p14:section>
        <p14:section name="Selskap og plan" id="{145fdd4e-02cb-1b54-0ff2-208c16b4b6fb}">
          <p14:sldIdLst>
            <p14:sldId id="265"/>
            <p14:sldId id="266"/>
            <p14:sldId id="267"/>
          </p14:sldIdLst>
        </p14:section>
        <p14:section name="Vedlegg" id="{05e605cd-2d34-efcd-7ee8-3b86406472cb}">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Årlig abonnementsinntekt, MNOK</a:t>
            </a:r>
          </a:p>
        </c:rich>
      </c:tx>
      <c:layout/>
      <c:overlay val="0"/>
    </c:title>
    <c:autoTitleDeleted val="0"/>
    <c:plotArea>
      <c:layout/>
      <c:barChart>
        <c:barDir val="col"/>
        <c:grouping val="clustered"/>
        <c:varyColors val="0"/>
        <c:ser>
          <c:idx val="0"/>
          <c:order val="0"/>
          <c:tx>
            <c:strRef>
              <c:f>Sheet1!$B$1</c:f>
              <c:strCache>
                <c:ptCount val="1"/>
                <c:pt idx="0">
                  <c:v>Årlig abonnement (MNOK)</c:v>
                </c:pt>
              </c:strCache>
            </c:strRef>
          </c:tx>
          <c:spPr>
            <a:solidFill>
              <a:srgbClr val="0E7C86"/>
            </a:solidFill>
            <a:effectLst/>
          </c:spPr>
          <c:invertIfNegative val="0"/>
          <c:dLbls>
            <c:numFmt formatCode="0.0" sourceLinked="0"/>
            <c:txPr>
              <a:bodyPr/>
              <a:lstStyle/>
              <a:p>
                <a:pPr>
                  <a:defRPr b="0" i="0" strike="noStrike" sz="1300" u="none">
                    <a:solidFill>
                      <a:srgbClr val="0B1F33"/>
                    </a:solidFill>
                    <a:latin typeface="+mn-lt"/>
                  </a:defRPr>
                </a:pPr>
              </a:p>
            </c:txPr>
            <c:showLegendKey val="0"/>
            <c:showVal val="1"/>
            <c:showCatName val="0"/>
            <c:showSerName val="0"/>
            <c:showPercent val="0"/>
            <c:showBubbleSize val="0"/>
            <c:showLeaderLines val="0"/>
          </c:dLbls>
          <c:cat>
            <c:multiLvlStrRef>
              <c:f>Sheet1!$A$2:$A$5</c:f>
              <c:multiLvlStrCache>
                <c:ptCount val="4"/>
                <c:lvl>
                  <c:pt idx="0">
                    <c:v>10 fartøy</c:v>
                  </c:pt>
                  <c:pt idx="1">
                    <c:v>50 fartøy</c:v>
                  </c:pt>
                  <c:pt idx="2">
                    <c:v>100 fartøy</c:v>
                  </c:pt>
                  <c:pt idx="3">
                    <c:v>260 fartøy</c:v>
                  </c:pt>
                </c:lvl>
              </c:multiLvlStrCache>
            </c:multiLvlStrRef>
          </c:cat>
          <c:val>
            <c:numRef>
              <c:f>Sheet1!$B$2:$B$5</c:f>
              <c:numCache>
                <c:formatCode>General</c:formatCode>
                <c:ptCount val="4"/>
                <c:pt idx="0">
                  <c:v>1.68</c:v>
                </c:pt>
                <c:pt idx="1">
                  <c:v>8.4</c:v>
                </c:pt>
                <c:pt idx="2">
                  <c:v>16.8</c:v>
                </c:pt>
                <c:pt idx="3">
                  <c:v>43.68</c:v>
                </c:pt>
              </c:numCache>
            </c:numRef>
          </c:val>
        </c:ser>
        <c:dLbls>
          <c:numFmt formatCode="0.0" sourceLinked="0"/>
          <c:txPr>
            <a:bodyPr/>
            <a:lstStyle/>
            <a:p>
              <a:pPr>
                <a:defRPr b="0" i="0" strike="noStrike" sz="1300" u="none">
                  <a:solidFill>
                    <a:srgbClr val="0B1F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5B6B7A"/>
                </a:solidFill>
                <a:latin typeface="+mn-lt"/>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 et komplett system for drift og vedlikehold av fiskefartøy. Det er laget av folk som har jobbet om bord, og har en KI-assistent som svarer ut fra rederiets egne data. MVP-en er klar, vi har kontaktet rederier i hele Norge, og flere har vist interesse.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Dette er hverdagen Arne kjenner fra maskinrommet. Informasjonen finnes, men den ligger spredt, og den forsvinner når folk skifter. Det koster tid om bord, og det gjør det vanskelig for ledelsen på land å se hva som faktisk skjer.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erstatter dagens vedlikeholds- og kvalitetssystem med én løsning. Det som skiller oss ut er KI-assistenten: den kjenner båtens egen historikk og viser alltid kilden, slik at fagpersonen kan sjekke svaret.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 er et konkret eksempel. Maskinsjefen spør på vanlig norsk, og får et svar som bygger på båtens egen historikk, med henvisning til kildene. Beslutningen tas fortsatt av fagpersonen, men grunnlaget er samlet på sekunder i stedet for å letes frem fra flere steder.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Nautech dekker hele driften, ikke bare vedlikehold. Det gir oss mulighet til å vokse hos hver kunde: de kan starte smalt og utvide.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Dette er det som skiller oss fra de brede maritime systemene. Fiskerimodulen dekker fangst, kvoter, sporbarhet og rapporteringskravene en tråler lever med, i samme system som vedlikeholdet.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Markedet har etablerte aktører, og CCOM X og PreMaster har kunder i fiskeflåten. Vår fordel er at Nautech er bygget spesielt for fiskefartøy, av folk fra fiskeflåten, og at KI er en del av produktet fra start. De etablerte aktørene bygger KI inn i eldre plattformer.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Norge er hjemmemarkedet vårt, med rundt 260 fiskefartøy over 28 meter. Med full dekning tilsvarer det rundt 44 millioner i årlig abonnement. Samme type fartøy finnes i EU, med rundt 2 270 fartøy over 24 meter. Til sammen er første målgruppe rundt 425 millioner kroner i året, før vi regner med havbruk og andre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Modellen er enkel: 1 000 kroner per modul per fartøy i måneden, 14 000 for alle modulene. Ti fartøy med full dekning gir 1,7 millioner i året. Når et rederi først har tatt i bruk et vedlikeholdssystem, bytter de sjelden, så inntektene er stabile.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MVP-en er klar, og vi har kontaktet rederier i hele Norge. Flere har vist interesse, og vi jobber nå med å signere intensjonsavtaler. De utløser også neste støtterunde fra Innovasjon Norge. Deretter kommer pilot og første betalende kunde. Produktet er bygget etter DNVs krav, og vi søker godkjenning når det er ferdig utviklet.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Arne er maskinsjef og har levd med problemet selv. Kristian har prosjekt- og ingeniørerfaring fra offshore. Vi forteller også hvem som bygger og drifter teknologien.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 søker to ting: kapital til å ta Nautech ut til de første rederiene, og et rederi som vil være med som første kunde. Neste steg er en demo av produktet, og deretter en gjennomgang av tall og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B6B7A"/>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0E7C8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0B1F33"/>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B1F33"/>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9FB3C4"/>
                </a:solidFill>
                <a:latin typeface="Calibri" pitchFamily="34" charset="0"/>
                <a:ea typeface="Calibri" pitchFamily="34" charset="-122"/>
                <a:cs typeface="Calibri" pitchFamily="34" charset="-120"/>
              </a:rPr>
              <a:t>Seawise AS  ·  Nautech</a:t>
            </a:r>
            <a:endParaRPr lang="en-US" sz="1000" dirty="0"/>
          </a:p>
        </p:txBody>
      </p:sp>
      <p:sp>
        <p:nvSpPr>
          <p:cNvPr id="3" name="Text 1"/>
          <p:cNvSpPr/>
          <p:nvPr>
            <p:ph idx="101" type="body" hasCustomPrompt="1"/>
          </p:nvPr>
        </p:nvSpPr>
        <p:spPr>
          <a:xfrm>
            <a:off x="548640" y="365760"/>
            <a:ext cx="9144000" cy="274320"/>
          </a:xfrm>
          <a:prstGeom prst="rect">
            <a:avLst/>
          </a:prstGeom>
          <a:noFill/>
          <a:ln/>
        </p:spPr>
        <p:txBody>
          <a:bodyPr wrap="square" rtlCol="0"/>
          <a:lstStyle>
            <a:lvl1pPr indent="0" marL="0">
              <a:buNone/>
              <a:defRPr lang="en-US" sz="1200" b="1" spc="200" kern="0" dirty="0">
                <a:solidFill>
                  <a:srgbClr val="7FD1D6"/>
                </a:solidFill>
                <a:latin typeface="Calibri" pitchFamily="34" charset="0"/>
                <a:ea typeface="Calibri" pitchFamily="34" charset="-122"/>
                <a:cs typeface="Calibri" pitchFamily="34" charset="-120"/>
              </a:defRPr>
            </a:lvl1pPr>
          </a:lstStyle>
          <a:p>
            <a:pPr indent="0" marL="0">
              <a:buNone/>
            </a:pPr>
            <a:endParaRPr lang="en-US" sz="1200" dirty="0"/>
          </a:p>
        </p:txBody>
      </p:sp>
      <p:sp>
        <p:nvSpPr>
          <p:cNvPr id="4" name="Text 1"/>
          <p:cNvSpPr/>
          <p:nvPr>
            <p:ph idx="102" type="title" hasCustomPrompt="1"/>
          </p:nvPr>
        </p:nvSpPr>
        <p:spPr>
          <a:xfrm>
            <a:off x="548640" y="658368"/>
            <a:ext cx="11094415" cy="1051560"/>
          </a:xfrm>
          <a:prstGeom prst="rect">
            <a:avLst/>
          </a:prstGeom>
          <a:noFill/>
          <a:ln/>
        </p:spPr>
        <p:txBody>
          <a:bodyPr wrap="square" rtlCol="0"/>
          <a:lstStyle>
            <a:lvl1pPr algn="l" indent="0" marL="0">
              <a:buNone/>
              <a:defRPr lang="en-US" sz="3000" b="1" dirty="0">
                <a:solidFill>
                  <a:srgbClr val="FFFFFF"/>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3.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2.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2.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2.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SEAWISE AS  ·  INVESTORPRESENTASJON  ·  OKTOBER 2026</a:t>
            </a:r>
            <a:endParaRPr lang="en-US" sz="1200" dirty="0"/>
          </a:p>
        </p:txBody>
      </p:sp>
      <p:sp>
        <p:nvSpPr>
          <p:cNvPr id="3" name="Text 1"/>
          <p:cNvSpPr txBox="1"/>
          <p:nvPr/>
        </p:nvSpPr>
        <p:spPr>
          <a:xfrm>
            <a:off x="548640" y="1234440"/>
            <a:ext cx="8229600" cy="100584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Nautech</a:t>
            </a:r>
            <a:endParaRPr lang="en-US" sz="6000" dirty="0"/>
          </a:p>
        </p:txBody>
      </p:sp>
      <p:sp>
        <p:nvSpPr>
          <p:cNvPr id="4" name="Text 2"/>
          <p:cNvSpPr txBox="1"/>
          <p:nvPr/>
        </p:nvSpPr>
        <p:spPr>
          <a:xfrm>
            <a:off x="548640" y="2331720"/>
            <a:ext cx="9601200" cy="1188720"/>
          </a:xfrm>
          <a:prstGeom prst="rect">
            <a:avLst/>
          </a:prstGeom>
          <a:noFill/>
          <a:ln/>
        </p:spPr>
        <p:txBody>
          <a:bodyPr wrap="square" lIns="0" tIns="0" rIns="0" bIns="0" rtlCol="0" anchor="t"/>
          <a:lstStyle/>
          <a:p>
            <a:pPr indent="0" marL="0">
              <a:buNone/>
            </a:pPr>
            <a:r>
              <a:rPr lang="en-US" sz="2800" dirty="0">
                <a:solidFill>
                  <a:srgbClr val="FFFFFF"/>
                </a:solidFill>
                <a:latin typeface="Arial" pitchFamily="34" charset="0"/>
                <a:ea typeface="Arial" pitchFamily="34" charset="-122"/>
                <a:cs typeface="Arial" pitchFamily="34" charset="-120"/>
              </a:rPr>
              <a:t>Drifts- og vedlikeholdssystemet for fiskeflåten – med KI som kjenner båten</a:t>
            </a:r>
            <a:endParaRPr lang="en-US" sz="2800" dirty="0"/>
          </a:p>
        </p:txBody>
      </p:sp>
      <p:sp>
        <p:nvSpPr>
          <p:cNvPr id="5" name="Text 3"/>
          <p:cNvSpPr txBox="1"/>
          <p:nvPr/>
        </p:nvSpPr>
        <p:spPr>
          <a:xfrm>
            <a:off x="548640" y="3611880"/>
            <a:ext cx="9601200" cy="457200"/>
          </a:xfrm>
          <a:prstGeom prst="rect">
            <a:avLst/>
          </a:prstGeom>
          <a:noFill/>
          <a:ln/>
        </p:spPr>
        <p:txBody>
          <a:bodyPr wrap="square" lIns="0" tIns="0" rIns="0" bIns="0" rtlCol="0" anchor="t"/>
          <a:lstStyle/>
          <a:p>
            <a:pPr indent="0" marL="0">
              <a:buNone/>
            </a:pPr>
            <a:r>
              <a:rPr lang="en-US" sz="1800" dirty="0">
                <a:solidFill>
                  <a:srgbClr val="7FD1D6"/>
                </a:solidFill>
                <a:latin typeface="Calibri" pitchFamily="34" charset="0"/>
                <a:ea typeface="Calibri" pitchFamily="34" charset="-122"/>
                <a:cs typeface="Calibri" pitchFamily="34" charset="-120"/>
              </a:rPr>
              <a:t>Bygget av en maskinsjef fra fiskeflåten. MVP klar. Rederier i hele Norge er kontaktet.</a:t>
            </a:r>
            <a:endParaRPr lang="en-US" sz="1800" dirty="0"/>
          </a:p>
        </p:txBody>
      </p:sp>
      <p:sp>
        <p:nvSpPr>
          <p:cNvPr id="6" name="Kort"/>
          <p:cNvSpPr/>
          <p:nvPr/>
        </p:nvSpPr>
        <p:spPr>
          <a:xfrm>
            <a:off x="548640" y="4572000"/>
            <a:ext cx="3515258" cy="1051560"/>
          </a:xfrm>
          <a:prstGeom prst="roundRect">
            <a:avLst>
              <a:gd name="adj" fmla="val 10435"/>
            </a:avLst>
          </a:prstGeom>
          <a:solidFill>
            <a:srgbClr val="16324D"/>
          </a:solidFill>
          <a:ln/>
        </p:spPr>
      </p:sp>
      <p:sp>
        <p:nvSpPr>
          <p:cNvPr id="7" name="Ikon-sirkel"/>
          <p:cNvSpPr/>
          <p:nvPr/>
        </p:nvSpPr>
        <p:spPr>
          <a:xfrm>
            <a:off x="777240" y="4773168"/>
            <a:ext cx="640080" cy="640080"/>
          </a:xfrm>
          <a:prstGeom prst="ellipse">
            <a:avLst/>
          </a:prstGeom>
          <a:solidFill>
            <a:srgbClr val="0E7C86"/>
          </a:solidFill>
          <a:ln/>
        </p:spPr>
      </p:sp>
      <p:pic>
        <p:nvPicPr>
          <p:cNvPr id="8" name="Ikon FaLayerGroup" descr="preencoded.png">    </p:cNvPr>
          <p:cNvPicPr>
            <a:picLocks noChangeAspect="1"/>
          </p:cNvPicPr>
          <p:nvPr/>
        </p:nvPicPr>
        <p:blipFill>
          <a:blip r:embed="rId1"/>
          <a:stretch>
            <a:fillRect/>
          </a:stretch>
        </p:blipFill>
        <p:spPr>
          <a:xfrm>
            <a:off x="930859" y="4926787"/>
            <a:ext cx="332842" cy="332842"/>
          </a:xfrm>
          <a:prstGeom prst="rect">
            <a:avLst/>
          </a:prstGeom>
        </p:spPr>
      </p:pic>
      <p:sp>
        <p:nvSpPr>
          <p:cNvPr id="9" name="Text 6"/>
          <p:cNvSpPr txBox="1"/>
          <p:nvPr/>
        </p:nvSpPr>
        <p:spPr>
          <a:xfrm>
            <a:off x="1600200"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14 moduler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i ett system</a:t>
            </a:r>
            <a:endParaRPr lang="en-US" sz="1800" dirty="0"/>
          </a:p>
        </p:txBody>
      </p:sp>
      <p:sp>
        <p:nvSpPr>
          <p:cNvPr id="10" name="Kort"/>
          <p:cNvSpPr/>
          <p:nvPr/>
        </p:nvSpPr>
        <p:spPr>
          <a:xfrm>
            <a:off x="4338218" y="4572000"/>
            <a:ext cx="3515258" cy="1051560"/>
          </a:xfrm>
          <a:prstGeom prst="roundRect">
            <a:avLst>
              <a:gd name="adj" fmla="val 10435"/>
            </a:avLst>
          </a:prstGeom>
          <a:solidFill>
            <a:srgbClr val="16324D"/>
          </a:solidFill>
          <a:ln/>
        </p:spPr>
      </p:sp>
      <p:sp>
        <p:nvSpPr>
          <p:cNvPr id="11" name="Ikon-sirkel"/>
          <p:cNvSpPr/>
          <p:nvPr/>
        </p:nvSpPr>
        <p:spPr>
          <a:xfrm>
            <a:off x="4566818" y="4773168"/>
            <a:ext cx="640080" cy="640080"/>
          </a:xfrm>
          <a:prstGeom prst="ellipse">
            <a:avLst/>
          </a:prstGeom>
          <a:solidFill>
            <a:srgbClr val="0E7C86"/>
          </a:solidFill>
          <a:ln/>
        </p:spPr>
      </p:sp>
      <p:pic>
        <p:nvPicPr>
          <p:cNvPr id="12" name="Ikon FaBrain" descr="preencoded.png">    </p:cNvPr>
          <p:cNvPicPr>
            <a:picLocks noChangeAspect="1"/>
          </p:cNvPicPr>
          <p:nvPr/>
        </p:nvPicPr>
        <p:blipFill>
          <a:blip r:embed="rId2"/>
          <a:stretch>
            <a:fillRect/>
          </a:stretch>
        </p:blipFill>
        <p:spPr>
          <a:xfrm>
            <a:off x="4720438" y="4926787"/>
            <a:ext cx="332842" cy="332842"/>
          </a:xfrm>
          <a:prstGeom prst="rect">
            <a:avLst/>
          </a:prstGeom>
        </p:spPr>
      </p:pic>
      <p:sp>
        <p:nvSpPr>
          <p:cNvPr id="13" name="Text 9"/>
          <p:cNvSpPr txBox="1"/>
          <p:nvPr/>
        </p:nvSpPr>
        <p:spPr>
          <a:xfrm>
            <a:off x="5389778"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KI som svarer</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med kilde fra egne data</a:t>
            </a:r>
            <a:endParaRPr lang="en-US" sz="1800" dirty="0"/>
          </a:p>
        </p:txBody>
      </p:sp>
      <p:sp>
        <p:nvSpPr>
          <p:cNvPr id="14" name="Kort"/>
          <p:cNvSpPr/>
          <p:nvPr/>
        </p:nvSpPr>
        <p:spPr>
          <a:xfrm>
            <a:off x="8127797" y="4572000"/>
            <a:ext cx="3515258" cy="1051560"/>
          </a:xfrm>
          <a:prstGeom prst="roundRect">
            <a:avLst>
              <a:gd name="adj" fmla="val 10435"/>
            </a:avLst>
          </a:prstGeom>
          <a:solidFill>
            <a:srgbClr val="16324D"/>
          </a:solidFill>
          <a:ln/>
        </p:spPr>
      </p:sp>
      <p:sp>
        <p:nvSpPr>
          <p:cNvPr id="15" name="Ikon-sirkel"/>
          <p:cNvSpPr/>
          <p:nvPr/>
        </p:nvSpPr>
        <p:spPr>
          <a:xfrm>
            <a:off x="8356397" y="4773168"/>
            <a:ext cx="640080" cy="640080"/>
          </a:xfrm>
          <a:prstGeom prst="ellipse">
            <a:avLst/>
          </a:prstGeom>
          <a:solidFill>
            <a:srgbClr val="0E7C86"/>
          </a:solidFill>
          <a:ln/>
        </p:spPr>
      </p:sp>
      <p:pic>
        <p:nvPicPr>
          <p:cNvPr id="16" name="Ikon FaLock" descr="preencoded.png">    </p:cNvPr>
          <p:cNvPicPr>
            <a:picLocks noChangeAspect="1"/>
          </p:cNvPicPr>
          <p:nvPr/>
        </p:nvPicPr>
        <p:blipFill>
          <a:blip r:embed="rId3"/>
          <a:stretch>
            <a:fillRect/>
          </a:stretch>
        </p:blipFill>
        <p:spPr>
          <a:xfrm>
            <a:off x="8510016" y="4926787"/>
            <a:ext cx="332842" cy="332842"/>
          </a:xfrm>
          <a:prstGeom prst="rect">
            <a:avLst/>
          </a:prstGeom>
        </p:spPr>
      </p:pic>
      <p:sp>
        <p:nvSpPr>
          <p:cNvPr id="17" name="Text 12"/>
          <p:cNvSpPr txBox="1"/>
          <p:nvPr/>
        </p:nvSpPr>
        <p:spPr>
          <a:xfrm>
            <a:off x="9179357" y="4754880"/>
            <a:ext cx="2326538" cy="731520"/>
          </a:xfrm>
          <a:prstGeom prst="rect">
            <a:avLst/>
          </a:prstGeom>
          <a:noFill/>
          <a:ln/>
        </p:spPr>
        <p:txBody>
          <a:bodyPr wrap="square" lIns="0" tIns="0" rIns="0" bIns="0" rtlCol="0" anchor="ctr"/>
          <a:lstStyle/>
          <a:p>
            <a:pPr indent="0" marL="0">
              <a:buNone/>
            </a:pPr>
            <a:r>
              <a:rPr lang="en-US" sz="1800" b="1" dirty="0">
                <a:solidFill>
                  <a:srgbClr val="FFFFFF"/>
                </a:solidFill>
                <a:latin typeface="Calibri" pitchFamily="34" charset="0"/>
                <a:ea typeface="Calibri" pitchFamily="34" charset="-122"/>
                <a:cs typeface="Calibri" pitchFamily="34" charset="-120"/>
              </a:rPr>
              <a:t>Data i Norge</a:t>
            </a:r>
            <a:endParaRPr lang="en-US" sz="1800" dirty="0"/>
          </a:p>
          <a:p>
            <a:pPr indent="0" marL="0">
              <a:buNone/>
            </a:pPr>
            <a:r>
              <a:rPr lang="en-US" sz="1400" dirty="0">
                <a:solidFill>
                  <a:srgbClr val="B9C8D4"/>
                </a:solidFill>
                <a:latin typeface="Calibri" pitchFamily="34" charset="0"/>
                <a:ea typeface="Calibri" pitchFamily="34" charset="-122"/>
                <a:cs typeface="Calibri" pitchFamily="34" charset="-120"/>
              </a:rPr>
              <a:t>brukes ikke til KI-trening</a:t>
            </a:r>
            <a:endParaRPr lang="en-US" sz="1800" dirty="0"/>
          </a:p>
        </p:txBody>
      </p:sp>
      <p:sp>
        <p:nvSpPr>
          <p:cNvPr id="19"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PROBLEMET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Kunnskapen om båten ligger spredt – og går i land med mannskapet</a:t>
            </a:r>
            <a:endParaRPr lang="en-US" sz="3000" dirty="0"/>
          </a:p>
        </p:txBody>
      </p:sp>
      <p:sp>
        <p:nvSpPr>
          <p:cNvPr id="4" name="Kort"/>
          <p:cNvSpPr/>
          <p:nvPr/>
        </p:nvSpPr>
        <p:spPr>
          <a:xfrm>
            <a:off x="548640" y="1828800"/>
            <a:ext cx="5394960" cy="3931920"/>
          </a:xfrm>
          <a:prstGeom prst="roundRect">
            <a:avLst>
              <a:gd name="adj" fmla="val 2791"/>
            </a:avLst>
          </a:prstGeom>
          <a:solidFill>
            <a:srgbClr val="0B1F33"/>
          </a:solidFill>
          <a:ln/>
        </p:spPr>
      </p:sp>
      <p:sp>
        <p:nvSpPr>
          <p:cNvPr id="5" name="Text 3"/>
          <p:cNvSpPr txBox="1"/>
          <p:nvPr/>
        </p:nvSpPr>
        <p:spPr>
          <a:xfrm>
            <a:off x="914400" y="2148840"/>
            <a:ext cx="4663440" cy="3383280"/>
          </a:xfrm>
          <a:prstGeom prst="rect">
            <a:avLst/>
          </a:prstGeom>
          <a:noFill/>
          <a:ln/>
        </p:spPr>
        <p:txBody>
          <a:bodyPr wrap="square" lIns="0" tIns="0" rIns="0" bIns="0" rtlCol="0" anchor="t"/>
          <a:lstStyle/>
          <a:p>
            <a:pPr indent="0" marL="0">
              <a:buNone/>
            </a:pPr>
            <a:r>
              <a:rPr lang="en-US" sz="1200" b="1" spc="200" kern="0" dirty="0">
                <a:solidFill>
                  <a:srgbClr val="7FD1D6"/>
                </a:solidFill>
                <a:latin typeface="Calibri" pitchFamily="34" charset="0"/>
                <a:ea typeface="Calibri" pitchFamily="34" charset="-122"/>
                <a:cs typeface="Calibri" pitchFamily="34" charset="-120"/>
              </a:rPr>
              <a:t>ET TYPISK SCENARIO</a:t>
            </a:r>
            <a:endParaRPr lang="en-US" sz="1200" dirty="0"/>
          </a:p>
          <a:p>
            <a:pPr indent="0" marL="0">
              <a:buNone/>
            </a:pPr>
            <a:r>
              <a:rPr lang="en-US" sz="800" dirty="0">
                <a:solidFill>
                  <a:srgbClr val="1B2A38"/>
                </a:solidFill>
                <a:latin typeface="Calibri" pitchFamily="34" charset="0"/>
                <a:ea typeface="Calibri" pitchFamily="34" charset="-122"/>
                <a:cs typeface="Calibri" pitchFamily="34" charset="-120"/>
              </a:rPr>
              <a:t> </a:t>
            </a:r>
            <a:endParaRPr lang="en-US" sz="1200" dirty="0"/>
          </a:p>
          <a:p>
            <a:pPr indent="0" marL="0">
              <a:buNone/>
            </a:pPr>
            <a:r>
              <a:rPr lang="en-US" sz="2000" dirty="0">
                <a:solidFill>
                  <a:srgbClr val="FFFFFF"/>
                </a:solidFill>
                <a:latin typeface="Calibri" pitchFamily="34" charset="0"/>
                <a:ea typeface="Calibri" pitchFamily="34" charset="-122"/>
                <a:cs typeface="Calibri" pitchFamily="34" charset="-120"/>
              </a:rPr>
              <a:t>Kl. 03 i Barentshavet. Kjølevannspumpa på en hjelpemotor svikter – for tredje gang i år.</a:t>
            </a:r>
            <a:endParaRPr lang="en-US" sz="12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200" dirty="0"/>
          </a:p>
          <a:p>
            <a:pPr indent="0" marL="0">
              <a:buNone/>
            </a:pPr>
            <a:r>
              <a:rPr lang="en-US" sz="1600" dirty="0">
                <a:solidFill>
                  <a:srgbClr val="C9D6E0"/>
                </a:solidFill>
                <a:latin typeface="Calibri" pitchFamily="34" charset="0"/>
                <a:ea typeface="Calibri" pitchFamily="34" charset="-122"/>
                <a:cs typeface="Calibri" pitchFamily="34" charset="-120"/>
              </a:rPr>
              <a:t>Maskinsjefen på vakt må finne ut hva som ble gjort sist, hvilke deler som ble byttet og hva leverandøren anbefalte. Forrige maskinsjef er i land.</a:t>
            </a:r>
            <a:endParaRPr lang="en-US" sz="1200" dirty="0"/>
          </a:p>
        </p:txBody>
      </p:sp>
      <p:sp>
        <p:nvSpPr>
          <p:cNvPr id="6" name="Text 4"/>
          <p:cNvSpPr txBox="1"/>
          <p:nvPr/>
        </p:nvSpPr>
        <p:spPr>
          <a:xfrm>
            <a:off x="6400800" y="1828800"/>
            <a:ext cx="5212080" cy="36576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Svaret ligger i dag spredt på:</a:t>
            </a:r>
            <a:endParaRPr lang="en-US" sz="1700" dirty="0"/>
          </a:p>
        </p:txBody>
      </p:sp>
      <p:sp>
        <p:nvSpPr>
          <p:cNvPr id="7" name="Ikon-sirkel"/>
          <p:cNvSpPr/>
          <p:nvPr/>
        </p:nvSpPr>
        <p:spPr>
          <a:xfrm>
            <a:off x="6400800" y="2377440"/>
            <a:ext cx="548640" cy="548640"/>
          </a:xfrm>
          <a:prstGeom prst="ellipse">
            <a:avLst/>
          </a:prstGeom>
          <a:solidFill>
            <a:srgbClr val="DDE7EE"/>
          </a:solidFill>
          <a:ln/>
        </p:spPr>
      </p:sp>
      <p:pic>
        <p:nvPicPr>
          <p:cNvPr id="8" name="Ikon FaTableList" descr="preencoded.png">    </p:cNvPr>
          <p:cNvPicPr>
            <a:picLocks noChangeAspect="1"/>
          </p:cNvPicPr>
          <p:nvPr/>
        </p:nvPicPr>
        <p:blipFill>
          <a:blip r:embed="rId1"/>
          <a:stretch>
            <a:fillRect/>
          </a:stretch>
        </p:blipFill>
        <p:spPr>
          <a:xfrm>
            <a:off x="6532474" y="2509114"/>
            <a:ext cx="285293" cy="285293"/>
          </a:xfrm>
          <a:prstGeom prst="rect">
            <a:avLst/>
          </a:prstGeom>
        </p:spPr>
      </p:pic>
      <p:sp>
        <p:nvSpPr>
          <p:cNvPr id="9" name="Text 6"/>
          <p:cNvSpPr txBox="1"/>
          <p:nvPr/>
        </p:nvSpPr>
        <p:spPr>
          <a:xfrm>
            <a:off x="7132320" y="2359152"/>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Vedlikeholdssystemet</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ofte ett av flere systemer om bord</a:t>
            </a:r>
            <a:endParaRPr lang="en-US" sz="1600" dirty="0"/>
          </a:p>
        </p:txBody>
      </p:sp>
      <p:sp>
        <p:nvSpPr>
          <p:cNvPr id="10" name="Ikon-sirkel"/>
          <p:cNvSpPr/>
          <p:nvPr/>
        </p:nvSpPr>
        <p:spPr>
          <a:xfrm>
            <a:off x="6400800" y="3182112"/>
            <a:ext cx="548640" cy="548640"/>
          </a:xfrm>
          <a:prstGeom prst="ellipse">
            <a:avLst/>
          </a:prstGeom>
          <a:solidFill>
            <a:srgbClr val="DDE7EE"/>
          </a:solidFill>
          <a:ln/>
        </p:spPr>
      </p:sp>
      <p:pic>
        <p:nvPicPr>
          <p:cNvPr id="11" name="Ikon FaEnvelope" descr="preencoded.png">    </p:cNvPr>
          <p:cNvPicPr>
            <a:picLocks noChangeAspect="1"/>
          </p:cNvPicPr>
          <p:nvPr/>
        </p:nvPicPr>
        <p:blipFill>
          <a:blip r:embed="rId2"/>
          <a:stretch>
            <a:fillRect/>
          </a:stretch>
        </p:blipFill>
        <p:spPr>
          <a:xfrm>
            <a:off x="6532474" y="3313786"/>
            <a:ext cx="285293" cy="285293"/>
          </a:xfrm>
          <a:prstGeom prst="rect">
            <a:avLst/>
          </a:prstGeom>
        </p:spPr>
      </p:pic>
      <p:sp>
        <p:nvSpPr>
          <p:cNvPr id="12" name="Text 8"/>
          <p:cNvSpPr txBox="1"/>
          <p:nvPr/>
        </p:nvSpPr>
        <p:spPr>
          <a:xfrm>
            <a:off x="7132320" y="3163824"/>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E-post og telefon</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mellom båt, land og leverandør</a:t>
            </a:r>
            <a:endParaRPr lang="en-US" sz="1600" dirty="0"/>
          </a:p>
        </p:txBody>
      </p:sp>
      <p:sp>
        <p:nvSpPr>
          <p:cNvPr id="13" name="Ikon-sirkel"/>
          <p:cNvSpPr/>
          <p:nvPr/>
        </p:nvSpPr>
        <p:spPr>
          <a:xfrm>
            <a:off x="6400800" y="3986784"/>
            <a:ext cx="548640" cy="548640"/>
          </a:xfrm>
          <a:prstGeom prst="ellipse">
            <a:avLst/>
          </a:prstGeom>
          <a:solidFill>
            <a:srgbClr val="DDE7EE"/>
          </a:solidFill>
          <a:ln/>
        </p:spPr>
      </p:sp>
      <p:pic>
        <p:nvPicPr>
          <p:cNvPr id="14" name="Ikon FaBook" descr="preencoded.png">    </p:cNvPr>
          <p:cNvPicPr>
            <a:picLocks noChangeAspect="1"/>
          </p:cNvPicPr>
          <p:nvPr/>
        </p:nvPicPr>
        <p:blipFill>
          <a:blip r:embed="rId3"/>
          <a:stretch>
            <a:fillRect/>
          </a:stretch>
        </p:blipFill>
        <p:spPr>
          <a:xfrm>
            <a:off x="6532474" y="4118458"/>
            <a:ext cx="285293" cy="285293"/>
          </a:xfrm>
          <a:prstGeom prst="rect">
            <a:avLst/>
          </a:prstGeom>
        </p:spPr>
      </p:pic>
      <p:sp>
        <p:nvSpPr>
          <p:cNvPr id="15" name="Text 10"/>
          <p:cNvSpPr txBox="1"/>
          <p:nvPr/>
        </p:nvSpPr>
        <p:spPr>
          <a:xfrm>
            <a:off x="7132320" y="3968496"/>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Permer og manualer</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på papir eller i mapper på en PC</a:t>
            </a:r>
            <a:endParaRPr lang="en-US" sz="1600" dirty="0"/>
          </a:p>
        </p:txBody>
      </p:sp>
      <p:sp>
        <p:nvSpPr>
          <p:cNvPr id="16" name="Ikon-sirkel"/>
          <p:cNvSpPr/>
          <p:nvPr/>
        </p:nvSpPr>
        <p:spPr>
          <a:xfrm>
            <a:off x="6400800" y="4791456"/>
            <a:ext cx="548640" cy="548640"/>
          </a:xfrm>
          <a:prstGeom prst="ellipse">
            <a:avLst/>
          </a:prstGeom>
          <a:solidFill>
            <a:srgbClr val="DDE7EE"/>
          </a:solidFill>
          <a:ln/>
        </p:spPr>
      </p:sp>
      <p:pic>
        <p:nvPicPr>
          <p:cNvPr id="17" name="Ikon FaUserClock" descr="preencoded.png">    </p:cNvPr>
          <p:cNvPicPr>
            <a:picLocks noChangeAspect="1"/>
          </p:cNvPicPr>
          <p:nvPr/>
        </p:nvPicPr>
        <p:blipFill>
          <a:blip r:embed="rId4"/>
          <a:stretch>
            <a:fillRect/>
          </a:stretch>
        </p:blipFill>
        <p:spPr>
          <a:xfrm>
            <a:off x="6532474" y="4923130"/>
            <a:ext cx="285293" cy="285293"/>
          </a:xfrm>
          <a:prstGeom prst="rect">
            <a:avLst/>
          </a:prstGeom>
        </p:spPr>
      </p:pic>
      <p:sp>
        <p:nvSpPr>
          <p:cNvPr id="18" name="Text 12"/>
          <p:cNvSpPr txBox="1"/>
          <p:nvPr/>
        </p:nvSpPr>
        <p:spPr>
          <a:xfrm>
            <a:off x="7132320" y="4773168"/>
            <a:ext cx="4480560" cy="68580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Hodet til forrige skift</a:t>
            </a:r>
            <a:endParaRPr lang="en-US" sz="1600" dirty="0"/>
          </a:p>
          <a:p>
            <a:pPr indent="0" marL="0">
              <a:buNone/>
            </a:pPr>
            <a:r>
              <a:rPr lang="en-US" sz="1400" dirty="0">
                <a:solidFill>
                  <a:srgbClr val="5B6B7A"/>
                </a:solidFill>
                <a:latin typeface="Calibri" pitchFamily="34" charset="0"/>
                <a:ea typeface="Calibri" pitchFamily="34" charset="-122"/>
                <a:cs typeface="Calibri" pitchFamily="34" charset="-120"/>
              </a:rPr>
              <a:t>som ikke er om bord nå</a:t>
            </a:r>
            <a:endParaRPr lang="en-US" sz="1600" dirty="0"/>
          </a:p>
        </p:txBody>
      </p:sp>
      <p:sp>
        <p:nvSpPr>
          <p:cNvPr id="19" name="Text 13"/>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Resultatet: tid går tapt, feil gjentar seg, og ledelsen på land mangler et samlet bilde av driften.</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LØSNINGEN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Nautech samler alt om båten på ett sted – og lar mannskapet spørre om det</a:t>
            </a:r>
            <a:endParaRPr lang="en-US" sz="3000" dirty="0"/>
          </a:p>
        </p:txBody>
      </p:sp>
      <p:sp>
        <p:nvSpPr>
          <p:cNvPr id="4" name="Ikon-sirkel"/>
          <p:cNvSpPr/>
          <p:nvPr/>
        </p:nvSpPr>
        <p:spPr>
          <a:xfrm>
            <a:off x="548640" y="1920240"/>
            <a:ext cx="685800" cy="685800"/>
          </a:xfrm>
          <a:prstGeom prst="ellipse">
            <a:avLst/>
          </a:prstGeom>
          <a:solidFill>
            <a:srgbClr val="0E7C86"/>
          </a:solidFill>
          <a:ln/>
        </p:spPr>
      </p:sp>
      <p:pic>
        <p:nvPicPr>
          <p:cNvPr id="5" name="Ikon FaLayerGroup" descr="preencoded.png">    </p:cNvPr>
          <p:cNvPicPr>
            <a:picLocks noChangeAspect="1"/>
          </p:cNvPicPr>
          <p:nvPr/>
        </p:nvPicPr>
        <p:blipFill>
          <a:blip r:embed="rId1"/>
          <a:stretch>
            <a:fillRect/>
          </a:stretch>
        </p:blipFill>
        <p:spPr>
          <a:xfrm>
            <a:off x="713232" y="2084832"/>
            <a:ext cx="356616" cy="356616"/>
          </a:xfrm>
          <a:prstGeom prst="rect">
            <a:avLst/>
          </a:prstGeom>
        </p:spPr>
      </p:pic>
      <p:sp>
        <p:nvSpPr>
          <p:cNvPr id="6" name="Text 3"/>
          <p:cNvSpPr txBox="1"/>
          <p:nvPr/>
        </p:nvSpPr>
        <p:spPr>
          <a:xfrm>
            <a:off x="1463040" y="187452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Ett system for hele driften</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Vedlikehold, sikkerhet, dokumenter, mannskap, fangst og økonomi. Erstatter flere systemer og regneark.</a:t>
            </a:r>
            <a:endParaRPr lang="en-US" sz="1900" dirty="0"/>
          </a:p>
        </p:txBody>
      </p:sp>
      <p:sp>
        <p:nvSpPr>
          <p:cNvPr id="7" name="Ikon-sirkel"/>
          <p:cNvSpPr/>
          <p:nvPr/>
        </p:nvSpPr>
        <p:spPr>
          <a:xfrm>
            <a:off x="548640" y="3246120"/>
            <a:ext cx="685800" cy="68580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13232" y="3410712"/>
            <a:ext cx="356616" cy="356616"/>
          </a:xfrm>
          <a:prstGeom prst="rect">
            <a:avLst/>
          </a:prstGeom>
        </p:spPr>
      </p:pic>
      <p:sp>
        <p:nvSpPr>
          <p:cNvPr id="9" name="Text 5"/>
          <p:cNvSpPr txBox="1"/>
          <p:nvPr/>
        </p:nvSpPr>
        <p:spPr>
          <a:xfrm>
            <a:off x="1463040" y="320040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KI som kjenner båten</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Søker i rederiets egne logger, manualer og dokumenter, og viser hvor svaret kommer fra.</a:t>
            </a:r>
            <a:endParaRPr lang="en-US" sz="1900" dirty="0"/>
          </a:p>
        </p:txBody>
      </p:sp>
      <p:sp>
        <p:nvSpPr>
          <p:cNvPr id="10" name="Ikon-sirkel"/>
          <p:cNvSpPr/>
          <p:nvPr/>
        </p:nvSpPr>
        <p:spPr>
          <a:xfrm>
            <a:off x="548640" y="4572000"/>
            <a:ext cx="685800" cy="685800"/>
          </a:xfrm>
          <a:prstGeom prst="ellipse">
            <a:avLst/>
          </a:prstGeom>
          <a:solidFill>
            <a:srgbClr val="0E7C86"/>
          </a:solidFill>
          <a:ln/>
        </p:spPr>
      </p:sp>
      <p:pic>
        <p:nvPicPr>
          <p:cNvPr id="11" name="Ikon FaPeopleArrows" descr="preencoded.png">    </p:cNvPr>
          <p:cNvPicPr>
            <a:picLocks noChangeAspect="1"/>
          </p:cNvPicPr>
          <p:nvPr/>
        </p:nvPicPr>
        <p:blipFill>
          <a:blip r:embed="rId3"/>
          <a:stretch>
            <a:fillRect/>
          </a:stretch>
        </p:blipFill>
        <p:spPr>
          <a:xfrm>
            <a:off x="713232" y="4736592"/>
            <a:ext cx="356616" cy="356616"/>
          </a:xfrm>
          <a:prstGeom prst="rect">
            <a:avLst/>
          </a:prstGeom>
        </p:spPr>
      </p:pic>
      <p:sp>
        <p:nvSpPr>
          <p:cNvPr id="12" name="Text 7"/>
          <p:cNvSpPr txBox="1"/>
          <p:nvPr/>
        </p:nvSpPr>
        <p:spPr>
          <a:xfrm>
            <a:off x="1463040" y="4526280"/>
            <a:ext cx="4480560" cy="1188720"/>
          </a:xfrm>
          <a:prstGeom prst="rect">
            <a:avLst/>
          </a:prstGeom>
          <a:noFill/>
          <a:ln/>
        </p:spPr>
        <p:txBody>
          <a:bodyPr wrap="square" lIns="0" tIns="0" rIns="0" bIns="0" rtlCol="0" anchor="t"/>
          <a:lstStyle/>
          <a:p>
            <a:pPr indent="0" marL="0">
              <a:buNone/>
            </a:pPr>
            <a:r>
              <a:rPr lang="en-US" sz="1900" b="1" dirty="0">
                <a:solidFill>
                  <a:srgbClr val="0B1F33"/>
                </a:solidFill>
                <a:latin typeface="Calibri" pitchFamily="34" charset="0"/>
                <a:ea typeface="Calibri" pitchFamily="34" charset="-122"/>
                <a:cs typeface="Calibri" pitchFamily="34" charset="-120"/>
              </a:rPr>
              <a:t>Samme bilde om bord og på land</a:t>
            </a:r>
            <a:endParaRPr lang="en-US" sz="1900" dirty="0"/>
          </a:p>
          <a:p>
            <a:pPr indent="0" marL="0">
              <a:buNone/>
            </a:pPr>
            <a:r>
              <a:rPr lang="en-US" sz="1500" dirty="0">
                <a:solidFill>
                  <a:srgbClr val="1B2A38"/>
                </a:solidFill>
                <a:latin typeface="Calibri" pitchFamily="34" charset="0"/>
                <a:ea typeface="Calibri" pitchFamily="34" charset="-122"/>
                <a:cs typeface="Calibri" pitchFamily="34" charset="-120"/>
              </a:rPr>
              <a:t>Maskinsjef, skipper og teknisk sjef ser de samme sakene, statusene og hvem som har ansvaret.</a:t>
            </a:r>
            <a:endParaRPr lang="en-US" sz="1900" dirty="0"/>
          </a:p>
        </p:txBody>
      </p:sp>
      <p:sp>
        <p:nvSpPr>
          <p:cNvPr id="13" name="SKJERMBILDE: Oversikten i Nautech (dashbord)"/>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4" name="Kamera" descr="preencoded.png">    </p:cNvPr>
          <p:cNvPicPr>
            <a:picLocks noChangeAspect="1"/>
          </p:cNvPicPr>
          <p:nvPr/>
        </p:nvPicPr>
        <p:blipFill>
          <a:blip r:embed="rId4"/>
          <a:stretch>
            <a:fillRect/>
          </a:stretch>
        </p:blipFill>
        <p:spPr>
          <a:xfrm>
            <a:off x="8633308" y="3108960"/>
            <a:ext cx="548640" cy="548640"/>
          </a:xfrm>
          <a:prstGeom prst="rect">
            <a:avLst/>
          </a:prstGeom>
        </p:spPr>
      </p:pic>
      <p:sp>
        <p:nvSpPr>
          <p:cNvPr id="15" name="Text 9"/>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Oversikten i Nautech (dashbord)</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SLIK VIRKER DET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Eksempel: Pumpa svikter igjen – slik hjelper Nautech</a:t>
            </a:r>
            <a:endParaRPr lang="en-US" sz="3000" dirty="0"/>
          </a:p>
        </p:txBody>
      </p:sp>
      <p:sp>
        <p:nvSpPr>
          <p:cNvPr id="4" name="Shape 2"/>
          <p:cNvSpPr/>
          <p:nvPr/>
        </p:nvSpPr>
        <p:spPr>
          <a:xfrm>
            <a:off x="548640" y="1874520"/>
            <a:ext cx="548640" cy="548640"/>
          </a:xfrm>
          <a:prstGeom prst="ellipse">
            <a:avLst/>
          </a:prstGeom>
          <a:solidFill>
            <a:srgbClr val="0E7C86"/>
          </a:solidFill>
          <a:ln/>
        </p:spPr>
      </p:sp>
      <p:sp>
        <p:nvSpPr>
          <p:cNvPr id="5" name="Text 3"/>
          <p:cNvSpPr txBox="1"/>
          <p:nvPr/>
        </p:nvSpPr>
        <p:spPr>
          <a:xfrm>
            <a:off x="548640" y="187452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6" name="Text 4"/>
          <p:cNvSpPr txBox="1"/>
          <p:nvPr/>
        </p:nvSpPr>
        <p:spPr>
          <a:xfrm>
            <a:off x="1325880" y="182880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Spør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Maskinsjefen skriver: «Hva vet vi om kjølevannspumpa på hjelpemotor 2?»</a:t>
            </a:r>
            <a:endParaRPr lang="en-US" sz="1700" dirty="0"/>
          </a:p>
        </p:txBody>
      </p:sp>
      <p:sp>
        <p:nvSpPr>
          <p:cNvPr id="7" name="Shape 5"/>
          <p:cNvSpPr/>
          <p:nvPr/>
        </p:nvSpPr>
        <p:spPr>
          <a:xfrm>
            <a:off x="548640" y="2880360"/>
            <a:ext cx="548640" cy="548640"/>
          </a:xfrm>
          <a:prstGeom prst="ellipse">
            <a:avLst/>
          </a:prstGeom>
          <a:solidFill>
            <a:srgbClr val="0E7C86"/>
          </a:solidFill>
          <a:ln/>
        </p:spPr>
      </p:sp>
      <p:sp>
        <p:nvSpPr>
          <p:cNvPr id="8" name="Text 6"/>
          <p:cNvSpPr txBox="1"/>
          <p:nvPr/>
        </p:nvSpPr>
        <p:spPr>
          <a:xfrm>
            <a:off x="548640" y="288036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9" name="Text 7"/>
          <p:cNvSpPr txBox="1"/>
          <p:nvPr/>
        </p:nvSpPr>
        <p:spPr>
          <a:xfrm>
            <a:off x="1325880" y="283464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Få svar med kilde</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Nautech henter tidligere arbeidsordrer, byttede deler og riktig side i manualen.</a:t>
            </a:r>
            <a:endParaRPr lang="en-US" sz="1700" dirty="0"/>
          </a:p>
        </p:txBody>
      </p:sp>
      <p:sp>
        <p:nvSpPr>
          <p:cNvPr id="10" name="Shape 8"/>
          <p:cNvSpPr/>
          <p:nvPr/>
        </p:nvSpPr>
        <p:spPr>
          <a:xfrm>
            <a:off x="548640" y="3886200"/>
            <a:ext cx="548640" cy="548640"/>
          </a:xfrm>
          <a:prstGeom prst="ellipse">
            <a:avLst/>
          </a:prstGeom>
          <a:solidFill>
            <a:srgbClr val="0E7C86"/>
          </a:solidFill>
          <a:ln/>
        </p:spPr>
      </p:sp>
      <p:sp>
        <p:nvSpPr>
          <p:cNvPr id="11" name="Text 9"/>
          <p:cNvSpPr txBox="1"/>
          <p:nvPr/>
        </p:nvSpPr>
        <p:spPr>
          <a:xfrm>
            <a:off x="548640" y="388620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12" name="Text 10"/>
          <p:cNvSpPr txBox="1"/>
          <p:nvPr/>
        </p:nvSpPr>
        <p:spPr>
          <a:xfrm>
            <a:off x="1325880" y="384048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Bestem tiltak</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Fagpersonen vurderer svaret og oppretter arbeidsordren direkte.</a:t>
            </a:r>
            <a:endParaRPr lang="en-US" sz="1700" dirty="0"/>
          </a:p>
        </p:txBody>
      </p:sp>
      <p:sp>
        <p:nvSpPr>
          <p:cNvPr id="13" name="Shape 11"/>
          <p:cNvSpPr/>
          <p:nvPr/>
        </p:nvSpPr>
        <p:spPr>
          <a:xfrm>
            <a:off x="548640" y="4892040"/>
            <a:ext cx="548640" cy="548640"/>
          </a:xfrm>
          <a:prstGeom prst="ellipse">
            <a:avLst/>
          </a:prstGeom>
          <a:solidFill>
            <a:srgbClr val="0E7C86"/>
          </a:solidFill>
          <a:ln/>
        </p:spPr>
      </p:sp>
      <p:sp>
        <p:nvSpPr>
          <p:cNvPr id="14" name="Text 12"/>
          <p:cNvSpPr txBox="1"/>
          <p:nvPr/>
        </p:nvSpPr>
        <p:spPr>
          <a:xfrm>
            <a:off x="548640" y="4892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15" name="Text 13"/>
          <p:cNvSpPr txBox="1"/>
          <p:nvPr/>
        </p:nvSpPr>
        <p:spPr>
          <a:xfrm>
            <a:off x="1325880" y="4846320"/>
            <a:ext cx="4663440" cy="91440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Overlever</a:t>
            </a:r>
            <a:endParaRPr lang="en-US" sz="1700" dirty="0"/>
          </a:p>
          <a:p>
            <a:pPr indent="0" marL="0">
              <a:buNone/>
            </a:pPr>
            <a:r>
              <a:rPr lang="en-US" sz="1500" dirty="0">
                <a:solidFill>
                  <a:srgbClr val="1B2A38"/>
                </a:solidFill>
                <a:latin typeface="Calibri" pitchFamily="34" charset="0"/>
                <a:ea typeface="Calibri" pitchFamily="34" charset="-122"/>
                <a:cs typeface="Calibri" pitchFamily="34" charset="-120"/>
              </a:rPr>
              <a:t>Neste skift og teknisk sjef på land ser status og hvem som har ansvaret.</a:t>
            </a:r>
            <a:endParaRPr lang="en-US" sz="1700" dirty="0"/>
          </a:p>
        </p:txBody>
      </p:sp>
      <p:sp>
        <p:nvSpPr>
          <p:cNvPr id="16" name="SKJERMBILDE: KI-assistenten: spørsmål om pumpa, med svar og kildehenvisning"/>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7" name="Kamera" descr="preencoded.png">    </p:cNvPr>
          <p:cNvPicPr>
            <a:picLocks noChangeAspect="1"/>
          </p:cNvPicPr>
          <p:nvPr/>
        </p:nvPicPr>
        <p:blipFill>
          <a:blip r:embed="rId1"/>
          <a:stretch>
            <a:fillRect/>
          </a:stretch>
        </p:blipFill>
        <p:spPr>
          <a:xfrm>
            <a:off x="8633308" y="3108960"/>
            <a:ext cx="548640" cy="548640"/>
          </a:xfrm>
          <a:prstGeom prst="rect">
            <a:avLst/>
          </a:prstGeom>
        </p:spPr>
      </p:pic>
      <p:sp>
        <p:nvSpPr>
          <p:cNvPr id="18" name="Text 15"/>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KI-assistenten: spørsmål om pumpa, med svar og kildehenvisning</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PRODUKTET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14 moduler dekker hele driften av et fiskefartøy</a:t>
            </a:r>
            <a:endParaRPr lang="en-US" sz="3000" dirty="0"/>
          </a:p>
        </p:txBody>
      </p:sp>
      <p:sp>
        <p:nvSpPr>
          <p:cNvPr id="4" name="Kort"/>
          <p:cNvSpPr/>
          <p:nvPr/>
        </p:nvSpPr>
        <p:spPr>
          <a:xfrm>
            <a:off x="548640" y="1828800"/>
            <a:ext cx="2567864" cy="3840480"/>
          </a:xfrm>
          <a:prstGeom prst="roundRect">
            <a:avLst>
              <a:gd name="adj" fmla="val 4273"/>
            </a:avLst>
          </a:prstGeom>
          <a:solidFill>
            <a:srgbClr val="EEF3F6"/>
          </a:solidFill>
          <a:ln/>
        </p:spPr>
      </p:sp>
      <p:sp>
        <p:nvSpPr>
          <p:cNvPr id="5" name="Ikon-sirkel"/>
          <p:cNvSpPr/>
          <p:nvPr/>
        </p:nvSpPr>
        <p:spPr>
          <a:xfrm>
            <a:off x="822960" y="2103120"/>
            <a:ext cx="640080" cy="640080"/>
          </a:xfrm>
          <a:prstGeom prst="ellipse">
            <a:avLst/>
          </a:prstGeom>
          <a:solidFill>
            <a:srgbClr val="0E7C86"/>
          </a:solidFill>
          <a:ln/>
        </p:spPr>
      </p:sp>
      <p:pic>
        <p:nvPicPr>
          <p:cNvPr id="6" name="Ikon FaGears" descr="preencoded.png">    </p:cNvPr>
          <p:cNvPicPr>
            <a:picLocks noChangeAspect="1"/>
          </p:cNvPicPr>
          <p:nvPr/>
        </p:nvPicPr>
        <p:blipFill>
          <a:blip r:embed="rId1"/>
          <a:stretch>
            <a:fillRect/>
          </a:stretch>
        </p:blipFill>
        <p:spPr>
          <a:xfrm>
            <a:off x="976579" y="2256739"/>
            <a:ext cx="332842" cy="332842"/>
          </a:xfrm>
          <a:prstGeom prst="rect">
            <a:avLst/>
          </a:prstGeom>
        </p:spPr>
      </p:pic>
      <p:sp>
        <p:nvSpPr>
          <p:cNvPr id="7" name="Text 4"/>
          <p:cNvSpPr txBox="1"/>
          <p:nvPr/>
        </p:nvSpPr>
        <p:spPr>
          <a:xfrm>
            <a:off x="822960"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Drift</a:t>
            </a:r>
            <a:endParaRPr lang="en-US" sz="1800" dirty="0"/>
          </a:p>
        </p:txBody>
      </p:sp>
      <p:sp>
        <p:nvSpPr>
          <p:cNvPr id="8" name="Text 5"/>
          <p:cNvSpPr txBox="1"/>
          <p:nvPr/>
        </p:nvSpPr>
        <p:spPr>
          <a:xfrm>
            <a:off x="822960"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Vedlikehold</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Innkjøp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Seilaser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Flåte</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Fiskeri: fangst, kvoter og rapportering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Mannskap</a:t>
            </a:r>
            <a:endParaRPr lang="en-US" sz="1500" dirty="0"/>
          </a:p>
        </p:txBody>
      </p:sp>
      <p:sp>
        <p:nvSpPr>
          <p:cNvPr id="9" name="Kort"/>
          <p:cNvSpPr/>
          <p:nvPr/>
        </p:nvSpPr>
        <p:spPr>
          <a:xfrm>
            <a:off x="3390824" y="1828800"/>
            <a:ext cx="2567864" cy="3840480"/>
          </a:xfrm>
          <a:prstGeom prst="roundRect">
            <a:avLst>
              <a:gd name="adj" fmla="val 4273"/>
            </a:avLst>
          </a:prstGeom>
          <a:solidFill>
            <a:srgbClr val="EEF3F6"/>
          </a:solidFill>
          <a:ln/>
        </p:spPr>
      </p:sp>
      <p:sp>
        <p:nvSpPr>
          <p:cNvPr id="10" name="Ikon-sirkel"/>
          <p:cNvSpPr/>
          <p:nvPr/>
        </p:nvSpPr>
        <p:spPr>
          <a:xfrm>
            <a:off x="3665144" y="2103120"/>
            <a:ext cx="640080" cy="640080"/>
          </a:xfrm>
          <a:prstGeom prst="ellipse">
            <a:avLst/>
          </a:prstGeom>
          <a:solidFill>
            <a:srgbClr val="0E7C86"/>
          </a:solidFill>
          <a:ln/>
        </p:spPr>
      </p:sp>
      <p:pic>
        <p:nvPicPr>
          <p:cNvPr id="11" name="Ikon FaShieldHalved" descr="preencoded.png">    </p:cNvPr>
          <p:cNvPicPr>
            <a:picLocks noChangeAspect="1"/>
          </p:cNvPicPr>
          <p:nvPr/>
        </p:nvPicPr>
        <p:blipFill>
          <a:blip r:embed="rId2"/>
          <a:stretch>
            <a:fillRect/>
          </a:stretch>
        </p:blipFill>
        <p:spPr>
          <a:xfrm>
            <a:off x="3818763" y="2256739"/>
            <a:ext cx="332842" cy="332842"/>
          </a:xfrm>
          <a:prstGeom prst="rect">
            <a:avLst/>
          </a:prstGeom>
        </p:spPr>
      </p:pic>
      <p:sp>
        <p:nvSpPr>
          <p:cNvPr id="12" name="Text 8"/>
          <p:cNvSpPr txBox="1"/>
          <p:nvPr/>
        </p:nvSpPr>
        <p:spPr>
          <a:xfrm>
            <a:off x="3665144"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Sikkerhet og krav</a:t>
            </a:r>
            <a:endParaRPr lang="en-US" sz="1800" dirty="0"/>
          </a:p>
        </p:txBody>
      </p:sp>
      <p:sp>
        <p:nvSpPr>
          <p:cNvPr id="13" name="Text 9"/>
          <p:cNvSpPr txBox="1"/>
          <p:nvPr/>
        </p:nvSpPr>
        <p:spPr>
          <a:xfrm>
            <a:off x="3665144"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Sikkerhet og kvalitet</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Utslipp</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Medisin og kjemikalier</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Dokumenter</a:t>
            </a:r>
            <a:endParaRPr lang="en-US" sz="1500" dirty="0"/>
          </a:p>
        </p:txBody>
      </p:sp>
      <p:sp>
        <p:nvSpPr>
          <p:cNvPr id="14" name="Kort"/>
          <p:cNvSpPr/>
          <p:nvPr/>
        </p:nvSpPr>
        <p:spPr>
          <a:xfrm>
            <a:off x="6233008" y="1828800"/>
            <a:ext cx="2567864" cy="3840480"/>
          </a:xfrm>
          <a:prstGeom prst="roundRect">
            <a:avLst>
              <a:gd name="adj" fmla="val 4273"/>
            </a:avLst>
          </a:prstGeom>
          <a:solidFill>
            <a:srgbClr val="EEF3F6"/>
          </a:solidFill>
          <a:ln/>
        </p:spPr>
      </p:sp>
      <p:sp>
        <p:nvSpPr>
          <p:cNvPr id="15" name="Ikon-sirkel"/>
          <p:cNvSpPr/>
          <p:nvPr/>
        </p:nvSpPr>
        <p:spPr>
          <a:xfrm>
            <a:off x="6507328" y="2103120"/>
            <a:ext cx="640080" cy="640080"/>
          </a:xfrm>
          <a:prstGeom prst="ellipse">
            <a:avLst/>
          </a:prstGeom>
          <a:solidFill>
            <a:srgbClr val="0E7C86"/>
          </a:solidFill>
          <a:ln/>
        </p:spPr>
      </p:sp>
      <p:pic>
        <p:nvPicPr>
          <p:cNvPr id="16" name="Ikon FaSackDollar" descr="preencoded.png">    </p:cNvPr>
          <p:cNvPicPr>
            <a:picLocks noChangeAspect="1"/>
          </p:cNvPicPr>
          <p:nvPr/>
        </p:nvPicPr>
        <p:blipFill>
          <a:blip r:embed="rId3"/>
          <a:stretch>
            <a:fillRect/>
          </a:stretch>
        </p:blipFill>
        <p:spPr>
          <a:xfrm>
            <a:off x="6660947" y="2256739"/>
            <a:ext cx="332842" cy="332842"/>
          </a:xfrm>
          <a:prstGeom prst="rect">
            <a:avLst/>
          </a:prstGeom>
        </p:spPr>
      </p:pic>
      <p:sp>
        <p:nvSpPr>
          <p:cNvPr id="17" name="Text 12"/>
          <p:cNvSpPr txBox="1"/>
          <p:nvPr/>
        </p:nvSpPr>
        <p:spPr>
          <a:xfrm>
            <a:off x="6507328" y="2880360"/>
            <a:ext cx="2110664" cy="41148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Forretning</a:t>
            </a:r>
            <a:endParaRPr lang="en-US" sz="1800" dirty="0"/>
          </a:p>
        </p:txBody>
      </p:sp>
      <p:sp>
        <p:nvSpPr>
          <p:cNvPr id="18" name="Text 13"/>
          <p:cNvSpPr txBox="1"/>
          <p:nvPr/>
        </p:nvSpPr>
        <p:spPr>
          <a:xfrm>
            <a:off x="6507328"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Salg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Befraktning</a:t>
            </a:r>
            <a:endParaRPr lang="en-US" sz="1500" dirty="0"/>
          </a:p>
          <a:p>
            <a:pPr marL="177800" indent="-177800">
              <a:spcAft>
                <a:spcPts val="500"/>
              </a:spcAft>
              <a:buSzPct val="100000"/>
              <a:buChar char="•"/>
            </a:pPr>
            <a:r>
              <a:rPr lang="en-US" sz="1500" dirty="0">
                <a:solidFill>
                  <a:srgbClr val="1B2A38"/>
                </a:solidFill>
                <a:latin typeface="Calibri" pitchFamily="34" charset="0"/>
                <a:ea typeface="Calibri" pitchFamily="34" charset="-122"/>
                <a:cs typeface="Calibri" pitchFamily="34" charset="-120"/>
              </a:rPr>
              <a:t>Økonomi</a:t>
            </a:r>
            <a:endParaRPr lang="en-US" sz="1500" dirty="0"/>
          </a:p>
        </p:txBody>
      </p:sp>
      <p:sp>
        <p:nvSpPr>
          <p:cNvPr id="19" name="Kort"/>
          <p:cNvSpPr/>
          <p:nvPr/>
        </p:nvSpPr>
        <p:spPr>
          <a:xfrm>
            <a:off x="9075191" y="1828800"/>
            <a:ext cx="2567864" cy="3840480"/>
          </a:xfrm>
          <a:prstGeom prst="roundRect">
            <a:avLst>
              <a:gd name="adj" fmla="val 4273"/>
            </a:avLst>
          </a:prstGeom>
          <a:solidFill>
            <a:srgbClr val="0B1F33"/>
          </a:solidFill>
          <a:ln/>
        </p:spPr>
      </p:sp>
      <p:sp>
        <p:nvSpPr>
          <p:cNvPr id="20" name="Ikon-sirkel"/>
          <p:cNvSpPr/>
          <p:nvPr/>
        </p:nvSpPr>
        <p:spPr>
          <a:xfrm>
            <a:off x="9349511" y="2103120"/>
            <a:ext cx="640080" cy="640080"/>
          </a:xfrm>
          <a:prstGeom prst="ellipse">
            <a:avLst/>
          </a:prstGeom>
          <a:solidFill>
            <a:srgbClr val="0E7C86"/>
          </a:solidFill>
          <a:ln/>
        </p:spPr>
      </p:sp>
      <p:pic>
        <p:nvPicPr>
          <p:cNvPr id="21" name="Ikon FaBrain" descr="preencoded.png">    </p:cNvPr>
          <p:cNvPicPr>
            <a:picLocks noChangeAspect="1"/>
          </p:cNvPicPr>
          <p:nvPr/>
        </p:nvPicPr>
        <p:blipFill>
          <a:blip r:embed="rId4"/>
          <a:stretch>
            <a:fillRect/>
          </a:stretch>
        </p:blipFill>
        <p:spPr>
          <a:xfrm>
            <a:off x="9503131" y="2256739"/>
            <a:ext cx="332842" cy="332842"/>
          </a:xfrm>
          <a:prstGeom prst="rect">
            <a:avLst/>
          </a:prstGeom>
        </p:spPr>
      </p:pic>
      <p:sp>
        <p:nvSpPr>
          <p:cNvPr id="22" name="Text 16"/>
          <p:cNvSpPr txBox="1"/>
          <p:nvPr/>
        </p:nvSpPr>
        <p:spPr>
          <a:xfrm>
            <a:off x="9349511" y="2880360"/>
            <a:ext cx="2110664" cy="411480"/>
          </a:xfrm>
          <a:prstGeom prst="rect">
            <a:avLst/>
          </a:prstGeom>
          <a:noFill/>
          <a:ln/>
        </p:spPr>
        <p:txBody>
          <a:bodyPr wrap="square" lIns="0" tIns="0" rIns="0" bIns="0"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KI-assistent</a:t>
            </a:r>
            <a:endParaRPr lang="en-US" sz="1800" dirty="0"/>
          </a:p>
        </p:txBody>
      </p:sp>
      <p:sp>
        <p:nvSpPr>
          <p:cNvPr id="23" name="Text 17"/>
          <p:cNvSpPr txBox="1"/>
          <p:nvPr/>
        </p:nvSpPr>
        <p:spPr>
          <a:xfrm>
            <a:off x="9349511" y="3383280"/>
            <a:ext cx="2110664" cy="2103120"/>
          </a:xfrm>
          <a:prstGeom prst="rect">
            <a:avLst/>
          </a:prstGeom>
          <a:noFill/>
          <a:ln/>
        </p:spPr>
        <p:txBody>
          <a:bodyPr wrap="square" lIns="0" tIns="0" rIns="0" bIns="0" rtlCol="0" anchor="t"/>
          <a:lstStyle/>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Svarer på spørsmål på tvers av alle modulene</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Varsler kommende vedlikeholdsbehov</a:t>
            </a:r>
            <a:endParaRPr lang="en-US" sz="1500" dirty="0"/>
          </a:p>
          <a:p>
            <a:pPr marL="177800" indent="-177800">
              <a:spcAft>
                <a:spcPts val="500"/>
              </a:spcAft>
              <a:buSzPct val="100000"/>
              <a:buChar char="•"/>
            </a:pPr>
            <a:r>
              <a:rPr lang="en-US" sz="1500" dirty="0">
                <a:solidFill>
                  <a:srgbClr val="DCE6EE"/>
                </a:solidFill>
                <a:latin typeface="Calibri" pitchFamily="34" charset="0"/>
                <a:ea typeface="Calibri" pitchFamily="34" charset="-122"/>
                <a:cs typeface="Calibri" pitchFamily="34" charset="-120"/>
              </a:rPr>
              <a:t>Viser alltid kilden</a:t>
            </a:r>
            <a:endParaRPr lang="en-US" sz="1500" dirty="0"/>
          </a:p>
        </p:txBody>
      </p:sp>
      <p:sp>
        <p:nvSpPr>
          <p:cNvPr id="24" name="Text 1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Kunden kan starte med vedlikehold på ett fartøy og legge til moduler og fartøy etter hvert.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BYGGET FOR FISKEFLÅTEN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Fiskerimodulen: det generelle systemer ikke er laget for</a:t>
            </a:r>
            <a:endParaRPr lang="en-US" sz="3000" dirty="0"/>
          </a:p>
        </p:txBody>
      </p:sp>
      <p:sp>
        <p:nvSpPr>
          <p:cNvPr id="4" name="Text 2"/>
          <p:cNvSpPr txBox="1"/>
          <p:nvPr/>
        </p:nvSpPr>
        <p:spPr>
          <a:xfrm>
            <a:off x="548640" y="1828800"/>
            <a:ext cx="5394960" cy="822960"/>
          </a:xfrm>
          <a:prstGeom prst="rect">
            <a:avLst/>
          </a:prstGeom>
          <a:noFill/>
          <a:ln/>
        </p:spPr>
        <p:txBody>
          <a:bodyPr wrap="square" lIns="0" tIns="0" rIns="0" bIns="0" rtlCol="0" anchor="t"/>
          <a:lstStyle/>
          <a:p>
            <a:pPr indent="0" marL="0">
              <a:buNone/>
            </a:pPr>
            <a:r>
              <a:rPr lang="en-US" sz="1600" dirty="0">
                <a:solidFill>
                  <a:srgbClr val="1B2A38"/>
                </a:solidFill>
                <a:latin typeface="Calibri" pitchFamily="34" charset="0"/>
                <a:ea typeface="Calibri" pitchFamily="34" charset="-122"/>
                <a:cs typeface="Calibri" pitchFamily="34" charset="-120"/>
              </a:rPr>
              <a:t>Fiskefartøy har krav og arbeidsoppgaver som handelsflåten ikke har. Nautech har dem innebygd.</a:t>
            </a:r>
            <a:endParaRPr lang="en-US" sz="1600" dirty="0"/>
          </a:p>
        </p:txBody>
      </p:sp>
      <p:sp>
        <p:nvSpPr>
          <p:cNvPr id="5" name="Ikon-sirkel"/>
          <p:cNvSpPr/>
          <p:nvPr/>
        </p:nvSpPr>
        <p:spPr>
          <a:xfrm>
            <a:off x="548640" y="2743200"/>
            <a:ext cx="548640" cy="548640"/>
          </a:xfrm>
          <a:prstGeom prst="ellipse">
            <a:avLst/>
          </a:prstGeom>
          <a:solidFill>
            <a:srgbClr val="0E7C86"/>
          </a:solidFill>
          <a:ln/>
        </p:spPr>
      </p:sp>
      <p:pic>
        <p:nvPicPr>
          <p:cNvPr id="6" name="Ikon FaFish" descr="preencoded.png">    </p:cNvPr>
          <p:cNvPicPr>
            <a:picLocks noChangeAspect="1"/>
          </p:cNvPicPr>
          <p:nvPr/>
        </p:nvPicPr>
        <p:blipFill>
          <a:blip r:embed="rId1"/>
          <a:stretch>
            <a:fillRect/>
          </a:stretch>
        </p:blipFill>
        <p:spPr>
          <a:xfrm>
            <a:off x="680314" y="2874874"/>
            <a:ext cx="285293" cy="285293"/>
          </a:xfrm>
          <a:prstGeom prst="rect">
            <a:avLst/>
          </a:prstGeom>
        </p:spPr>
      </p:pic>
      <p:sp>
        <p:nvSpPr>
          <p:cNvPr id="7" name="Text 4"/>
          <p:cNvSpPr txBox="1"/>
          <p:nvPr/>
        </p:nvSpPr>
        <p:spPr>
          <a:xfrm>
            <a:off x="1280160" y="270662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Fangst per hal og tur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Mengde, art, dyp og tid registreres om bord.</a:t>
            </a:r>
            <a:endParaRPr lang="en-US" sz="1600" dirty="0"/>
          </a:p>
        </p:txBody>
      </p:sp>
      <p:sp>
        <p:nvSpPr>
          <p:cNvPr id="8" name="Ikon-sirkel"/>
          <p:cNvSpPr/>
          <p:nvPr/>
        </p:nvSpPr>
        <p:spPr>
          <a:xfrm>
            <a:off x="548640" y="3520440"/>
            <a:ext cx="548640" cy="548640"/>
          </a:xfrm>
          <a:prstGeom prst="ellipse">
            <a:avLst/>
          </a:prstGeom>
          <a:solidFill>
            <a:srgbClr val="0E7C86"/>
          </a:solidFill>
          <a:ln/>
        </p:spPr>
      </p:sp>
      <p:pic>
        <p:nvPicPr>
          <p:cNvPr id="9" name="Ikon FaListCheck" descr="preencoded.png">    </p:cNvPr>
          <p:cNvPicPr>
            <a:picLocks noChangeAspect="1"/>
          </p:cNvPicPr>
          <p:nvPr/>
        </p:nvPicPr>
        <p:blipFill>
          <a:blip r:embed="rId2"/>
          <a:stretch>
            <a:fillRect/>
          </a:stretch>
        </p:blipFill>
        <p:spPr>
          <a:xfrm>
            <a:off x="680314" y="3652114"/>
            <a:ext cx="285293" cy="285293"/>
          </a:xfrm>
          <a:prstGeom prst="rect">
            <a:avLst/>
          </a:prstGeom>
        </p:spPr>
      </p:pic>
      <p:sp>
        <p:nvSpPr>
          <p:cNvPr id="10" name="Text 6"/>
          <p:cNvSpPr txBox="1"/>
          <p:nvPr/>
        </p:nvSpPr>
        <p:spPr>
          <a:xfrm>
            <a:off x="1280160" y="348386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Kvoter</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Se hvor mye som er fisket og hva som gjenstår.</a:t>
            </a:r>
            <a:endParaRPr lang="en-US" sz="1600" dirty="0"/>
          </a:p>
        </p:txBody>
      </p:sp>
      <p:sp>
        <p:nvSpPr>
          <p:cNvPr id="11" name="Ikon-sirkel"/>
          <p:cNvSpPr/>
          <p:nvPr/>
        </p:nvSpPr>
        <p:spPr>
          <a:xfrm>
            <a:off x="548640" y="4297680"/>
            <a:ext cx="548640" cy="548640"/>
          </a:xfrm>
          <a:prstGeom prst="ellipse">
            <a:avLst/>
          </a:prstGeom>
          <a:solidFill>
            <a:srgbClr val="0E7C86"/>
          </a:solidFill>
          <a:ln/>
        </p:spPr>
      </p:sp>
      <p:pic>
        <p:nvPicPr>
          <p:cNvPr id="12" name="Ikon FaClipboardCheck" descr="preencoded.png">    </p:cNvPr>
          <p:cNvPicPr>
            <a:picLocks noChangeAspect="1"/>
          </p:cNvPicPr>
          <p:nvPr/>
        </p:nvPicPr>
        <p:blipFill>
          <a:blip r:embed="rId3"/>
          <a:stretch>
            <a:fillRect/>
          </a:stretch>
        </p:blipFill>
        <p:spPr>
          <a:xfrm>
            <a:off x="680314" y="4429354"/>
            <a:ext cx="285293" cy="285293"/>
          </a:xfrm>
          <a:prstGeom prst="rect">
            <a:avLst/>
          </a:prstGeom>
        </p:spPr>
      </p:pic>
      <p:sp>
        <p:nvSpPr>
          <p:cNvPr id="13" name="Text 8"/>
          <p:cNvSpPr txBox="1"/>
          <p:nvPr/>
        </p:nvSpPr>
        <p:spPr>
          <a:xfrm>
            <a:off x="1280160" y="426110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Rapportering og krav</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Oversikt over ERS, VMS, HACCP, bifangst og landingsdeklarasjoner.</a:t>
            </a:r>
            <a:endParaRPr lang="en-US" sz="1600" dirty="0"/>
          </a:p>
        </p:txBody>
      </p:sp>
      <p:sp>
        <p:nvSpPr>
          <p:cNvPr id="14" name="Ikon-sirkel"/>
          <p:cNvSpPr/>
          <p:nvPr/>
        </p:nvSpPr>
        <p:spPr>
          <a:xfrm>
            <a:off x="548640" y="5074920"/>
            <a:ext cx="548640" cy="548640"/>
          </a:xfrm>
          <a:prstGeom prst="ellipse">
            <a:avLst/>
          </a:prstGeom>
          <a:solidFill>
            <a:srgbClr val="0E7C86"/>
          </a:solidFill>
          <a:ln/>
        </p:spPr>
      </p:sp>
      <p:pic>
        <p:nvPicPr>
          <p:cNvPr id="15" name="Ikon FaRoute" descr="preencoded.png">    </p:cNvPr>
          <p:cNvPicPr>
            <a:picLocks noChangeAspect="1"/>
          </p:cNvPicPr>
          <p:nvPr/>
        </p:nvPicPr>
        <p:blipFill>
          <a:blip r:embed="rId4"/>
          <a:stretch>
            <a:fillRect/>
          </a:stretch>
        </p:blipFill>
        <p:spPr>
          <a:xfrm>
            <a:off x="680314" y="5206594"/>
            <a:ext cx="285293" cy="285293"/>
          </a:xfrm>
          <a:prstGeom prst="rect">
            <a:avLst/>
          </a:prstGeom>
        </p:spPr>
      </p:pic>
      <p:sp>
        <p:nvSpPr>
          <p:cNvPr id="16" name="Text 10"/>
          <p:cNvSpPr txBox="1"/>
          <p:nvPr/>
        </p:nvSpPr>
        <p:spPr>
          <a:xfrm>
            <a:off x="1280160" y="5038344"/>
            <a:ext cx="4663440" cy="731520"/>
          </a:xfrm>
          <a:prstGeom prst="rect">
            <a:avLst/>
          </a:prstGeom>
          <a:noFill/>
          <a:ln/>
        </p:spPr>
        <p:txBody>
          <a:bodyPr wrap="square" lIns="0" tIns="0" rIns="0" bIns="0" rtlCol="0" anchor="t"/>
          <a:lstStyle/>
          <a:p>
            <a:pPr indent="0" marL="0">
              <a:buNone/>
            </a:pPr>
            <a:r>
              <a:rPr lang="en-US" sz="1600" b="1" dirty="0">
                <a:solidFill>
                  <a:srgbClr val="0B1F33"/>
                </a:solidFill>
                <a:latin typeface="Calibri" pitchFamily="34" charset="0"/>
                <a:ea typeface="Calibri" pitchFamily="34" charset="-122"/>
                <a:cs typeface="Calibri" pitchFamily="34" charset="-120"/>
              </a:rPr>
              <a:t>Sporbarhet</a:t>
            </a:r>
            <a:endParaRPr lang="en-US" sz="1600" dirty="0"/>
          </a:p>
          <a:p>
            <a:pPr indent="0" marL="0">
              <a:buNone/>
            </a:pPr>
            <a:r>
              <a:rPr lang="en-US" sz="1400" dirty="0">
                <a:solidFill>
                  <a:srgbClr val="1B2A38"/>
                </a:solidFill>
                <a:latin typeface="Calibri" pitchFamily="34" charset="0"/>
                <a:ea typeface="Calibri" pitchFamily="34" charset="-122"/>
                <a:cs typeface="Calibri" pitchFamily="34" charset="-120"/>
              </a:rPr>
              <a:t>Følg fisken fra fangst til salg.</a:t>
            </a:r>
            <a:endParaRPr lang="en-US" sz="1600" dirty="0"/>
          </a:p>
        </p:txBody>
      </p:sp>
      <p:sp>
        <p:nvSpPr>
          <p:cNvPr id="17" name="SKJERMBILDE: Fiskerimodulen: fangst per hal eller samsvar (ERS, VMS, HACCP)"/>
          <p:cNvSpPr/>
          <p:nvPr/>
        </p:nvSpPr>
        <p:spPr>
          <a:xfrm>
            <a:off x="6172200" y="1828800"/>
            <a:ext cx="5470855" cy="3931920"/>
          </a:xfrm>
          <a:prstGeom prst="roundRect">
            <a:avLst>
              <a:gd name="adj" fmla="val 2326"/>
            </a:avLst>
          </a:prstGeom>
          <a:solidFill>
            <a:srgbClr val="EEF3F6"/>
          </a:solidFill>
          <a:ln w="19050">
            <a:solidFill>
              <a:srgbClr val="E8751A"/>
            </a:solidFill>
            <a:prstDash val="dash"/>
          </a:ln>
        </p:spPr>
      </p:sp>
      <p:pic>
        <p:nvPicPr>
          <p:cNvPr id="18" name="Kamera" descr="preencoded.png">    </p:cNvPr>
          <p:cNvPicPr>
            <a:picLocks noChangeAspect="1"/>
          </p:cNvPicPr>
          <p:nvPr/>
        </p:nvPicPr>
        <p:blipFill>
          <a:blip r:embed="rId5"/>
          <a:stretch>
            <a:fillRect/>
          </a:stretch>
        </p:blipFill>
        <p:spPr>
          <a:xfrm>
            <a:off x="8633308" y="3108960"/>
            <a:ext cx="548640" cy="548640"/>
          </a:xfrm>
          <a:prstGeom prst="rect">
            <a:avLst/>
          </a:prstGeom>
        </p:spPr>
      </p:pic>
      <p:sp>
        <p:nvSpPr>
          <p:cNvPr id="19" name="Text 12"/>
          <p:cNvSpPr txBox="1"/>
          <p:nvPr/>
        </p:nvSpPr>
        <p:spPr>
          <a:xfrm>
            <a:off x="6446520" y="3794760"/>
            <a:ext cx="4922215" cy="822960"/>
          </a:xfrm>
          <a:prstGeom prst="rect">
            <a:avLst/>
          </a:prstGeom>
          <a:noFill/>
          <a:ln/>
        </p:spPr>
        <p:txBody>
          <a:bodyPr wrap="square" lIns="0" tIns="0" rIns="0" bIns="0" rtlCol="0" anchor="t"/>
          <a:lstStyle/>
          <a:p>
            <a:pPr algn="ctr" indent="0" marL="0">
              <a:buNone/>
            </a:pPr>
            <a:r>
              <a:rPr lang="en-US" sz="1200" b="1" spc="100" kern="0" dirty="0">
                <a:solidFill>
                  <a:srgbClr val="E8751A"/>
                </a:solidFill>
              </a:rPr>
              <a:t>SETT INN SKJERMBILDE</a:t>
            </a:r>
            <a:endParaRPr lang="en-US" sz="1200" dirty="0"/>
          </a:p>
          <a:p>
            <a:pPr algn="ctr" indent="0" marL="0">
              <a:buNone/>
            </a:pPr>
            <a:r>
              <a:rPr lang="en-US" sz="1400" dirty="0">
                <a:solidFill>
                  <a:srgbClr val="1B2A38"/>
                </a:solidFill>
              </a:rPr>
              <a:t>Fiskerimodulen: fangst per hal eller samsvar (ERS, VMS, HACCP)</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KONKURRANSE</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Hvorfor Nautech vinner: bygget for fiskeflåten, med KI fra start</a:t>
            </a:r>
            <a:endParaRPr lang="en-US" sz="3000" dirty="0"/>
          </a:p>
        </p:txBody>
      </p:sp>
      <p:sp>
        <p:nvSpPr>
          <p:cNvPr id="4" name="Ikon-sirkel"/>
          <p:cNvSpPr/>
          <p:nvPr/>
        </p:nvSpPr>
        <p:spPr>
          <a:xfrm>
            <a:off x="548640" y="1874520"/>
            <a:ext cx="640080" cy="640080"/>
          </a:xfrm>
          <a:prstGeom prst="ellipse">
            <a:avLst/>
          </a:prstGeom>
          <a:solidFill>
            <a:srgbClr val="0E7C86"/>
          </a:solidFill>
          <a:ln/>
        </p:spPr>
      </p:sp>
      <p:pic>
        <p:nvPicPr>
          <p:cNvPr id="5" name="Ikon FaFish" descr="preencoded.png">    </p:cNvPr>
          <p:cNvPicPr>
            <a:picLocks noChangeAspect="1"/>
          </p:cNvPicPr>
          <p:nvPr/>
        </p:nvPicPr>
        <p:blipFill>
          <a:blip r:embed="rId1"/>
          <a:stretch>
            <a:fillRect/>
          </a:stretch>
        </p:blipFill>
        <p:spPr>
          <a:xfrm>
            <a:off x="702259" y="2028139"/>
            <a:ext cx="332842" cy="332842"/>
          </a:xfrm>
          <a:prstGeom prst="rect">
            <a:avLst/>
          </a:prstGeom>
        </p:spPr>
      </p:pic>
      <p:sp>
        <p:nvSpPr>
          <p:cNvPr id="6" name="Text 3"/>
          <p:cNvSpPr txBox="1"/>
          <p:nvPr/>
        </p:nvSpPr>
        <p:spPr>
          <a:xfrm>
            <a:off x="1417320" y="182880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Bygget for fiskeflåten</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Egen fiskerimodul med fangst per hal, kvoter, sporbarhet og oversikt over ERS, VMS og HACCP. Konkurrentene er brede systemer for mange typer fartøy.</a:t>
            </a:r>
            <a:endParaRPr lang="en-US" sz="1700" dirty="0"/>
          </a:p>
        </p:txBody>
      </p:sp>
      <p:sp>
        <p:nvSpPr>
          <p:cNvPr id="7" name="Ikon-sirkel"/>
          <p:cNvSpPr/>
          <p:nvPr/>
        </p:nvSpPr>
        <p:spPr>
          <a:xfrm>
            <a:off x="548640" y="3200400"/>
            <a:ext cx="640080" cy="640080"/>
          </a:xfrm>
          <a:prstGeom prst="ellipse">
            <a:avLst/>
          </a:prstGeom>
          <a:solidFill>
            <a:srgbClr val="0E7C86"/>
          </a:solidFill>
          <a:ln/>
        </p:spPr>
      </p:sp>
      <p:pic>
        <p:nvPicPr>
          <p:cNvPr id="8" name="Ikon FaBrain" descr="preencoded.png">    </p:cNvPr>
          <p:cNvPicPr>
            <a:picLocks noChangeAspect="1"/>
          </p:cNvPicPr>
          <p:nvPr/>
        </p:nvPicPr>
        <p:blipFill>
          <a:blip r:embed="rId2"/>
          <a:stretch>
            <a:fillRect/>
          </a:stretch>
        </p:blipFill>
        <p:spPr>
          <a:xfrm>
            <a:off x="702259" y="3354019"/>
            <a:ext cx="332842" cy="332842"/>
          </a:xfrm>
          <a:prstGeom prst="rect">
            <a:avLst/>
          </a:prstGeom>
        </p:spPr>
      </p:pic>
      <p:sp>
        <p:nvSpPr>
          <p:cNvPr id="9" name="Text 5"/>
          <p:cNvSpPr txBox="1"/>
          <p:nvPr/>
        </p:nvSpPr>
        <p:spPr>
          <a:xfrm>
            <a:off x="1417320" y="315468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KI fra start – ikke lagt på i etterkant</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KI-en bruker kundens egne data og viser kilden. Flere konkurrenter er først nå i gang med KI.</a:t>
            </a:r>
            <a:endParaRPr lang="en-US" sz="1700" dirty="0"/>
          </a:p>
        </p:txBody>
      </p:sp>
      <p:sp>
        <p:nvSpPr>
          <p:cNvPr id="10" name="Ikon-sirkel"/>
          <p:cNvSpPr/>
          <p:nvPr/>
        </p:nvSpPr>
        <p:spPr>
          <a:xfrm>
            <a:off x="548640" y="4526280"/>
            <a:ext cx="640080" cy="640080"/>
          </a:xfrm>
          <a:prstGeom prst="ellipse">
            <a:avLst/>
          </a:prstGeom>
          <a:solidFill>
            <a:srgbClr val="0E7C86"/>
          </a:solidFill>
          <a:ln/>
        </p:spPr>
      </p:sp>
      <p:pic>
        <p:nvPicPr>
          <p:cNvPr id="11" name="Ikon FaLock" descr="preencoded.png">    </p:cNvPr>
          <p:cNvPicPr>
            <a:picLocks noChangeAspect="1"/>
          </p:cNvPicPr>
          <p:nvPr/>
        </p:nvPicPr>
        <p:blipFill>
          <a:blip r:embed="rId3"/>
          <a:stretch>
            <a:fillRect/>
          </a:stretch>
        </p:blipFill>
        <p:spPr>
          <a:xfrm>
            <a:off x="702259" y="4679899"/>
            <a:ext cx="332842" cy="332842"/>
          </a:xfrm>
          <a:prstGeom prst="rect">
            <a:avLst/>
          </a:prstGeom>
        </p:spPr>
      </p:pic>
      <p:sp>
        <p:nvSpPr>
          <p:cNvPr id="12" name="Text 7"/>
          <p:cNvSpPr txBox="1"/>
          <p:nvPr/>
        </p:nvSpPr>
        <p:spPr>
          <a:xfrm>
            <a:off x="1417320" y="4480560"/>
            <a:ext cx="4160520" cy="1234440"/>
          </a:xfrm>
          <a:prstGeom prst="rect">
            <a:avLst/>
          </a:prstGeom>
          <a:noFill/>
          <a:ln/>
        </p:spPr>
        <p:txBody>
          <a:bodyPr wrap="square" lIns="0" tIns="0" rIns="0" bIns="0" rtlCol="0" anchor="t"/>
          <a:lstStyle/>
          <a:p>
            <a:pPr indent="0" marL="0">
              <a:buNone/>
            </a:pPr>
            <a:r>
              <a:rPr lang="en-US" sz="1700" b="1" dirty="0">
                <a:solidFill>
                  <a:srgbClr val="0B1F33"/>
                </a:solidFill>
                <a:latin typeface="Calibri" pitchFamily="34" charset="0"/>
                <a:ea typeface="Calibri" pitchFamily="34" charset="-122"/>
                <a:cs typeface="Calibri" pitchFamily="34" charset="-120"/>
              </a:rPr>
              <a:t>Data lagres i Norge</a:t>
            </a:r>
            <a:endParaRPr lang="en-US" sz="1700" dirty="0"/>
          </a:p>
          <a:p>
            <a:pPr indent="0" marL="0">
              <a:buNone/>
            </a:pPr>
            <a:r>
              <a:rPr lang="en-US" sz="1400" dirty="0">
                <a:solidFill>
                  <a:srgbClr val="1B2A38"/>
                </a:solidFill>
                <a:latin typeface="Calibri" pitchFamily="34" charset="0"/>
                <a:ea typeface="Calibri" pitchFamily="34" charset="-122"/>
                <a:cs typeface="Calibri" pitchFamily="34" charset="-120"/>
              </a:rPr>
              <a:t>På egen server i Norge. Kundens data brukes ikke til å trene KI-modeller.</a:t>
            </a:r>
            <a:endParaRPr lang="en-US" sz="17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0" y="1828800"/>
          <a:ext cx="5973775" cy="914400"/>
        </p:xfrm>
        <a:graphic>
          <a:graphicData uri="http://schemas.openxmlformats.org/drawingml/2006/table">
            <a:tbl>
              <a:tblPr/>
              <a:tblGrid>
                <a:gridCol w="1234440"/>
                <a:gridCol w="2377440"/>
                <a:gridCol w="2361895"/>
              </a:tblGrid>
              <a:tr h="47548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Leverandør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Målgruppe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KI i dag</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0B1F33"/>
                    </a:solidFill>
                  </a:tcPr>
                </a:tc>
              </a:tr>
              <a:tr h="475488">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Nautech</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Fiskefartøy</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b="1" dirty="0">
                          <a:solidFill>
                            <a:srgbClr val="0E7C86"/>
                          </a:solidFill>
                          <a:latin typeface="Calibri" pitchFamily="34" charset="0"/>
                          <a:ea typeface="Calibri" pitchFamily="34" charset="-122"/>
                          <a:cs typeface="Calibri" pitchFamily="34" charset="-120"/>
                        </a:rPr>
                        <a:t>KI-assistent på egne data, med kilde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CCOM X</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Mange fartøystyper, også fiske. DNV-godkjent vedlikehold.</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Ikke kjent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PreMaster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Bred maritim: havbruk, fiske, offshore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Annonsert i versjon 3.0, høsten 2026</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SERTICA</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Handelsflåte og marine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KI-assistent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AMOS</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Handelsflåte og offshore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KI i innkjøp</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r h="475488">
                <a:tc>
                  <a:txBody>
                    <a:bodyPr/>
                    <a:lstStyle/>
                    <a:p>
                      <a:pPr indent="0" marL="0">
                        <a:buNone/>
                      </a:pPr>
                      <a:r>
                        <a:rPr lang="en-US" sz="1300" b="1" dirty="0">
                          <a:solidFill>
                            <a:srgbClr val="1B2A38"/>
                          </a:solidFill>
                          <a:latin typeface="Calibri" pitchFamily="34" charset="0"/>
                          <a:ea typeface="Calibri" pitchFamily="34" charset="-122"/>
                          <a:cs typeface="Calibri" pitchFamily="34" charset="-120"/>
                        </a:rPr>
                        <a:t>TM Master</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Offshore og handelsflåte</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c>
                  <a:txBody>
                    <a:bodyPr/>
                    <a:lstStyle/>
                    <a:p>
                      <a:pPr indent="0" marL="0">
                        <a:buNone/>
                      </a:pPr>
                      <a:r>
                        <a:rPr lang="en-US" sz="1300" dirty="0">
                          <a:solidFill>
                            <a:srgbClr val="1B2A38"/>
                          </a:solidFill>
                          <a:latin typeface="Calibri" pitchFamily="34" charset="0"/>
                          <a:ea typeface="Calibri" pitchFamily="34" charset="-122"/>
                          <a:cs typeface="Calibri" pitchFamily="34" charset="-120"/>
                        </a:rPr>
                        <a:t>Ikke kjent</a:t>
                      </a:r>
                      <a:endParaRPr lang="en-US" sz="1300" dirty="0">
                        <a:latin typeface="Calibri" charset="0"/>
                        <a:ea typeface="Calibri" charset="0"/>
                        <a:cs typeface="Calibri" charset="0"/>
                      </a:endParaRPr>
                    </a:p>
                  </a:txBody>
                  <a:tcPr marL="76200" marR="76200" marT="38100" marB="38100" anchor="ctr">
                    <a:lnL w="9525" cap="flat" cmpd="sng" algn="ctr">
                      <a:solidFill>
                        <a:srgbClr val="C9D5DE"/>
                      </a:solidFill>
                      <a:prstDash val="solid"/>
                      <a:round/>
                      <a:headEnd type="none" w="med" len="med"/>
                      <a:tailEnd type="none" w="med" len="med"/>
                    </a:lnL>
                    <a:lnR w="9525" cap="flat" cmpd="sng" algn="ctr">
                      <a:solidFill>
                        <a:srgbClr val="C9D5DE"/>
                      </a:solidFill>
                      <a:prstDash val="solid"/>
                      <a:round/>
                      <a:headEnd type="none" w="med" len="med"/>
                      <a:tailEnd type="none" w="med" len="med"/>
                    </a:lnR>
                    <a:lnT w="9525" cap="flat" cmpd="sng" algn="ctr">
                      <a:solidFill>
                        <a:srgbClr val="C9D5DE"/>
                      </a:solidFill>
                      <a:prstDash val="solid"/>
                      <a:round/>
                      <a:headEnd type="none" w="med" len="med"/>
                      <a:tailEnd type="none" w="med" len="med"/>
                    </a:lnT>
                    <a:lnB w="9525" cap="flat" cmpd="sng" algn="ctr">
                      <a:solidFill>
                        <a:srgbClr val="C9D5DE"/>
                      </a:solidFill>
                      <a:prstDash val="solid"/>
                      <a:round/>
                      <a:headEnd type="none" w="med" len="med"/>
                      <a:tailEnd type="none" w="med" len="med"/>
                    </a:lnB>
                    <a:solidFill>
                      <a:srgbClr val="FFFFFF"/>
                    </a:solidFill>
                  </a:tcPr>
                </a:tc>
              </a:tr>
            </a:tbl>
          </a:graphicData>
        </a:graphic>
      </p:graphicFrame>
      <p:sp>
        <p:nvSpPr>
          <p:cNvPr id="14" name="Text 8"/>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Konkurrentene: basert på leverandørenes egne nettsider, oktober 2026. Ikke en funksjonstest.</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MARKED</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Vi starter i Norge – og samme type fartøy finnes i hele Europa</a:t>
            </a:r>
            <a:endParaRPr lang="en-US" sz="3000" dirty="0"/>
          </a:p>
        </p:txBody>
      </p:sp>
      <p:sp>
        <p:nvSpPr>
          <p:cNvPr id="4" name="Kort"/>
          <p:cNvSpPr/>
          <p:nvPr/>
        </p:nvSpPr>
        <p:spPr>
          <a:xfrm>
            <a:off x="548640" y="1874520"/>
            <a:ext cx="3246120" cy="3108960"/>
          </a:xfrm>
          <a:prstGeom prst="roundRect">
            <a:avLst>
              <a:gd name="adj" fmla="val 3529"/>
            </a:avLst>
          </a:prstGeom>
          <a:solidFill>
            <a:srgbClr val="EEF3F6"/>
          </a:solidFill>
          <a:ln/>
        </p:spPr>
      </p:sp>
      <p:sp>
        <p:nvSpPr>
          <p:cNvPr id="5" name="Text 3"/>
          <p:cNvSpPr txBox="1"/>
          <p:nvPr/>
        </p:nvSpPr>
        <p:spPr>
          <a:xfrm>
            <a:off x="868680" y="2103120"/>
            <a:ext cx="2606040" cy="2743200"/>
          </a:xfrm>
          <a:prstGeom prst="rect">
            <a:avLst/>
          </a:prstGeom>
          <a:noFill/>
          <a:ln/>
        </p:spPr>
        <p:txBody>
          <a:bodyPr wrap="square" lIns="0" tIns="0" rIns="0" bIns="0" rtlCol="0" anchor="t"/>
          <a:lstStyle/>
          <a:p>
            <a:pPr indent="0" marL="0">
              <a:buNone/>
            </a:pPr>
            <a:r>
              <a:rPr lang="en-US" sz="1300" b="1" spc="200" kern="0" dirty="0">
                <a:solidFill>
                  <a:srgbClr val="0E7C86"/>
                </a:solidFill>
                <a:latin typeface="Calibri" pitchFamily="34" charset="0"/>
                <a:ea typeface="Calibri" pitchFamily="34" charset="-122"/>
                <a:cs typeface="Calibri" pitchFamily="34" charset="-120"/>
              </a:rPr>
              <a:t>NORGE</a:t>
            </a:r>
            <a:endParaRPr lang="en-US" sz="1300" dirty="0"/>
          </a:p>
          <a:p>
            <a:pPr indent="0" marL="0">
              <a:buNone/>
            </a:pPr>
            <a:r>
              <a:rPr lang="en-US" sz="4800" b="1" dirty="0">
                <a:solidFill>
                  <a:srgbClr val="0B1F33"/>
                </a:solidFill>
                <a:latin typeface="Arial" pitchFamily="34" charset="0"/>
                <a:ea typeface="Arial" pitchFamily="34" charset="-122"/>
                <a:cs typeface="Arial" pitchFamily="34" charset="-120"/>
              </a:rPr>
              <a:t>260</a:t>
            </a:r>
            <a:endParaRPr lang="en-US" sz="1300" dirty="0"/>
          </a:p>
          <a:p>
            <a:pPr indent="0" marL="0">
              <a:buNone/>
            </a:pPr>
            <a:r>
              <a:rPr lang="en-US" sz="1500" dirty="0">
                <a:solidFill>
                  <a:srgbClr val="1B2A38"/>
                </a:solidFill>
                <a:latin typeface="Calibri" pitchFamily="34" charset="0"/>
                <a:ea typeface="Calibri" pitchFamily="34" charset="-122"/>
                <a:cs typeface="Calibri" pitchFamily="34" charset="-120"/>
              </a:rPr>
              <a:t>fiskefartøy på 28 meter eller mer</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0E7C86"/>
                </a:solidFill>
                <a:latin typeface="Calibri" pitchFamily="34" charset="0"/>
                <a:ea typeface="Calibri" pitchFamily="34" charset="-122"/>
                <a:cs typeface="Calibri" pitchFamily="34" charset="-120"/>
              </a:rPr>
              <a:t>≈ 44 MNOK per år</a:t>
            </a:r>
            <a:endParaRPr lang="en-US" sz="1300" dirty="0"/>
          </a:p>
        </p:txBody>
      </p:sp>
      <p:pic>
        <p:nvPicPr>
          <p:cNvPr id="6" name="Image 0" descr="preencoded.png">    </p:cNvPr>
          <p:cNvPicPr>
            <a:picLocks noChangeAspect="1"/>
          </p:cNvPicPr>
          <p:nvPr/>
        </p:nvPicPr>
        <p:blipFill>
          <a:blip r:embed="rId1"/>
          <a:stretch>
            <a:fillRect/>
          </a:stretch>
        </p:blipFill>
        <p:spPr>
          <a:xfrm>
            <a:off x="3950894" y="3246120"/>
            <a:ext cx="365760" cy="365760"/>
          </a:xfrm>
          <a:prstGeom prst="rect">
            <a:avLst/>
          </a:prstGeom>
        </p:spPr>
      </p:pic>
      <p:sp>
        <p:nvSpPr>
          <p:cNvPr id="7" name="Kort"/>
          <p:cNvSpPr/>
          <p:nvPr/>
        </p:nvSpPr>
        <p:spPr>
          <a:xfrm>
            <a:off x="4472788" y="1874520"/>
            <a:ext cx="3246120" cy="3108960"/>
          </a:xfrm>
          <a:prstGeom prst="roundRect">
            <a:avLst>
              <a:gd name="adj" fmla="val 3529"/>
            </a:avLst>
          </a:prstGeom>
          <a:solidFill>
            <a:srgbClr val="EEF3F6"/>
          </a:solidFill>
          <a:ln/>
        </p:spPr>
      </p:sp>
      <p:sp>
        <p:nvSpPr>
          <p:cNvPr id="8" name="Text 5"/>
          <p:cNvSpPr txBox="1"/>
          <p:nvPr/>
        </p:nvSpPr>
        <p:spPr>
          <a:xfrm>
            <a:off x="4792828" y="2103120"/>
            <a:ext cx="2606040" cy="2743200"/>
          </a:xfrm>
          <a:prstGeom prst="rect">
            <a:avLst/>
          </a:prstGeom>
          <a:noFill/>
          <a:ln/>
        </p:spPr>
        <p:txBody>
          <a:bodyPr wrap="square" lIns="0" tIns="0" rIns="0" bIns="0" rtlCol="0" anchor="t"/>
          <a:lstStyle/>
          <a:p>
            <a:pPr indent="0" marL="0">
              <a:buNone/>
            </a:pPr>
            <a:r>
              <a:rPr lang="en-US" sz="1300" b="1" spc="200" kern="0" dirty="0">
                <a:solidFill>
                  <a:srgbClr val="0E7C86"/>
                </a:solidFill>
                <a:latin typeface="Calibri" pitchFamily="34" charset="0"/>
                <a:ea typeface="Calibri" pitchFamily="34" charset="-122"/>
                <a:cs typeface="Calibri" pitchFamily="34" charset="-120"/>
              </a:rPr>
              <a:t>EU</a:t>
            </a:r>
            <a:endParaRPr lang="en-US" sz="1300" dirty="0"/>
          </a:p>
          <a:p>
            <a:pPr indent="0" marL="0">
              <a:buNone/>
            </a:pPr>
            <a:r>
              <a:rPr lang="en-US" sz="4800" b="1" dirty="0">
                <a:solidFill>
                  <a:srgbClr val="0B1F33"/>
                </a:solidFill>
                <a:latin typeface="Arial" pitchFamily="34" charset="0"/>
                <a:ea typeface="Arial" pitchFamily="34" charset="-122"/>
                <a:cs typeface="Arial" pitchFamily="34" charset="-120"/>
              </a:rPr>
              <a:t>2 270</a:t>
            </a:r>
            <a:endParaRPr lang="en-US" sz="1300" dirty="0"/>
          </a:p>
          <a:p>
            <a:pPr indent="0" marL="0">
              <a:buNone/>
            </a:pPr>
            <a:r>
              <a:rPr lang="en-US" sz="1500" dirty="0">
                <a:solidFill>
                  <a:srgbClr val="1B2A38"/>
                </a:solidFill>
                <a:latin typeface="Calibri" pitchFamily="34" charset="0"/>
                <a:ea typeface="Calibri" pitchFamily="34" charset="-122"/>
                <a:cs typeface="Calibri" pitchFamily="34" charset="-120"/>
              </a:rPr>
              <a:t>fiskefartøy over 24 meter</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0E7C86"/>
                </a:solidFill>
                <a:latin typeface="Calibri" pitchFamily="34" charset="0"/>
                <a:ea typeface="Calibri" pitchFamily="34" charset="-122"/>
                <a:cs typeface="Calibri" pitchFamily="34" charset="-120"/>
              </a:rPr>
              <a:t>≈ 381 MNOK per år</a:t>
            </a:r>
            <a:endParaRPr lang="en-US" sz="1300" dirty="0"/>
          </a:p>
        </p:txBody>
      </p:sp>
      <p:pic>
        <p:nvPicPr>
          <p:cNvPr id="9" name="Image 1" descr="preencoded.png">    </p:cNvPr>
          <p:cNvPicPr>
            <a:picLocks noChangeAspect="1"/>
          </p:cNvPicPr>
          <p:nvPr/>
        </p:nvPicPr>
        <p:blipFill>
          <a:blip r:embed="rId2"/>
          <a:stretch>
            <a:fillRect/>
          </a:stretch>
        </p:blipFill>
        <p:spPr>
          <a:xfrm>
            <a:off x="7875041" y="3246120"/>
            <a:ext cx="365760" cy="365760"/>
          </a:xfrm>
          <a:prstGeom prst="rect">
            <a:avLst/>
          </a:prstGeom>
        </p:spPr>
      </p:pic>
      <p:sp>
        <p:nvSpPr>
          <p:cNvPr id="10" name="Kort"/>
          <p:cNvSpPr/>
          <p:nvPr/>
        </p:nvSpPr>
        <p:spPr>
          <a:xfrm>
            <a:off x="8396935" y="1874520"/>
            <a:ext cx="3246120" cy="3108960"/>
          </a:xfrm>
          <a:prstGeom prst="roundRect">
            <a:avLst>
              <a:gd name="adj" fmla="val 3529"/>
            </a:avLst>
          </a:prstGeom>
          <a:solidFill>
            <a:srgbClr val="0B1F33"/>
          </a:solidFill>
          <a:ln/>
        </p:spPr>
      </p:sp>
      <p:sp>
        <p:nvSpPr>
          <p:cNvPr id="11" name="Text 7"/>
          <p:cNvSpPr txBox="1"/>
          <p:nvPr/>
        </p:nvSpPr>
        <p:spPr>
          <a:xfrm>
            <a:off x="8716975" y="2103120"/>
            <a:ext cx="2606040" cy="2743200"/>
          </a:xfrm>
          <a:prstGeom prst="rect">
            <a:avLst/>
          </a:prstGeom>
          <a:noFill/>
          <a:ln/>
        </p:spPr>
        <p:txBody>
          <a:bodyPr wrap="square" lIns="0" tIns="0" rIns="0" bIns="0" rtlCol="0" anchor="t"/>
          <a:lstStyle/>
          <a:p>
            <a:pPr indent="0" marL="0">
              <a:buNone/>
            </a:pPr>
            <a:r>
              <a:rPr lang="en-US" sz="1300" b="1" spc="200" kern="0" dirty="0">
                <a:solidFill>
                  <a:srgbClr val="7FD1D6"/>
                </a:solidFill>
                <a:latin typeface="Calibri" pitchFamily="34" charset="0"/>
                <a:ea typeface="Calibri" pitchFamily="34" charset="-122"/>
                <a:cs typeface="Calibri" pitchFamily="34" charset="-120"/>
              </a:rPr>
              <a:t>TIL SAMMEN</a:t>
            </a:r>
            <a:endParaRPr lang="en-US" sz="1300" dirty="0"/>
          </a:p>
          <a:p>
            <a:pPr indent="0" marL="0">
              <a:buNone/>
            </a:pPr>
            <a:r>
              <a:rPr lang="en-US" sz="4800" b="1" dirty="0">
                <a:solidFill>
                  <a:srgbClr val="FFFFFF"/>
                </a:solidFill>
                <a:latin typeface="Arial" pitchFamily="34" charset="0"/>
                <a:ea typeface="Arial" pitchFamily="34" charset="-122"/>
                <a:cs typeface="Arial" pitchFamily="34" charset="-120"/>
              </a:rPr>
              <a:t>≈ 2 500</a:t>
            </a:r>
            <a:endParaRPr lang="en-US" sz="1300" dirty="0"/>
          </a:p>
          <a:p>
            <a:pPr indent="0" marL="0">
              <a:buNone/>
            </a:pPr>
            <a:r>
              <a:rPr lang="en-US" sz="1500" dirty="0">
                <a:solidFill>
                  <a:srgbClr val="C9D6E0"/>
                </a:solidFill>
                <a:latin typeface="Calibri" pitchFamily="34" charset="0"/>
                <a:ea typeface="Calibri" pitchFamily="34" charset="-122"/>
                <a:cs typeface="Calibri" pitchFamily="34" charset="-120"/>
              </a:rPr>
              <a:t>fartøy i første målgruppe</a:t>
            </a:r>
            <a:endParaRPr lang="en-US" sz="1300" dirty="0"/>
          </a:p>
          <a:p>
            <a:pPr indent="0" marL="0">
              <a:buNone/>
            </a:pPr>
            <a:r>
              <a:rPr lang="en-US" sz="1000" dirty="0">
                <a:solidFill>
                  <a:srgbClr val="1B2A38"/>
                </a:solidFill>
                <a:latin typeface="Calibri" pitchFamily="34" charset="0"/>
                <a:ea typeface="Calibri" pitchFamily="34" charset="-122"/>
                <a:cs typeface="Calibri" pitchFamily="34" charset="-120"/>
              </a:rPr>
              <a:t> </a:t>
            </a:r>
            <a:endParaRPr lang="en-US" sz="1300" dirty="0"/>
          </a:p>
          <a:p>
            <a:pPr indent="0" marL="0">
              <a:buNone/>
            </a:pPr>
            <a:r>
              <a:rPr lang="en-US" sz="2000" b="1" dirty="0">
                <a:solidFill>
                  <a:srgbClr val="FFFFFF"/>
                </a:solidFill>
                <a:latin typeface="Calibri" pitchFamily="34" charset="0"/>
                <a:ea typeface="Calibri" pitchFamily="34" charset="-122"/>
                <a:cs typeface="Calibri" pitchFamily="34" charset="-120"/>
              </a:rPr>
              <a:t>≈ 425 MNOK per år</a:t>
            </a:r>
            <a:endParaRPr lang="en-US" sz="1300" dirty="0"/>
          </a:p>
        </p:txBody>
      </p:sp>
      <p:sp>
        <p:nvSpPr>
          <p:cNvPr id="12" name="Text 8"/>
          <p:cNvSpPr txBox="1"/>
          <p:nvPr/>
        </p:nvSpPr>
        <p:spPr>
          <a:xfrm>
            <a:off x="548640" y="5212080"/>
            <a:ext cx="11094415" cy="365760"/>
          </a:xfrm>
          <a:prstGeom prst="rect">
            <a:avLst/>
          </a:prstGeom>
          <a:noFill/>
          <a:ln/>
        </p:spPr>
        <p:txBody>
          <a:bodyPr wrap="square" lIns="0" tIns="0" rIns="0" bIns="0" rtlCol="0" anchor="t"/>
          <a:lstStyle/>
          <a:p>
            <a:pPr indent="0" marL="0">
              <a:buNone/>
            </a:pPr>
            <a:r>
              <a:rPr lang="en-US" sz="1500" b="1" dirty="0">
                <a:solidFill>
                  <a:srgbClr val="1B2A38"/>
                </a:solidFill>
                <a:latin typeface="Calibri" pitchFamily="34" charset="0"/>
                <a:ea typeface="Calibri" pitchFamily="34" charset="-122"/>
                <a:cs typeface="Calibri" pitchFamily="34" charset="-120"/>
              </a:rPr>
              <a:t>Ikke tallfestet ennå: </a:t>
            </a:r>
            <a:pPr indent="0" marL="0">
              <a:buNone/>
            </a:pPr>
            <a:r>
              <a:rPr lang="en-US" sz="1500" dirty="0">
                <a:solidFill>
                  <a:srgbClr val="1B2A38"/>
                </a:solidFill>
                <a:latin typeface="Calibri" pitchFamily="34" charset="0"/>
                <a:ea typeface="Calibri" pitchFamily="34" charset="-122"/>
                <a:cs typeface="Calibri" pitchFamily="34" charset="-120"/>
              </a:rPr>
              <a:t>havbruks- og servicefartøy, Island, Færøyane og Storbritannia.</a:t>
            </a:r>
            <a:endParaRPr lang="en-US" sz="1500" dirty="0"/>
          </a:p>
        </p:txBody>
      </p:sp>
      <p:sp>
        <p:nvSpPr>
          <p:cNvPr id="13" name="Text 9"/>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Årlig abonnementsverdi ved 168 000 kr per fartøy (alle moduler) og full dekning. Kilder: Fiskeridirektoratet, Nøkkeltal 2025 (foreløpige tall); EUs fartøyregister, 2021-tall.</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FORRETNINGSMODELL</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Abonnement per fartøy og modul – inntekten vokser med flåten</a:t>
            </a:r>
            <a:endParaRPr lang="en-US" sz="3000" dirty="0"/>
          </a:p>
        </p:txBody>
      </p:sp>
      <p:sp>
        <p:nvSpPr>
          <p:cNvPr id="4" name="Text 2"/>
          <p:cNvSpPr txBox="1"/>
          <p:nvPr/>
        </p:nvSpPr>
        <p:spPr>
          <a:xfrm>
            <a:off x="548640" y="1828800"/>
            <a:ext cx="5120640" cy="1737360"/>
          </a:xfrm>
          <a:prstGeom prst="rect">
            <a:avLst/>
          </a:prstGeom>
          <a:noFill/>
          <a:ln/>
        </p:spPr>
        <p:txBody>
          <a:bodyPr wrap="square" lIns="0" tIns="0" rIns="0" bIns="0" rtlCol="0" anchor="t"/>
          <a:lstStyle/>
          <a:p>
            <a:pPr indent="0" marL="0">
              <a:buNone/>
            </a:pPr>
            <a:r>
              <a:rPr lang="en-US" sz="5400" b="1" dirty="0">
                <a:solidFill>
                  <a:srgbClr val="0E7C86"/>
                </a:solidFill>
                <a:latin typeface="Arial" pitchFamily="34" charset="0"/>
                <a:ea typeface="Arial" pitchFamily="34" charset="-122"/>
                <a:cs typeface="Arial" pitchFamily="34" charset="-120"/>
              </a:rPr>
              <a:t>14 000 kr</a:t>
            </a:r>
            <a:endParaRPr lang="en-US" sz="5400" dirty="0"/>
          </a:p>
          <a:p>
            <a:pPr indent="0" marL="0">
              <a:buNone/>
            </a:pPr>
            <a:r>
              <a:rPr lang="en-US" sz="2000" dirty="0">
                <a:solidFill>
                  <a:srgbClr val="0B1F33"/>
                </a:solidFill>
                <a:latin typeface="Calibri" pitchFamily="34" charset="0"/>
                <a:ea typeface="Calibri" pitchFamily="34" charset="-122"/>
                <a:cs typeface="Calibri" pitchFamily="34" charset="-120"/>
              </a:rPr>
              <a:t>per fartøy per måned for alle 14 moduler</a:t>
            </a:r>
            <a:endParaRPr lang="en-US" sz="5400" dirty="0"/>
          </a:p>
          <a:p>
            <a:pPr indent="0" marL="0">
              <a:buNone/>
            </a:pPr>
            <a:r>
              <a:rPr lang="en-US" sz="1500" dirty="0">
                <a:solidFill>
                  <a:srgbClr val="5B6B7A"/>
                </a:solidFill>
                <a:latin typeface="Calibri" pitchFamily="34" charset="0"/>
                <a:ea typeface="Calibri" pitchFamily="34" charset="-122"/>
                <a:cs typeface="Calibri" pitchFamily="34" charset="-120"/>
              </a:rPr>
              <a:t>= 168 000 kr per fartøy per år, ekskl. mva.</a:t>
            </a:r>
            <a:endParaRPr lang="en-US" sz="5400" dirty="0"/>
          </a:p>
        </p:txBody>
      </p:sp>
      <p:sp>
        <p:nvSpPr>
          <p:cNvPr id="5" name="Ikon-sirkel"/>
          <p:cNvSpPr/>
          <p:nvPr/>
        </p:nvSpPr>
        <p:spPr>
          <a:xfrm>
            <a:off x="548640" y="3794760"/>
            <a:ext cx="411480" cy="411480"/>
          </a:xfrm>
          <a:prstGeom prst="ellipse">
            <a:avLst/>
          </a:prstGeom>
          <a:solidFill>
            <a:srgbClr val="DDE7EE"/>
          </a:solidFill>
          <a:ln/>
        </p:spPr>
      </p:sp>
      <p:pic>
        <p:nvPicPr>
          <p:cNvPr id="6" name="Ikon FaCheck" descr="preencoded.png">    </p:cNvPr>
          <p:cNvPicPr>
            <a:picLocks noChangeAspect="1"/>
          </p:cNvPicPr>
          <p:nvPr/>
        </p:nvPicPr>
        <p:blipFill>
          <a:blip r:embed="rId1"/>
          <a:stretch>
            <a:fillRect/>
          </a:stretch>
        </p:blipFill>
        <p:spPr>
          <a:xfrm>
            <a:off x="647395" y="3893515"/>
            <a:ext cx="213970" cy="213970"/>
          </a:xfrm>
          <a:prstGeom prst="rect">
            <a:avLst/>
          </a:prstGeom>
        </p:spPr>
      </p:pic>
      <p:sp>
        <p:nvSpPr>
          <p:cNvPr id="7" name="Text 4"/>
          <p:cNvSpPr txBox="1"/>
          <p:nvPr/>
        </p:nvSpPr>
        <p:spPr>
          <a:xfrm>
            <a:off x="1143000" y="3776472"/>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Moduler fra 1 000 kr per måned – kunden kan starte smått</a:t>
            </a:r>
            <a:endParaRPr lang="en-US" sz="1500" dirty="0"/>
          </a:p>
        </p:txBody>
      </p:sp>
      <p:sp>
        <p:nvSpPr>
          <p:cNvPr id="8" name="Ikon-sirkel"/>
          <p:cNvSpPr/>
          <p:nvPr/>
        </p:nvSpPr>
        <p:spPr>
          <a:xfrm>
            <a:off x="548640" y="4416552"/>
            <a:ext cx="411480" cy="411480"/>
          </a:xfrm>
          <a:prstGeom prst="ellipse">
            <a:avLst/>
          </a:prstGeom>
          <a:solidFill>
            <a:srgbClr val="DDE7EE"/>
          </a:solidFill>
          <a:ln/>
        </p:spPr>
      </p:sp>
      <p:pic>
        <p:nvPicPr>
          <p:cNvPr id="9" name="Ikon FaCheck" descr="preencoded.png">    </p:cNvPr>
          <p:cNvPicPr>
            <a:picLocks noChangeAspect="1"/>
          </p:cNvPicPr>
          <p:nvPr/>
        </p:nvPicPr>
        <p:blipFill>
          <a:blip r:embed="rId2"/>
          <a:stretch>
            <a:fillRect/>
          </a:stretch>
        </p:blipFill>
        <p:spPr>
          <a:xfrm>
            <a:off x="647395" y="4515307"/>
            <a:ext cx="213970" cy="213970"/>
          </a:xfrm>
          <a:prstGeom prst="rect">
            <a:avLst/>
          </a:prstGeom>
        </p:spPr>
      </p:pic>
      <p:sp>
        <p:nvSpPr>
          <p:cNvPr id="10" name="Text 6"/>
          <p:cNvSpPr txBox="1"/>
          <p:nvPr/>
        </p:nvSpPr>
        <p:spPr>
          <a:xfrm>
            <a:off x="1143000" y="4398264"/>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Vokser med flere fartøy og flere moduler hos samme rederi</a:t>
            </a:r>
            <a:endParaRPr lang="en-US" sz="1500" dirty="0"/>
          </a:p>
        </p:txBody>
      </p:sp>
      <p:sp>
        <p:nvSpPr>
          <p:cNvPr id="11" name="Ikon-sirkel"/>
          <p:cNvSpPr/>
          <p:nvPr/>
        </p:nvSpPr>
        <p:spPr>
          <a:xfrm>
            <a:off x="548640" y="5038344"/>
            <a:ext cx="411480" cy="411480"/>
          </a:xfrm>
          <a:prstGeom prst="ellipse">
            <a:avLst/>
          </a:prstGeom>
          <a:solidFill>
            <a:srgbClr val="DDE7EE"/>
          </a:solidFill>
          <a:ln/>
        </p:spPr>
      </p:sp>
      <p:pic>
        <p:nvPicPr>
          <p:cNvPr id="12" name="Ikon FaCheck" descr="preencoded.png">    </p:cNvPr>
          <p:cNvPicPr>
            <a:picLocks noChangeAspect="1"/>
          </p:cNvPicPr>
          <p:nvPr/>
        </p:nvPicPr>
        <p:blipFill>
          <a:blip r:embed="rId3"/>
          <a:stretch>
            <a:fillRect/>
          </a:stretch>
        </p:blipFill>
        <p:spPr>
          <a:xfrm>
            <a:off x="647395" y="5137099"/>
            <a:ext cx="213970" cy="213970"/>
          </a:xfrm>
          <a:prstGeom prst="rect">
            <a:avLst/>
          </a:prstGeom>
        </p:spPr>
      </p:pic>
      <p:sp>
        <p:nvSpPr>
          <p:cNvPr id="13" name="Text 8"/>
          <p:cNvSpPr txBox="1"/>
          <p:nvPr/>
        </p:nvSpPr>
        <p:spPr>
          <a:xfrm>
            <a:off x="1143000" y="5020056"/>
            <a:ext cx="4572000" cy="548640"/>
          </a:xfrm>
          <a:prstGeom prst="rect">
            <a:avLst/>
          </a:prstGeom>
          <a:noFill/>
          <a:ln/>
        </p:spPr>
        <p:txBody>
          <a:bodyPr wrap="square" lIns="0" tIns="0" rIns="0" bIns="0" rtlCol="0" anchor="ctr"/>
          <a:lstStyle/>
          <a:p>
            <a:pPr indent="0" marL="0">
              <a:buNone/>
            </a:pPr>
            <a:r>
              <a:rPr lang="en-US" sz="1500" dirty="0">
                <a:solidFill>
                  <a:srgbClr val="1B2A38"/>
                </a:solidFill>
                <a:latin typeface="Calibri" pitchFamily="34" charset="0"/>
                <a:ea typeface="Calibri" pitchFamily="34" charset="-122"/>
                <a:cs typeface="Calibri" pitchFamily="34" charset="-120"/>
              </a:rPr>
              <a:t>Vedlikeholdssystemer byttes sjelden når de først er tatt i bruk</a:t>
            </a:r>
            <a:endParaRPr lang="en-US" sz="1500" dirty="0"/>
          </a:p>
        </p:txBody>
      </p:sp>
      <p:graphicFrame>
        <p:nvGraphicFramePr>
          <p:cNvPr id="14" name="Chart 0" descr=""/>
          <p:cNvGraphicFramePr/>
          <p:nvPr/>
        </p:nvGraphicFramePr>
        <p:xfrm>
          <a:off x="6035040" y="1783080"/>
          <a:ext cx="5608015" cy="4023360"/>
        </p:xfrm>
        <a:graphic xmlns:a="http://schemas.openxmlformats.org/drawingml/2006/main">
          <a:graphicData uri="http://schemas.openxmlformats.org/drawingml/2006/chart">
            <c:chart xmlns:c="http://schemas.openxmlformats.org/drawingml/2006/chart" r:id="rId4"/>
          </a:graphicData>
        </a:graphic>
      </p:graphicFrame>
      <p:sp>
        <p:nvSpPr>
          <p:cNvPr id="15" name="Text 9"/>
          <p:cNvSpPr txBox="1"/>
          <p:nvPr/>
        </p:nvSpPr>
        <p:spPr>
          <a:xfrm>
            <a:off x="548640" y="5989320"/>
            <a:ext cx="11094415" cy="320040"/>
          </a:xfrm>
          <a:prstGeom prst="rect">
            <a:avLst/>
          </a:prstGeom>
          <a:noFill/>
          <a:ln/>
        </p:spPr>
        <p:txBody>
          <a:bodyPr wrap="square" lIns="0" tIns="0" rIns="0" bIns="0" rtlCol="0" anchor="b"/>
          <a:lstStyle/>
          <a:p>
            <a:pPr indent="0" marL="0">
              <a:buNone/>
            </a:pPr>
            <a:r>
              <a:rPr lang="en-US" sz="1100" dirty="0">
                <a:solidFill>
                  <a:srgbClr val="5B6B7A"/>
                </a:solidFill>
              </a:rPr>
              <a:t>Regneeksempler, ikke prognose. 260 fartøy tilsvarer hele det norske markedet over 28 meter.</a:t>
            </a:r>
            <a:endParaRPr lang="en-US" sz="11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STATUS OG PLAN</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MVP-en er klar. Nå skal den i drift hos de første rederiene</a:t>
            </a:r>
            <a:endParaRPr lang="en-US" sz="3000" dirty="0"/>
          </a:p>
        </p:txBody>
      </p:sp>
      <p:sp>
        <p:nvSpPr>
          <p:cNvPr id="4" name="Shape 2"/>
          <p:cNvSpPr/>
          <p:nvPr/>
        </p:nvSpPr>
        <p:spPr>
          <a:xfrm>
            <a:off x="1645920" y="3063240"/>
            <a:ext cx="8899855" cy="0"/>
          </a:xfrm>
          <a:prstGeom prst="line">
            <a:avLst/>
          </a:prstGeom>
          <a:noFill/>
          <a:ln w="38100">
            <a:solidFill>
              <a:srgbClr val="C9D5DE"/>
            </a:solidFill>
            <a:prstDash val="solid"/>
          </a:ln>
        </p:spPr>
      </p:sp>
      <p:sp>
        <p:nvSpPr>
          <p:cNvPr id="5" name="Shape 3"/>
          <p:cNvSpPr/>
          <p:nvPr/>
        </p:nvSpPr>
        <p:spPr>
          <a:xfrm>
            <a:off x="1444752" y="2862072"/>
            <a:ext cx="402336" cy="402336"/>
          </a:xfrm>
          <a:prstGeom prst="ellipse">
            <a:avLst/>
          </a:prstGeom>
          <a:solidFill>
            <a:srgbClr val="0E7C86"/>
          </a:solidFill>
          <a:ln w="31750">
            <a:solidFill>
              <a:srgbClr val="0E7C86"/>
            </a:solidFill>
            <a:prstDash val="solid"/>
          </a:ln>
        </p:spPr>
      </p:sp>
      <p:sp>
        <p:nvSpPr>
          <p:cNvPr id="6" name="Text 4"/>
          <p:cNvSpPr txBox="1"/>
          <p:nvPr/>
        </p:nvSpPr>
        <p:spPr>
          <a:xfrm>
            <a:off x="548640"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FERDIG</a:t>
            </a:r>
            <a:endParaRPr lang="en-US" sz="1400" dirty="0"/>
          </a:p>
        </p:txBody>
      </p:sp>
      <p:sp>
        <p:nvSpPr>
          <p:cNvPr id="7" name="Text 5"/>
          <p:cNvSpPr txBox="1"/>
          <p:nvPr/>
        </p:nvSpPr>
        <p:spPr>
          <a:xfrm>
            <a:off x="548640"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MVP med 14 moduler og KI-assistent</a:t>
            </a:r>
            <a:endParaRPr lang="en-US" sz="1500" dirty="0"/>
          </a:p>
        </p:txBody>
      </p:sp>
      <p:sp>
        <p:nvSpPr>
          <p:cNvPr id="8" name="Shape 6"/>
          <p:cNvSpPr/>
          <p:nvPr/>
        </p:nvSpPr>
        <p:spPr>
          <a:xfrm>
            <a:off x="3669716" y="2862072"/>
            <a:ext cx="402336" cy="402336"/>
          </a:xfrm>
          <a:prstGeom prst="ellipse">
            <a:avLst/>
          </a:prstGeom>
          <a:solidFill>
            <a:srgbClr val="0E7C86"/>
          </a:solidFill>
          <a:ln w="31750">
            <a:solidFill>
              <a:srgbClr val="0E7C86"/>
            </a:solidFill>
            <a:prstDash val="solid"/>
          </a:ln>
        </p:spPr>
      </p:sp>
      <p:sp>
        <p:nvSpPr>
          <p:cNvPr id="9" name="Text 7"/>
          <p:cNvSpPr txBox="1"/>
          <p:nvPr/>
        </p:nvSpPr>
        <p:spPr>
          <a:xfrm>
            <a:off x="2773604"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NÅ</a:t>
            </a:r>
            <a:endParaRPr lang="en-US" sz="1400" dirty="0"/>
          </a:p>
        </p:txBody>
      </p:sp>
      <p:sp>
        <p:nvSpPr>
          <p:cNvPr id="10" name="Text 8"/>
          <p:cNvSpPr txBox="1"/>
          <p:nvPr/>
        </p:nvSpPr>
        <p:spPr>
          <a:xfrm>
            <a:off x="2773604"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Rederier i hele Norge kontaktet. Flere har vist interesse.</a:t>
            </a:r>
            <a:endParaRPr lang="en-US" sz="1500" dirty="0"/>
          </a:p>
        </p:txBody>
      </p:sp>
      <p:sp>
        <p:nvSpPr>
          <p:cNvPr id="11" name="Shape 9"/>
          <p:cNvSpPr/>
          <p:nvPr/>
        </p:nvSpPr>
        <p:spPr>
          <a:xfrm>
            <a:off x="5894680" y="2862072"/>
            <a:ext cx="402336" cy="402336"/>
          </a:xfrm>
          <a:prstGeom prst="ellipse">
            <a:avLst/>
          </a:prstGeom>
          <a:solidFill>
            <a:srgbClr val="FFFFFF"/>
          </a:solidFill>
          <a:ln w="31750">
            <a:solidFill>
              <a:srgbClr val="0E7C86"/>
            </a:solidFill>
            <a:prstDash val="solid"/>
          </a:ln>
        </p:spPr>
      </p:sp>
      <p:sp>
        <p:nvSpPr>
          <p:cNvPr id="12" name="Text 10"/>
          <p:cNvSpPr txBox="1"/>
          <p:nvPr/>
        </p:nvSpPr>
        <p:spPr>
          <a:xfrm>
            <a:off x="4998568"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NESTE</a:t>
            </a:r>
            <a:endParaRPr lang="en-US" sz="1400" dirty="0"/>
          </a:p>
        </p:txBody>
      </p:sp>
      <p:sp>
        <p:nvSpPr>
          <p:cNvPr id="13" name="Text 11"/>
          <p:cNvSpPr txBox="1"/>
          <p:nvPr/>
        </p:nvSpPr>
        <p:spPr>
          <a:xfrm>
            <a:off x="4998568"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Signerte intensjonsavtaler og neste støtterunde fra Innovasjon Norge</a:t>
            </a:r>
            <a:endParaRPr lang="en-US" sz="1500" dirty="0"/>
          </a:p>
        </p:txBody>
      </p:sp>
      <p:sp>
        <p:nvSpPr>
          <p:cNvPr id="14" name="Shape 12"/>
          <p:cNvSpPr/>
          <p:nvPr/>
        </p:nvSpPr>
        <p:spPr>
          <a:xfrm>
            <a:off x="8119643" y="2862072"/>
            <a:ext cx="402336" cy="402336"/>
          </a:xfrm>
          <a:prstGeom prst="ellipse">
            <a:avLst/>
          </a:prstGeom>
          <a:solidFill>
            <a:srgbClr val="FFFFFF"/>
          </a:solidFill>
          <a:ln w="31750">
            <a:solidFill>
              <a:srgbClr val="0E7C86"/>
            </a:solidFill>
            <a:prstDash val="solid"/>
          </a:ln>
        </p:spPr>
      </p:sp>
      <p:sp>
        <p:nvSpPr>
          <p:cNvPr id="15" name="Text 13"/>
          <p:cNvSpPr txBox="1"/>
          <p:nvPr/>
        </p:nvSpPr>
        <p:spPr>
          <a:xfrm>
            <a:off x="7223531"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DERETTER</a:t>
            </a:r>
            <a:endParaRPr lang="en-US" sz="1400" dirty="0"/>
          </a:p>
        </p:txBody>
      </p:sp>
      <p:sp>
        <p:nvSpPr>
          <p:cNvPr id="16" name="Text 14"/>
          <p:cNvSpPr txBox="1"/>
          <p:nvPr/>
        </p:nvSpPr>
        <p:spPr>
          <a:xfrm>
            <a:off x="7223531"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Pilot på første fartøy og første betalende rederi</a:t>
            </a:r>
            <a:endParaRPr lang="en-US" sz="1500" dirty="0"/>
          </a:p>
        </p:txBody>
      </p:sp>
      <p:sp>
        <p:nvSpPr>
          <p:cNvPr id="17" name="Shape 15"/>
          <p:cNvSpPr/>
          <p:nvPr/>
        </p:nvSpPr>
        <p:spPr>
          <a:xfrm>
            <a:off x="10344607" y="2862072"/>
            <a:ext cx="402336" cy="402336"/>
          </a:xfrm>
          <a:prstGeom prst="ellipse">
            <a:avLst/>
          </a:prstGeom>
          <a:solidFill>
            <a:srgbClr val="FFFFFF"/>
          </a:solidFill>
          <a:ln w="31750">
            <a:solidFill>
              <a:srgbClr val="0E7C86"/>
            </a:solidFill>
            <a:prstDash val="solid"/>
          </a:ln>
        </p:spPr>
      </p:sp>
      <p:sp>
        <p:nvSpPr>
          <p:cNvPr id="18" name="Text 16"/>
          <p:cNvSpPr txBox="1"/>
          <p:nvPr/>
        </p:nvSpPr>
        <p:spPr>
          <a:xfrm>
            <a:off x="9448495" y="2148840"/>
            <a:ext cx="2194560" cy="548640"/>
          </a:xfrm>
          <a:prstGeom prst="rect">
            <a:avLst/>
          </a:prstGeom>
          <a:noFill/>
          <a:ln/>
        </p:spPr>
        <p:txBody>
          <a:bodyPr wrap="square" lIns="0" tIns="0" rIns="0" bIns="0" rtlCol="0" anchor="b"/>
          <a:lstStyle/>
          <a:p>
            <a:pPr algn="ctr" indent="0" marL="0">
              <a:buNone/>
            </a:pPr>
            <a:r>
              <a:rPr lang="en-US" sz="1400" b="1" spc="100" kern="0" dirty="0">
                <a:solidFill>
                  <a:srgbClr val="0E7C86"/>
                </a:solidFill>
                <a:latin typeface="Calibri" pitchFamily="34" charset="0"/>
                <a:ea typeface="Calibri" pitchFamily="34" charset="-122"/>
                <a:cs typeface="Calibri" pitchFamily="34" charset="-120"/>
              </a:rPr>
              <a:t>MÅL</a:t>
            </a:r>
            <a:endParaRPr lang="en-US" sz="1400" dirty="0"/>
          </a:p>
        </p:txBody>
      </p:sp>
      <p:sp>
        <p:nvSpPr>
          <p:cNvPr id="19" name="Text 17"/>
          <p:cNvSpPr txBox="1"/>
          <p:nvPr/>
        </p:nvSpPr>
        <p:spPr>
          <a:xfrm>
            <a:off x="9448495" y="3474720"/>
            <a:ext cx="2194560" cy="1188720"/>
          </a:xfrm>
          <a:prstGeom prst="rect">
            <a:avLst/>
          </a:prstGeom>
          <a:noFill/>
          <a:ln/>
        </p:spPr>
        <p:txBody>
          <a:bodyPr wrap="square" lIns="0" tIns="0" rIns="0" bIns="0" rtlCol="0" anchor="t"/>
          <a:lstStyle/>
          <a:p>
            <a:pPr algn="ctr" indent="0" marL="0">
              <a:buNone/>
            </a:pPr>
            <a:r>
              <a:rPr lang="en-US" sz="1500" dirty="0">
                <a:solidFill>
                  <a:srgbClr val="1B2A38"/>
                </a:solidFill>
                <a:latin typeface="Calibri" pitchFamily="34" charset="0"/>
                <a:ea typeface="Calibri" pitchFamily="34" charset="-122"/>
                <a:cs typeface="Calibri" pitchFamily="34" charset="-120"/>
              </a:rPr>
              <a:t>Ferdig produkt med DNV-godkjenning</a:t>
            </a:r>
            <a:endParaRPr lang="en-US" sz="1500" dirty="0"/>
          </a:p>
        </p:txBody>
      </p:sp>
      <p:sp>
        <p:nvSpPr>
          <p:cNvPr id="20" name="Kort"/>
          <p:cNvSpPr/>
          <p:nvPr/>
        </p:nvSpPr>
        <p:spPr>
          <a:xfrm>
            <a:off x="548640" y="4846320"/>
            <a:ext cx="11094415" cy="868680"/>
          </a:xfrm>
          <a:prstGeom prst="roundRect">
            <a:avLst>
              <a:gd name="adj" fmla="val 12632"/>
            </a:avLst>
          </a:prstGeom>
          <a:solidFill>
            <a:srgbClr val="EEF3F6"/>
          </a:solidFill>
          <a:ln/>
        </p:spPr>
      </p:sp>
      <p:sp>
        <p:nvSpPr>
          <p:cNvPr id="21" name="Text 19"/>
          <p:cNvSpPr txBox="1"/>
          <p:nvPr/>
        </p:nvSpPr>
        <p:spPr>
          <a:xfrm>
            <a:off x="868680" y="4846320"/>
            <a:ext cx="10454335" cy="868680"/>
          </a:xfrm>
          <a:prstGeom prst="rect">
            <a:avLst/>
          </a:prstGeom>
          <a:noFill/>
          <a:ln/>
        </p:spPr>
        <p:txBody>
          <a:bodyPr wrap="square" lIns="0" tIns="0" rIns="0" bIns="0" rtlCol="0" anchor="ctr"/>
          <a:lstStyle/>
          <a:p>
            <a:pPr indent="0" marL="0">
              <a:buNone/>
            </a:pPr>
            <a:r>
              <a:rPr lang="en-US" sz="1600" b="1" dirty="0">
                <a:solidFill>
                  <a:srgbClr val="0B1F33"/>
                </a:solidFill>
                <a:latin typeface="Calibri" pitchFamily="34" charset="0"/>
                <a:ea typeface="Calibri" pitchFamily="34" charset="-122"/>
                <a:cs typeface="Calibri" pitchFamily="34" charset="-120"/>
              </a:rPr>
              <a:t>Målet for de neste 18 månedene: </a:t>
            </a:r>
            <a:pPr indent="0" marL="0">
              <a:buNone/>
            </a:pPr>
            <a:r>
              <a:rPr lang="en-US" sz="1600" dirty="0">
                <a:solidFill>
                  <a:srgbClr val="1B2A38"/>
                </a:solidFill>
                <a:latin typeface="Calibri" pitchFamily="34" charset="0"/>
                <a:ea typeface="Calibri" pitchFamily="34" charset="-122"/>
                <a:cs typeface="Calibri" pitchFamily="34" charset="-120"/>
              </a:rPr>
              <a:t>signerte intensjonsavtaler, de første betalende rederiene og et ferdig produkt godkjent av DNV.</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TEAMET</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Vi har stått i maskinrommet selv</a:t>
            </a:r>
            <a:endParaRPr lang="en-US" sz="3000" dirty="0"/>
          </a:p>
        </p:txBody>
      </p:sp>
      <p:sp>
        <p:nvSpPr>
          <p:cNvPr id="4" name="Kort"/>
          <p:cNvSpPr/>
          <p:nvPr/>
        </p:nvSpPr>
        <p:spPr>
          <a:xfrm>
            <a:off x="548640" y="1828800"/>
            <a:ext cx="6400800" cy="1143000"/>
          </a:xfrm>
          <a:prstGeom prst="roundRect">
            <a:avLst>
              <a:gd name="adj" fmla="val 9600"/>
            </a:avLst>
          </a:prstGeom>
          <a:solidFill>
            <a:srgbClr val="EEF3F6"/>
          </a:solidFill>
          <a:ln/>
        </p:spPr>
      </p:sp>
      <p:sp>
        <p:nvSpPr>
          <p:cNvPr id="5" name="Text 3"/>
          <p:cNvSpPr txBox="1"/>
          <p:nvPr/>
        </p:nvSpPr>
        <p:spPr>
          <a:xfrm>
            <a:off x="868680" y="1965960"/>
            <a:ext cx="5852160" cy="91440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Arne Kopperstad</a:t>
            </a:r>
            <a:pPr indent="0" marL="0">
              <a:buNone/>
            </a:pPr>
            <a:r>
              <a:rPr lang="en-US" sz="1500" b="1" dirty="0">
                <a:solidFill>
                  <a:srgbClr val="0E7C86"/>
                </a:solidFill>
                <a:latin typeface="Calibri" pitchFamily="34" charset="0"/>
                <a:ea typeface="Calibri" pitchFamily="34" charset="-122"/>
                <a:cs typeface="Calibri" pitchFamily="34" charset="-120"/>
              </a:rPr>
              <a:t>   Daglig leder (CEO)</a:t>
            </a:r>
            <a:endParaRPr lang="en-US" sz="1800" dirty="0"/>
          </a:p>
          <a:p>
            <a:pPr indent="0" marL="0">
              <a:buNone/>
            </a:pPr>
            <a:r>
              <a:rPr lang="en-US" sz="1500" dirty="0">
                <a:solidFill>
                  <a:srgbClr val="1B2A38"/>
                </a:solidFill>
                <a:latin typeface="Calibri" pitchFamily="34" charset="0"/>
                <a:ea typeface="Calibri" pitchFamily="34" charset="-122"/>
                <a:cs typeface="Calibri" pitchFamily="34" charset="-120"/>
              </a:rPr>
              <a:t>Maskinsjef med erfaring fra fiskeflåten. Kjenner problemet Nautech løser fra egen hverdag.</a:t>
            </a:r>
            <a:endParaRPr lang="en-US" sz="1800" dirty="0"/>
          </a:p>
        </p:txBody>
      </p:sp>
      <p:sp>
        <p:nvSpPr>
          <p:cNvPr id="6" name="Kort"/>
          <p:cNvSpPr/>
          <p:nvPr/>
        </p:nvSpPr>
        <p:spPr>
          <a:xfrm>
            <a:off x="548640" y="3154680"/>
            <a:ext cx="6400800" cy="1143000"/>
          </a:xfrm>
          <a:prstGeom prst="roundRect">
            <a:avLst>
              <a:gd name="adj" fmla="val 9600"/>
            </a:avLst>
          </a:prstGeom>
          <a:solidFill>
            <a:srgbClr val="EEF3F6"/>
          </a:solidFill>
          <a:ln/>
        </p:spPr>
      </p:sp>
      <p:sp>
        <p:nvSpPr>
          <p:cNvPr id="7" name="Text 5"/>
          <p:cNvSpPr txBox="1"/>
          <p:nvPr/>
        </p:nvSpPr>
        <p:spPr>
          <a:xfrm>
            <a:off x="868680" y="3291840"/>
            <a:ext cx="5852160" cy="914400"/>
          </a:xfrm>
          <a:prstGeom prst="rect">
            <a:avLst/>
          </a:prstGeom>
          <a:noFill/>
          <a:ln/>
        </p:spPr>
        <p:txBody>
          <a:bodyPr wrap="square" lIns="0" tIns="0" rIns="0" bIns="0" rtlCol="0" anchor="t"/>
          <a:lstStyle/>
          <a:p>
            <a:pPr indent="0" marL="0">
              <a:buNone/>
            </a:pPr>
            <a:r>
              <a:rPr lang="en-US" sz="1800" b="1" dirty="0">
                <a:solidFill>
                  <a:srgbClr val="0B1F33"/>
                </a:solidFill>
                <a:latin typeface="Calibri" pitchFamily="34" charset="0"/>
                <a:ea typeface="Calibri" pitchFamily="34" charset="-122"/>
                <a:cs typeface="Calibri" pitchFamily="34" charset="-120"/>
              </a:rPr>
              <a:t>Kristian Kopperstad</a:t>
            </a:r>
            <a:pPr indent="0" marL="0">
              <a:buNone/>
            </a:pPr>
            <a:r>
              <a:rPr lang="en-US" sz="1500" b="1" dirty="0">
                <a:solidFill>
                  <a:srgbClr val="0E7C86"/>
                </a:solidFill>
                <a:latin typeface="Calibri" pitchFamily="34" charset="0"/>
                <a:ea typeface="Calibri" pitchFamily="34" charset="-122"/>
                <a:cs typeface="Calibri" pitchFamily="34" charset="-120"/>
              </a:rPr>
              <a:t>   Driftsleder (COO)</a:t>
            </a:r>
            <a:endParaRPr lang="en-US" sz="1800" dirty="0"/>
          </a:p>
          <a:p>
            <a:pPr indent="0" marL="0">
              <a:buNone/>
            </a:pPr>
            <a:r>
              <a:rPr lang="en-US" sz="1500" dirty="0">
                <a:solidFill>
                  <a:srgbClr val="1B2A38"/>
                </a:solidFill>
                <a:latin typeface="Calibri" pitchFamily="34" charset="0"/>
                <a:ea typeface="Calibri" pitchFamily="34" charset="-122"/>
                <a:cs typeface="Calibri" pitchFamily="34" charset="-120"/>
              </a:rPr>
              <a:t>Prosjekt- og ingeniørerfaring fra offshore. Ansvar for leveranse og drift.</a:t>
            </a:r>
            <a:endParaRPr lang="en-US" sz="1800" dirty="0"/>
          </a:p>
        </p:txBody>
      </p:sp>
      <p:sp>
        <p:nvSpPr>
          <p:cNvPr id="8" name="Kort"/>
          <p:cNvSpPr/>
          <p:nvPr/>
        </p:nvSpPr>
        <p:spPr>
          <a:xfrm>
            <a:off x="548640" y="4480560"/>
            <a:ext cx="6400800" cy="1280160"/>
          </a:xfrm>
          <a:prstGeom prst="roundRect">
            <a:avLst>
              <a:gd name="adj" fmla="val 8571"/>
            </a:avLst>
          </a:prstGeom>
          <a:solidFill>
            <a:srgbClr val="FFFFFF"/>
          </a:solidFill>
          <a:ln w="12700">
            <a:solidFill>
              <a:srgbClr val="E8751A"/>
            </a:solidFill>
            <a:prstDash val="solid"/>
          </a:ln>
        </p:spPr>
      </p:sp>
      <p:sp>
        <p:nvSpPr>
          <p:cNvPr id="9" name="Text 7"/>
          <p:cNvSpPr txBox="1"/>
          <p:nvPr/>
        </p:nvSpPr>
        <p:spPr>
          <a:xfrm>
            <a:off x="868680" y="4617720"/>
            <a:ext cx="5852160" cy="1005840"/>
          </a:xfrm>
          <a:prstGeom prst="rect">
            <a:avLst/>
          </a:prstGeom>
          <a:noFill/>
          <a:ln/>
        </p:spPr>
        <p:txBody>
          <a:bodyPr wrap="square" lIns="0" tIns="0" rIns="0" bIns="0" rtlCol="0" anchor="t"/>
          <a:lstStyle/>
          <a:p>
            <a:pPr indent="0" marL="0">
              <a:spcAft>
                <a:spcPts val="600"/>
              </a:spcAft>
              <a:buNone/>
            </a:pPr>
            <a:r>
              <a:rPr lang="en-US" sz="1500" b="1" dirty="0">
                <a:solidFill>
                  <a:srgbClr val="0B1F33"/>
                </a:solidFill>
                <a:latin typeface="Calibri" pitchFamily="34" charset="0"/>
                <a:ea typeface="Calibri" pitchFamily="34" charset="-122"/>
                <a:cs typeface="Calibri" pitchFamily="34" charset="-120"/>
              </a:rPr>
              <a:t>Teknologi og utvikling: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hvem bygger og drifter Nautech?]</a:t>
            </a:r>
            <a:pPr indent="0" marL="0">
              <a:spcAft>
                <a:spcPts val="600"/>
              </a:spcAft>
              <a:buNone/>
            </a:pPr>
            <a:endParaRPr lang="en-US" sz="1500" dirty="0"/>
          </a:p>
          <a:p>
            <a:pPr indent="0" marL="0">
              <a:spcAft>
                <a:spcPts val="600"/>
              </a:spcAft>
              <a:buNone/>
            </a:pPr>
            <a:r>
              <a:rPr lang="en-US" sz="1500" b="1" dirty="0">
                <a:solidFill>
                  <a:srgbClr val="0B1F33"/>
                </a:solidFill>
                <a:latin typeface="Calibri" pitchFamily="34" charset="0"/>
                <a:ea typeface="Calibri" pitchFamily="34" charset="-122"/>
                <a:cs typeface="Calibri" pitchFamily="34" charset="-120"/>
              </a:rPr>
              <a:t>Styre og rådgivere: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navn og bakgrunn]</a:t>
            </a:r>
            <a:endParaRPr lang="en-US" sz="1500" dirty="0"/>
          </a:p>
        </p:txBody>
      </p:sp>
      <p:pic>
        <p:nvPicPr>
          <p:cNvPr id="10" name="Teambilde" descr="/tmp/claude-0/-home-user-Claude/bbdec16f-2a10-550d-bb32-af07b09e4311/scratchpad/build/team.jpg">    </p:cNvPr>
          <p:cNvPicPr>
            <a:picLocks noChangeAspect="1"/>
          </p:cNvPicPr>
          <p:nvPr/>
        </p:nvPicPr>
        <p:blipFill>
          <a:blip r:embed="rId1"/>
          <a:stretch>
            <a:fillRect/>
          </a:stretch>
        </p:blipFill>
        <p:spPr>
          <a:xfrm>
            <a:off x="7406640" y="1828800"/>
            <a:ext cx="4236415" cy="3879127"/>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7FD1D6"/>
                </a:solidFill>
                <a:latin typeface="Calibri" pitchFamily="34" charset="0"/>
                <a:ea typeface="Calibri" pitchFamily="34" charset="-122"/>
                <a:cs typeface="Calibri" pitchFamily="34" charset="-120"/>
              </a:rPr>
              <a:t>HVA VI SØKER</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FFFFFF"/>
                </a:solidFill>
                <a:latin typeface="Arial" pitchFamily="34" charset="0"/>
                <a:ea typeface="Arial" pitchFamily="34" charset="-122"/>
                <a:cs typeface="Arial" pitchFamily="34" charset="-120"/>
              </a:rPr>
              <a:t>Vi søker kapital og et rederi som vil være med fra start</a:t>
            </a:r>
            <a:endParaRPr lang="en-US" sz="3000" dirty="0"/>
          </a:p>
        </p:txBody>
      </p:sp>
      <p:sp>
        <p:nvSpPr>
          <p:cNvPr id="4" name="Kort"/>
          <p:cNvSpPr/>
          <p:nvPr/>
        </p:nvSpPr>
        <p:spPr>
          <a:xfrm>
            <a:off x="548640" y="1828800"/>
            <a:ext cx="5394960" cy="3886200"/>
          </a:xfrm>
          <a:prstGeom prst="roundRect">
            <a:avLst>
              <a:gd name="adj" fmla="val 2824"/>
            </a:avLst>
          </a:prstGeom>
          <a:solidFill>
            <a:srgbClr val="16324D"/>
          </a:solidFill>
          <a:ln/>
        </p:spPr>
      </p:sp>
      <p:sp>
        <p:nvSpPr>
          <p:cNvPr id="5" name="Ikon-sirkel"/>
          <p:cNvSpPr/>
          <p:nvPr/>
        </p:nvSpPr>
        <p:spPr>
          <a:xfrm>
            <a:off x="868680" y="2103120"/>
            <a:ext cx="640080" cy="640080"/>
          </a:xfrm>
          <a:prstGeom prst="ellipse">
            <a:avLst/>
          </a:prstGeom>
          <a:solidFill>
            <a:srgbClr val="0E7C86"/>
          </a:solidFill>
          <a:ln/>
        </p:spPr>
      </p:sp>
      <p:pic>
        <p:nvPicPr>
          <p:cNvPr id="6" name="Ikon FaSackDollar" descr="preencoded.png">    </p:cNvPr>
          <p:cNvPicPr>
            <a:picLocks noChangeAspect="1"/>
          </p:cNvPicPr>
          <p:nvPr/>
        </p:nvPicPr>
        <p:blipFill>
          <a:blip r:embed="rId1"/>
          <a:stretch>
            <a:fillRect/>
          </a:stretch>
        </p:blipFill>
        <p:spPr>
          <a:xfrm>
            <a:off x="1022299" y="2256739"/>
            <a:ext cx="332842" cy="332842"/>
          </a:xfrm>
          <a:prstGeom prst="rect">
            <a:avLst/>
          </a:prstGeom>
        </p:spPr>
      </p:pic>
      <p:sp>
        <p:nvSpPr>
          <p:cNvPr id="7" name="Text 4"/>
          <p:cNvSpPr txBox="1"/>
          <p:nvPr/>
        </p:nvSpPr>
        <p:spPr>
          <a:xfrm>
            <a:off x="1691640" y="2103120"/>
            <a:ext cx="4023360" cy="822960"/>
          </a:xfrm>
          <a:prstGeom prst="rect">
            <a:avLst/>
          </a:prstGeom>
          <a:noFill/>
          <a:ln/>
        </p:spPr>
        <p:txBody>
          <a:bodyPr wrap="square" lIns="0" tIns="0" rIns="0" bIns="0"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Investor</a:t>
            </a:r>
            <a:endParaRPr lang="en-US" sz="2200" dirty="0"/>
          </a:p>
          <a:p>
            <a:pPr indent="0" marL="0">
              <a:buNone/>
            </a:pPr>
            <a:r>
              <a:rPr lang="en-US" sz="1600" dirty="0">
                <a:solidFill>
                  <a:srgbClr val="DCE6EE"/>
                </a:solidFill>
                <a:latin typeface="Calibri" pitchFamily="34" charset="0"/>
                <a:ea typeface="Calibri" pitchFamily="34" charset="-122"/>
                <a:cs typeface="Calibri" pitchFamily="34" charset="-120"/>
              </a:rPr>
              <a:t>Vi henter </a:t>
            </a:r>
            <a:pPr indent="0" marL="0">
              <a:buNone/>
            </a:pPr>
            <a:r>
              <a:rPr lang="en-US" sz="1600" b="1" dirty="0">
                <a:solidFill>
                  <a:srgbClr val="E8751A"/>
                </a:solidFill>
                <a:latin typeface="Calibri" pitchFamily="34" charset="0"/>
                <a:ea typeface="Calibri" pitchFamily="34" charset="-122"/>
                <a:cs typeface="Calibri" pitchFamily="34" charset="-120"/>
              </a:rPr>
              <a:t>[FYLL INN: beløp]</a:t>
            </a:r>
            <a:pPr indent="0" marL="0">
              <a:buNone/>
            </a:pPr>
            <a:r>
              <a:rPr lang="en-US" sz="1600" dirty="0">
                <a:solidFill>
                  <a:srgbClr val="DCE6EE"/>
                </a:solidFill>
                <a:latin typeface="Calibri" pitchFamily="34" charset="0"/>
                <a:ea typeface="Calibri" pitchFamily="34" charset="-122"/>
                <a:cs typeface="Calibri" pitchFamily="34" charset="-120"/>
              </a:rPr>
              <a:t> MNOK.</a:t>
            </a:r>
            <a:endParaRPr lang="en-US" sz="2200" dirty="0"/>
          </a:p>
        </p:txBody>
      </p:sp>
      <p:sp>
        <p:nvSpPr>
          <p:cNvPr id="8" name="Text 5"/>
          <p:cNvSpPr txBox="1"/>
          <p:nvPr/>
        </p:nvSpPr>
        <p:spPr>
          <a:xfrm>
            <a:off x="868680" y="3154680"/>
            <a:ext cx="4754880" cy="2377440"/>
          </a:xfrm>
          <a:prstGeom prst="rect">
            <a:avLst/>
          </a:prstGeom>
          <a:noFill/>
          <a:ln/>
        </p:spPr>
        <p:txBody>
          <a:bodyPr wrap="square" lIns="0" tIns="0" rIns="0" bIns="0" rtlCol="0" anchor="t"/>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Pengene går til:</a:t>
            </a: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Salg og innføring hos de første rederiene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pPr indent="0" marL="0">
              <a:spcAft>
                <a:spcPts val="600"/>
              </a:spcAft>
              <a:buNone/>
            </a:pP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Videreutvikling og godkjenninger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pPr indent="0" marL="0">
              <a:spcAft>
                <a:spcPts val="600"/>
              </a:spcAft>
              <a:buNone/>
            </a:pPr>
            <a:endParaRPr lang="en-US" sz="1500" dirty="0"/>
          </a:p>
          <a:p>
            <a:pPr marL="342900" indent="-342900">
              <a:spcAft>
                <a:spcPts val="600"/>
              </a:spcAft>
              <a:buSzPct val="100000"/>
              <a:buChar char="•"/>
            </a:pPr>
            <a:r>
              <a:rPr lang="en-US" sz="1500" dirty="0">
                <a:solidFill>
                  <a:srgbClr val="DCE6EE"/>
                </a:solidFill>
                <a:latin typeface="Calibri" pitchFamily="34" charset="0"/>
                <a:ea typeface="Calibri" pitchFamily="34" charset="-122"/>
                <a:cs typeface="Calibri" pitchFamily="34" charset="-120"/>
              </a:rPr>
              <a:t>Drift og kundestøtte  </a:t>
            </a:r>
            <a:pPr indent="0" marL="0">
              <a:spcAft>
                <a:spcPts val="600"/>
              </a:spcAft>
              <a:buNone/>
            </a:pPr>
            <a:r>
              <a:rPr lang="en-US" sz="1500" b="1" dirty="0">
                <a:solidFill>
                  <a:srgbClr val="E8751A"/>
                </a:solidFill>
                <a:latin typeface="Calibri" pitchFamily="34" charset="0"/>
                <a:ea typeface="Calibri" pitchFamily="34" charset="-122"/>
                <a:cs typeface="Calibri" pitchFamily="34" charset="-120"/>
              </a:rPr>
              <a:t>[FYLL INN: %]</a:t>
            </a:r>
            <a:endParaRPr lang="en-US" sz="1500" dirty="0"/>
          </a:p>
        </p:txBody>
      </p:sp>
      <p:sp>
        <p:nvSpPr>
          <p:cNvPr id="9" name="Kort"/>
          <p:cNvSpPr/>
          <p:nvPr/>
        </p:nvSpPr>
        <p:spPr>
          <a:xfrm>
            <a:off x="6217920" y="1828800"/>
            <a:ext cx="5425135" cy="3886200"/>
          </a:xfrm>
          <a:prstGeom prst="roundRect">
            <a:avLst>
              <a:gd name="adj" fmla="val 2824"/>
            </a:avLst>
          </a:prstGeom>
          <a:solidFill>
            <a:srgbClr val="16324D"/>
          </a:solidFill>
          <a:ln/>
        </p:spPr>
      </p:sp>
      <p:sp>
        <p:nvSpPr>
          <p:cNvPr id="10" name="Ikon-sirkel"/>
          <p:cNvSpPr/>
          <p:nvPr/>
        </p:nvSpPr>
        <p:spPr>
          <a:xfrm>
            <a:off x="6537960" y="2103120"/>
            <a:ext cx="640080" cy="640080"/>
          </a:xfrm>
          <a:prstGeom prst="ellipse">
            <a:avLst/>
          </a:prstGeom>
          <a:solidFill>
            <a:srgbClr val="0E7C86"/>
          </a:solidFill>
          <a:ln/>
        </p:spPr>
      </p:sp>
      <p:pic>
        <p:nvPicPr>
          <p:cNvPr id="11" name="Ikon FaHandshake" descr="preencoded.png">    </p:cNvPr>
          <p:cNvPicPr>
            <a:picLocks noChangeAspect="1"/>
          </p:cNvPicPr>
          <p:nvPr/>
        </p:nvPicPr>
        <p:blipFill>
          <a:blip r:embed="rId2"/>
          <a:stretch>
            <a:fillRect/>
          </a:stretch>
        </p:blipFill>
        <p:spPr>
          <a:xfrm>
            <a:off x="6691579" y="2256739"/>
            <a:ext cx="332842" cy="332842"/>
          </a:xfrm>
          <a:prstGeom prst="rect">
            <a:avLst/>
          </a:prstGeom>
        </p:spPr>
      </p:pic>
      <p:sp>
        <p:nvSpPr>
          <p:cNvPr id="12" name="Text 8"/>
          <p:cNvSpPr txBox="1"/>
          <p:nvPr/>
        </p:nvSpPr>
        <p:spPr>
          <a:xfrm>
            <a:off x="7360920" y="2103120"/>
            <a:ext cx="4053535" cy="64008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Industripartner</a:t>
            </a:r>
            <a:endParaRPr lang="en-US" sz="2200" dirty="0"/>
          </a:p>
        </p:txBody>
      </p:sp>
      <p:sp>
        <p:nvSpPr>
          <p:cNvPr id="13" name="Text 9"/>
          <p:cNvSpPr txBox="1"/>
          <p:nvPr/>
        </p:nvSpPr>
        <p:spPr>
          <a:xfrm>
            <a:off x="6537960" y="3154680"/>
            <a:ext cx="4785055" cy="1371600"/>
          </a:xfrm>
          <a:prstGeom prst="rect">
            <a:avLst/>
          </a:prstGeom>
          <a:noFill/>
          <a:ln/>
        </p:spPr>
        <p:txBody>
          <a:bodyPr wrap="square" lIns="0" tIns="0" rIns="0" bIns="0" rtlCol="0" anchor="t"/>
          <a:lstStyle/>
          <a:p>
            <a:pPr indent="0" marL="0">
              <a:buNone/>
            </a:pPr>
            <a:r>
              <a:rPr lang="en-US" sz="1600" dirty="0">
                <a:solidFill>
                  <a:srgbClr val="DCE6EE"/>
                </a:solidFill>
                <a:latin typeface="Calibri" pitchFamily="34" charset="0"/>
                <a:ea typeface="Calibri" pitchFamily="34" charset="-122"/>
                <a:cs typeface="Calibri" pitchFamily="34" charset="-120"/>
              </a:rPr>
              <a:t>Et fiskerederi som signerer en intensjonsavtale, tester Nautech på ett fartøy og blir vår første referansekunde. Signerte avtaler utløser også neste støtterunde fra Innovasjon Norge.</a:t>
            </a:r>
            <a:endParaRPr lang="en-US" sz="1600" dirty="0"/>
          </a:p>
        </p:txBody>
      </p:sp>
      <p:sp>
        <p:nvSpPr>
          <p:cNvPr id="14" name="Text 10"/>
          <p:cNvSpPr txBox="1"/>
          <p:nvPr/>
        </p:nvSpPr>
        <p:spPr>
          <a:xfrm>
            <a:off x="548640" y="5806440"/>
            <a:ext cx="11094415" cy="548640"/>
          </a:xfrm>
          <a:prstGeom prst="rect">
            <a:avLst/>
          </a:prstGeom>
          <a:noFill/>
          <a:ln/>
        </p:spPr>
        <p:txBody>
          <a:bodyPr wrap="square" lIns="0" tIns="0" rIns="0" bIns="0" rtlCol="0" anchor="t"/>
          <a:lstStyle/>
          <a:p>
            <a:pPr indent="0" marL="0">
              <a:buNone/>
            </a:pPr>
            <a:r>
              <a:rPr lang="en-US" sz="1400" b="1" dirty="0">
                <a:solidFill>
                  <a:srgbClr val="FFFFFF"/>
                </a:solidFill>
                <a:latin typeface="Calibri" pitchFamily="34" charset="0"/>
                <a:ea typeface="Calibri" pitchFamily="34" charset="-122"/>
                <a:cs typeface="Calibri" pitchFamily="34" charset="-120"/>
              </a:rPr>
              <a:t>Arne Kopperstad  </a:t>
            </a:r>
            <a:pPr indent="0" marL="0">
              <a:buNone/>
            </a:pPr>
            <a:r>
              <a:rPr lang="en-US" sz="1400" dirty="0">
                <a:solidFill>
                  <a:srgbClr val="7FD1D6"/>
                </a:solidFill>
                <a:latin typeface="Calibri" pitchFamily="34" charset="0"/>
                <a:ea typeface="Calibri" pitchFamily="34" charset="-122"/>
                <a:cs typeface="Calibri" pitchFamily="34" charset="-120"/>
              </a:rPr>
              <a:t>akopperstad@seawise.no  ·  +47 480 35 351</a:t>
            </a:r>
            <a:endParaRPr lang="en-US" sz="1400" dirty="0"/>
          </a:p>
          <a:p>
            <a:pPr indent="0" marL="0">
              <a:buNone/>
            </a:pPr>
            <a:r>
              <a:rPr lang="en-US" sz="1400" b="1" dirty="0">
                <a:solidFill>
                  <a:srgbClr val="FFFFFF"/>
                </a:solidFill>
                <a:latin typeface="Calibri" pitchFamily="34" charset="0"/>
                <a:ea typeface="Calibri" pitchFamily="34" charset="-122"/>
                <a:cs typeface="Calibri" pitchFamily="34" charset="-120"/>
              </a:rPr>
              <a:t>Kristian Kopperstad  </a:t>
            </a:r>
            <a:pPr indent="0" marL="0">
              <a:buNone/>
            </a:pPr>
            <a:r>
              <a:rPr lang="en-US" sz="1400" dirty="0">
                <a:solidFill>
                  <a:srgbClr val="7FD1D6"/>
                </a:solidFill>
                <a:latin typeface="Calibri" pitchFamily="34" charset="0"/>
                <a:ea typeface="Calibri" pitchFamily="34" charset="-122"/>
                <a:cs typeface="Calibri" pitchFamily="34" charset="-120"/>
              </a:rPr>
              <a:t>kkopperstad@seawise.no</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9FB3C4"/>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548640" y="365760"/>
            <a:ext cx="9144000" cy="274320"/>
          </a:xfrm>
          <a:prstGeom prst="rect">
            <a:avLst/>
          </a:prstGeom>
          <a:noFill/>
          <a:ln/>
        </p:spPr>
        <p:txBody>
          <a:bodyPr wrap="square" lIns="0" tIns="0" rIns="0" bIns="0" rtlCol="0"/>
          <a:lstStyle/>
          <a:p>
            <a:pPr indent="0" marL="0">
              <a:buNone/>
            </a:pPr>
            <a:r>
              <a:rPr lang="en-US" sz="1200" b="1" spc="200" kern="0" dirty="0">
                <a:solidFill>
                  <a:srgbClr val="0E7C86"/>
                </a:solidFill>
                <a:latin typeface="Calibri" pitchFamily="34" charset="0"/>
                <a:ea typeface="Calibri" pitchFamily="34" charset="-122"/>
                <a:cs typeface="Calibri" pitchFamily="34" charset="-120"/>
              </a:rPr>
              <a:t>VEDLEGG</a:t>
            </a:r>
            <a:endParaRPr lang="en-US" sz="1200" dirty="0"/>
          </a:p>
        </p:txBody>
      </p:sp>
      <p:sp>
        <p:nvSpPr>
          <p:cNvPr id="3" name="Text 1"/>
          <p:cNvSpPr/>
          <p:nvPr>
            <p:ph idx="102" type="title" hasCustomPrompt="1"/>
          </p:nvPr>
        </p:nvSpPr>
        <p:spPr>
          <a:xfrm>
            <a:off x="548640" y="658368"/>
            <a:ext cx="11094415" cy="1051560"/>
          </a:xfrm>
          <a:prstGeom prst="rect">
            <a:avLst/>
          </a:prstGeom>
          <a:noFill/>
          <a:ln/>
        </p:spPr>
        <p:txBody>
          <a:bodyPr wrap="square" lIns="0" tIns="0" rIns="0" bIns="0" rtlCol="0" anchor="t"/>
          <a:lstStyle/>
          <a:p>
            <a:pPr algn="l" indent="0" marL="0">
              <a:buNone/>
            </a:pPr>
            <a:r>
              <a:rPr lang="en-US" sz="3000" b="1" dirty="0">
                <a:solidFill>
                  <a:srgbClr val="0B1F33"/>
                </a:solidFill>
                <a:latin typeface="Arial" pitchFamily="34" charset="0"/>
                <a:ea typeface="Arial" pitchFamily="34" charset="-122"/>
                <a:cs typeface="Arial" pitchFamily="34" charset="-120"/>
              </a:rPr>
              <a:t>Kilder og forutsetninger</a:t>
            </a:r>
            <a:endParaRPr lang="en-US" sz="3000" dirty="0"/>
          </a:p>
        </p:txBody>
      </p:sp>
      <p:sp>
        <p:nvSpPr>
          <p:cNvPr id="4" name="Text 2"/>
          <p:cNvSpPr txBox="1"/>
          <p:nvPr/>
        </p:nvSpPr>
        <p:spPr>
          <a:xfrm>
            <a:off x="548640" y="1828800"/>
            <a:ext cx="5303520" cy="3840480"/>
          </a:xfrm>
          <a:prstGeom prst="rect">
            <a:avLst/>
          </a:prstGeom>
          <a:noFill/>
          <a:ln/>
        </p:spPr>
        <p:txBody>
          <a:bodyPr wrap="square" lIns="0" tIns="0" rIns="0" bIns="0" rtlCol="0" anchor="t"/>
          <a:lstStyle/>
          <a:p>
            <a:pPr indent="0" marL="0">
              <a:spcAft>
                <a:spcPts val="800"/>
              </a:spcAft>
              <a:buNone/>
            </a:pPr>
            <a:r>
              <a:rPr lang="en-US" sz="1700" b="1" dirty="0">
                <a:solidFill>
                  <a:srgbClr val="0B1F33"/>
                </a:solidFill>
                <a:latin typeface="Calibri" pitchFamily="34" charset="0"/>
                <a:ea typeface="Calibri" pitchFamily="34" charset="-122"/>
                <a:cs typeface="Calibri" pitchFamily="34" charset="-120"/>
              </a:rPr>
              <a:t>Kilder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Fiskeridirektoratet: Nøkkeltal 2025, figur 23 – registrerte fiskefartøy etter lengde (foreløpige tall)</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EUs fartøyregister: fiskefartøy over 24 meter, 2021-tall</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CCOM X, PreMaster 3.0, SERTICA AI Assistant, AMOS Procure Smart, TM Master: leverandørenes egne nettsider, oktober 2026</a:t>
            </a:r>
            <a:endParaRPr lang="en-US" sz="1500" dirty="0"/>
          </a:p>
        </p:txBody>
      </p:sp>
      <p:sp>
        <p:nvSpPr>
          <p:cNvPr id="5" name="Text 3"/>
          <p:cNvSpPr txBox="1"/>
          <p:nvPr/>
        </p:nvSpPr>
        <p:spPr>
          <a:xfrm>
            <a:off x="6309360" y="1828800"/>
            <a:ext cx="5333695" cy="3840480"/>
          </a:xfrm>
          <a:prstGeom prst="rect">
            <a:avLst/>
          </a:prstGeom>
          <a:noFill/>
          <a:ln/>
        </p:spPr>
        <p:txBody>
          <a:bodyPr wrap="square" lIns="0" tIns="0" rIns="0" bIns="0" rtlCol="0" anchor="t"/>
          <a:lstStyle/>
          <a:p>
            <a:pPr indent="0" marL="0">
              <a:spcAft>
                <a:spcPts val="800"/>
              </a:spcAft>
              <a:buNone/>
            </a:pPr>
            <a:r>
              <a:rPr lang="en-US" sz="1700" b="1" dirty="0">
                <a:solidFill>
                  <a:srgbClr val="0B1F33"/>
                </a:solidFill>
                <a:latin typeface="Calibri" pitchFamily="34" charset="0"/>
                <a:ea typeface="Calibri" pitchFamily="34" charset="-122"/>
                <a:cs typeface="Calibri" pitchFamily="34" charset="-120"/>
              </a:rPr>
              <a:t>Forutsetninger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Pris: 1 000 kr per modul per fartøy per måned, 14 000 kr for alle 14 moduler, ekskl. mva.</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Markedsverdi forutsetter full dekning og samme pris i alle markeder. Det er en størrelsesorden, ikke en prognose.</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Inntektseksemplene er regneeksempler før kostnader.</a:t>
            </a:r>
            <a:endParaRPr lang="en-US" sz="1500" dirty="0"/>
          </a:p>
          <a:p>
            <a:pPr marL="342900" indent="-342900">
              <a:spcAft>
                <a:spcPts val="800"/>
              </a:spcAft>
              <a:buSzPct val="100000"/>
              <a:buChar char="•"/>
            </a:pPr>
            <a:r>
              <a:rPr lang="en-US" sz="1500" dirty="0">
                <a:solidFill>
                  <a:srgbClr val="1B2A38"/>
                </a:solidFill>
                <a:latin typeface="Calibri" pitchFamily="34" charset="0"/>
                <a:ea typeface="Calibri" pitchFamily="34" charset="-122"/>
                <a:cs typeface="Calibri" pitchFamily="34" charset="-120"/>
              </a:rPr>
              <a:t>Sammenligningen med konkurrenter bygger på offentlig informasjon, ikke på egen testing.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A"/>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Nautech">
  <a:themeElements>
    <a:clrScheme name="Nautech">
      <a:dk1>
        <a:srgbClr val="0B1F33"/>
      </a:dk1>
      <a:lt1>
        <a:srgbClr val="FFFFFF"/>
      </a:lt1>
      <a:dk2>
        <a:srgbClr val="16324D"/>
      </a:dk2>
      <a:lt2>
        <a:srgbClr val="EEF3F6"/>
      </a:lt2>
      <a:accent1>
        <a:srgbClr val="0E7C86"/>
      </a:accent1>
      <a:accent2>
        <a:srgbClr val="E8751A"/>
      </a:accent2>
      <a:accent3>
        <a:srgbClr val="7FD1D6"/>
      </a:accent3>
      <a:accent4>
        <a:srgbClr val="5B6B7A"/>
      </a:accent4>
      <a:accent5>
        <a:srgbClr val="2E9E5B"/>
      </a:accent5>
      <a:accent6>
        <a:srgbClr val="C0392B"/>
      </a:accent6>
      <a:hlink>
        <a:srgbClr val="0E7C86"/>
      </a:hlink>
      <a:folHlink>
        <a:srgbClr val="5B6B7A"/>
      </a:folHlink>
    </a:clrScheme>
    <a:fontScheme name="Nautech">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Seawise 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Nautech – investorpresentasjon</dc:title>
  <dc:subject>PptxGenJS Presentation</dc:subject>
  <dc:creator>Seawise AS</dc:creator>
  <cp:lastModifiedBy>Seawise AS</cp:lastModifiedBy>
  <cp:revision>1</cp:revision>
  <dcterms:created xsi:type="dcterms:W3CDTF">2026-10-06T09:59:09Z</dcterms:created>
  <dcterms:modified xsi:type="dcterms:W3CDTF">2026-10-06T09:59:09Z</dcterms:modified>
</cp:coreProperties>
</file>